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592" r:id="rId3"/>
    <p:sldId id="594" r:id="rId4"/>
    <p:sldId id="547" r:id="rId5"/>
    <p:sldId id="554" r:id="rId6"/>
    <p:sldId id="561" r:id="rId7"/>
    <p:sldId id="562" r:id="rId8"/>
    <p:sldId id="563" r:id="rId9"/>
    <p:sldId id="508" r:id="rId10"/>
    <p:sldId id="535" r:id="rId11"/>
    <p:sldId id="534" r:id="rId12"/>
    <p:sldId id="537" r:id="rId13"/>
    <p:sldId id="513" r:id="rId14"/>
    <p:sldId id="541" r:id="rId15"/>
    <p:sldId id="545" r:id="rId16"/>
    <p:sldId id="546" r:id="rId17"/>
    <p:sldId id="522" r:id="rId18"/>
    <p:sldId id="524" r:id="rId19"/>
    <p:sldId id="523" r:id="rId20"/>
    <p:sldId id="526" r:id="rId21"/>
    <p:sldId id="527" r:id="rId22"/>
    <p:sldId id="528" r:id="rId23"/>
    <p:sldId id="530" r:id="rId24"/>
    <p:sldId id="532" r:id="rId25"/>
    <p:sldId id="531" r:id="rId26"/>
    <p:sldId id="510" r:id="rId27"/>
    <p:sldId id="512" r:id="rId28"/>
    <p:sldId id="511" r:id="rId29"/>
    <p:sldId id="550" r:id="rId30"/>
    <p:sldId id="552" r:id="rId31"/>
    <p:sldId id="564" r:id="rId32"/>
    <p:sldId id="565" r:id="rId33"/>
    <p:sldId id="568" r:id="rId34"/>
    <p:sldId id="569" r:id="rId35"/>
    <p:sldId id="570" r:id="rId36"/>
    <p:sldId id="571" r:id="rId37"/>
    <p:sldId id="572" r:id="rId38"/>
    <p:sldId id="573" r:id="rId39"/>
    <p:sldId id="566" r:id="rId40"/>
    <p:sldId id="577" r:id="rId41"/>
    <p:sldId id="582" r:id="rId42"/>
    <p:sldId id="584" r:id="rId43"/>
    <p:sldId id="585" r:id="rId44"/>
    <p:sldId id="586" r:id="rId45"/>
    <p:sldId id="587" r:id="rId46"/>
    <p:sldId id="588" r:id="rId47"/>
    <p:sldId id="589" r:id="rId48"/>
    <p:sldId id="590" r:id="rId49"/>
    <p:sldId id="593" r:id="rId50"/>
    <p:sldId id="591" r:id="rId51"/>
    <p:sldId id="596" r:id="rId52"/>
    <p:sldId id="646" r:id="rId53"/>
    <p:sldId id="647" r:id="rId54"/>
    <p:sldId id="643" r:id="rId55"/>
    <p:sldId id="622" r:id="rId56"/>
    <p:sldId id="623" r:id="rId57"/>
    <p:sldId id="624" r:id="rId58"/>
    <p:sldId id="625" r:id="rId59"/>
    <p:sldId id="630" r:id="rId60"/>
    <p:sldId id="634" r:id="rId61"/>
    <p:sldId id="635" r:id="rId62"/>
    <p:sldId id="629" r:id="rId63"/>
    <p:sldId id="628" r:id="rId64"/>
    <p:sldId id="642" r:id="rId65"/>
    <p:sldId id="262" r:id="rId66"/>
    <p:sldId id="268" r:id="rId67"/>
    <p:sldId id="639" r:id="rId68"/>
    <p:sldId id="605" r:id="rId69"/>
    <p:sldId id="608" r:id="rId70"/>
    <p:sldId id="609" r:id="rId71"/>
    <p:sldId id="610" r:id="rId72"/>
    <p:sldId id="611" r:id="rId73"/>
    <p:sldId id="612" r:id="rId74"/>
    <p:sldId id="606" r:id="rId75"/>
    <p:sldId id="607" r:id="rId76"/>
    <p:sldId id="619" r:id="rId77"/>
    <p:sldId id="626" r:id="rId78"/>
    <p:sldId id="620" r:id="rId79"/>
    <p:sldId id="631" r:id="rId80"/>
    <p:sldId id="632" r:id="rId81"/>
    <p:sldId id="633" r:id="rId82"/>
    <p:sldId id="614" r:id="rId83"/>
    <p:sldId id="613" r:id="rId84"/>
    <p:sldId id="604" r:id="rId85"/>
    <p:sldId id="637" r:id="rId86"/>
    <p:sldId id="636" r:id="rId87"/>
    <p:sldId id="615" r:id="rId88"/>
    <p:sldId id="616" r:id="rId89"/>
    <p:sldId id="617" r:id="rId90"/>
    <p:sldId id="618" r:id="rId91"/>
    <p:sldId id="651" r:id="rId92"/>
    <p:sldId id="649" r:id="rId93"/>
    <p:sldId id="652" r:id="rId94"/>
    <p:sldId id="653" r:id="rId95"/>
    <p:sldId id="654" r:id="rId96"/>
    <p:sldId id="658" r:id="rId97"/>
    <p:sldId id="664" r:id="rId98"/>
    <p:sldId id="665" r:id="rId99"/>
    <p:sldId id="667" r:id="rId100"/>
    <p:sldId id="655" r:id="rId101"/>
    <p:sldId id="656" r:id="rId102"/>
    <p:sldId id="659" r:id="rId103"/>
    <p:sldId id="657" r:id="rId104"/>
    <p:sldId id="661" r:id="rId105"/>
    <p:sldId id="662" r:id="rId106"/>
    <p:sldId id="660" r:id="rId107"/>
    <p:sldId id="666" r:id="rId108"/>
  </p:sldIdLst>
  <p:sldSz cx="13439775" cy="75596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675C21BE-6EFA-48FD-B81B-398B54065C40}">
          <p14:sldIdLst>
            <p14:sldId id="256"/>
            <p14:sldId id="592"/>
            <p14:sldId id="594"/>
            <p14:sldId id="547"/>
            <p14:sldId id="554"/>
            <p14:sldId id="561"/>
            <p14:sldId id="562"/>
            <p14:sldId id="563"/>
          </p14:sldIdLst>
        </p14:section>
        <p14:section name="12/03" id="{540B1A45-F195-465D-8727-F4911AFFFFBE}">
          <p14:sldIdLst>
            <p14:sldId id="508"/>
            <p14:sldId id="535"/>
            <p14:sldId id="534"/>
            <p14:sldId id="537"/>
            <p14:sldId id="513"/>
            <p14:sldId id="541"/>
            <p14:sldId id="545"/>
            <p14:sldId id="546"/>
            <p14:sldId id="522"/>
            <p14:sldId id="524"/>
            <p14:sldId id="523"/>
            <p14:sldId id="526"/>
            <p14:sldId id="527"/>
            <p14:sldId id="528"/>
            <p14:sldId id="530"/>
            <p14:sldId id="532"/>
            <p14:sldId id="531"/>
            <p14:sldId id="510"/>
            <p14:sldId id="512"/>
            <p14:sldId id="511"/>
          </p14:sldIdLst>
        </p14:section>
        <p14:section name="12/10" id="{02FFA227-CB5E-481D-B05E-7DCD49526663}">
          <p14:sldIdLst>
            <p14:sldId id="550"/>
            <p14:sldId id="552"/>
            <p14:sldId id="564"/>
            <p14:sldId id="565"/>
            <p14:sldId id="568"/>
            <p14:sldId id="569"/>
            <p14:sldId id="570"/>
            <p14:sldId id="571"/>
            <p14:sldId id="572"/>
            <p14:sldId id="573"/>
            <p14:sldId id="566"/>
            <p14:sldId id="577"/>
            <p14:sldId id="582"/>
            <p14:sldId id="584"/>
            <p14:sldId id="585"/>
            <p14:sldId id="586"/>
            <p14:sldId id="587"/>
            <p14:sldId id="588"/>
            <p14:sldId id="589"/>
            <p14:sldId id="590"/>
            <p14:sldId id="593"/>
          </p14:sldIdLst>
        </p14:section>
        <p14:section name="로그 딜레이 랩데이터" id="{53A9AFE6-69F9-4878-8A62-45A3C4785D36}">
          <p14:sldIdLst>
            <p14:sldId id="591"/>
          </p14:sldIdLst>
        </p14:section>
        <p14:section name="12/31" id="{10735D48-B83C-402A-8EEC-D1FE6525C620}">
          <p14:sldIdLst>
            <p14:sldId id="596"/>
            <p14:sldId id="646"/>
            <p14:sldId id="647"/>
            <p14:sldId id="643"/>
            <p14:sldId id="622"/>
            <p14:sldId id="623"/>
            <p14:sldId id="624"/>
            <p14:sldId id="625"/>
            <p14:sldId id="630"/>
            <p14:sldId id="634"/>
            <p14:sldId id="635"/>
            <p14:sldId id="629"/>
            <p14:sldId id="628"/>
            <p14:sldId id="642"/>
            <p14:sldId id="262"/>
            <p14:sldId id="268"/>
            <p14:sldId id="639"/>
            <p14:sldId id="605"/>
            <p14:sldId id="608"/>
            <p14:sldId id="609"/>
            <p14:sldId id="610"/>
            <p14:sldId id="611"/>
            <p14:sldId id="612"/>
            <p14:sldId id="606"/>
            <p14:sldId id="607"/>
            <p14:sldId id="619"/>
            <p14:sldId id="626"/>
            <p14:sldId id="620"/>
            <p14:sldId id="631"/>
            <p14:sldId id="632"/>
            <p14:sldId id="633"/>
            <p14:sldId id="614"/>
            <p14:sldId id="613"/>
            <p14:sldId id="604"/>
            <p14:sldId id="637"/>
            <p14:sldId id="636"/>
            <p14:sldId id="615"/>
            <p14:sldId id="616"/>
            <p14:sldId id="617"/>
            <p14:sldId id="618"/>
            <p14:sldId id="651"/>
          </p14:sldIdLst>
        </p14:section>
        <p14:section name="2026/01/08" id="{8B4503D2-E1B4-4543-AC66-69A2C31D8E0F}">
          <p14:sldIdLst>
            <p14:sldId id="649"/>
            <p14:sldId id="652"/>
            <p14:sldId id="653"/>
          </p14:sldIdLst>
        </p14:section>
        <p14:section name="2026/01/12" id="{32F7FE6E-1D2E-46B1-8D66-5694867FD999}">
          <p14:sldIdLst>
            <p14:sldId id="654"/>
            <p14:sldId id="658"/>
            <p14:sldId id="664"/>
            <p14:sldId id="665"/>
            <p14:sldId id="667"/>
            <p14:sldId id="655"/>
            <p14:sldId id="656"/>
            <p14:sldId id="659"/>
            <p14:sldId id="657"/>
            <p14:sldId id="661"/>
            <p14:sldId id="662"/>
            <p14:sldId id="660"/>
            <p14:sldId id="6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0" roundtripDataSignature="AMtx7mjIfK4TdQ1QlNCzQikPr+i6Q+m3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DAE3F3"/>
    <a:srgbClr val="E2F0D9"/>
    <a:srgbClr val="0000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3" autoAdjust="0"/>
    <p:restoredTop sz="86414" autoAdjust="0"/>
  </p:normalViewPr>
  <p:slideViewPr>
    <p:cSldViewPr snapToGrid="0">
      <p:cViewPr varScale="1">
        <p:scale>
          <a:sx n="90" d="100"/>
          <a:sy n="90" d="100"/>
        </p:scale>
        <p:origin x="1146" y="306"/>
      </p:cViewPr>
      <p:guideLst/>
    </p:cSldViewPr>
  </p:slideViewPr>
  <p:outlineViewPr>
    <p:cViewPr>
      <p:scale>
        <a:sx n="50" d="100"/>
        <a:sy n="50" d="100"/>
      </p:scale>
      <p:origin x="0" y="-587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50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customschemas.google.com/relationships/presentationmetadata" Target="meta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13e8c40f5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d13e8c40f5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52748" y="6853777"/>
            <a:ext cx="806475" cy="578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  <p:pic>
        <p:nvPicPr>
          <p:cNvPr id="11" name="Google Shape;11;p2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869070" y="3728139"/>
            <a:ext cx="11701635" cy="10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69088" y="1758596"/>
            <a:ext cx="11701599" cy="1969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3000"/>
              <a:buFont typeface="Malgun Gothic"/>
              <a:buNone/>
              <a:defRPr sz="4409" b="1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0914598" y="346200"/>
            <a:ext cx="2108049" cy="5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3284103" cy="500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BC7"/>
              </a:buClr>
              <a:buSzPts val="1000"/>
              <a:buFont typeface="Malgun Gothic"/>
              <a:buNone/>
              <a:defRPr sz="1470" b="1">
                <a:solidFill>
                  <a:srgbClr val="007BC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2"/>
          </p:nvPr>
        </p:nvSpPr>
        <p:spPr>
          <a:xfrm>
            <a:off x="869088" y="3930560"/>
            <a:ext cx="11701599" cy="17707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3"/>
          </p:nvPr>
        </p:nvSpPr>
        <p:spPr>
          <a:xfrm>
            <a:off x="869088" y="5701319"/>
            <a:ext cx="11701599" cy="13994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1000"/>
              <a:buFont typeface="Malgun Gothic"/>
              <a:buNone/>
              <a:defRPr sz="1470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66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" y="9528"/>
            <a:ext cx="13439775" cy="755952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12222480" y="7006702"/>
            <a:ext cx="1027661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+mn-lt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214124" y="9530"/>
            <a:ext cx="11591806" cy="7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50"/>
              <a:buNone/>
              <a:defRPr sz="2400" b="1" i="0" u="none" strike="noStrike" cap="none">
                <a:solidFill>
                  <a:srgbClr val="00306C"/>
                </a:solidFill>
                <a:latin typeface="+mn-lt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25"/>
          <p:cNvSpPr/>
          <p:nvPr/>
        </p:nvSpPr>
        <p:spPr>
          <a:xfrm>
            <a:off x="-1199" y="697418"/>
            <a:ext cx="2915188" cy="7363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5"/>
          <p:cNvSpPr/>
          <p:nvPr/>
        </p:nvSpPr>
        <p:spPr>
          <a:xfrm>
            <a:off x="2139743" y="697418"/>
            <a:ext cx="2915188" cy="73632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5"/>
          <p:cNvSpPr/>
          <p:nvPr/>
        </p:nvSpPr>
        <p:spPr>
          <a:xfrm>
            <a:off x="-1199" y="697418"/>
            <a:ext cx="2915188" cy="7363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/>
          <p:nvPr/>
        </p:nvSpPr>
        <p:spPr>
          <a:xfrm>
            <a:off x="1808902" y="697418"/>
            <a:ext cx="2915188" cy="73632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5"/>
          <p:cNvSpPr/>
          <p:nvPr/>
        </p:nvSpPr>
        <p:spPr>
          <a:xfrm>
            <a:off x="3619005" y="697418"/>
            <a:ext cx="2915188" cy="7363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214123" y="614455"/>
            <a:ext cx="11591807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1601" b="1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39;p25">
            <a:extLst>
              <a:ext uri="{FF2B5EF4-FFF2-40B4-BE49-F238E27FC236}">
                <a16:creationId xmlns:a16="http://schemas.microsoft.com/office/drawing/2014/main" id="{F0E18D2A-3D86-E897-0FF2-D32C9DAD91D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1801" b="0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39;p25">
            <a:extLst>
              <a:ext uri="{FF2B5EF4-FFF2-40B4-BE49-F238E27FC236}">
                <a16:creationId xmlns:a16="http://schemas.microsoft.com/office/drawing/2014/main" id="{7EEE87E4-DF8E-6CE9-9BB7-69D6850827BF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4122" y="7010619"/>
            <a:ext cx="11901679" cy="39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900" b="0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41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ONTEN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" y="1"/>
            <a:ext cx="13439776" cy="755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79425" y="0"/>
            <a:ext cx="11701599" cy="6984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2000"/>
              <a:buFont typeface="Malgun Gothic"/>
              <a:buNone/>
              <a:defRPr sz="2940" b="1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" y="698427"/>
            <a:ext cx="6152144" cy="6073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737504" y="1233637"/>
            <a:ext cx="12363888" cy="5620042"/>
          </a:xfrm>
          <a:prstGeom prst="rect">
            <a:avLst/>
          </a:prstGeom>
        </p:spPr>
        <p:txBody>
          <a:bodyPr spcFirstLastPara="1" wrap="square" lIns="36000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●"/>
              <a:defRPr sz="2352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2452748" y="6853777"/>
            <a:ext cx="806475" cy="578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28903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50"/>
              <a:buFont typeface="Malgun Gothic"/>
              <a:buNone/>
              <a:defRPr sz="48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4561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086"/>
              <a:buFont typeface="Arial"/>
              <a:buChar char="•"/>
              <a:defRPr sz="3086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96621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sz="2646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8617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205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923987" y="7006702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451927" y="7006702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9491842" y="7006702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I2MAawFEaQrBHUsndGSVk1DQ8boDO-aOeQhTDDbF1Y4/edit?tab=t.0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4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869241" y="1758596"/>
            <a:ext cx="11701292" cy="1969175"/>
          </a:xfrm>
          <a:prstGeom prst="rect">
            <a:avLst/>
          </a:prstGeom>
        </p:spPr>
        <p:txBody>
          <a:bodyPr spcFirstLastPara="1" wrap="square" lIns="134372" tIns="134372" rIns="134372" bIns="134372" anchor="b" anchorCtr="0">
            <a:normAutofit/>
          </a:bodyPr>
          <a:lstStyle/>
          <a:p>
            <a:r>
              <a:rPr lang="en-US" dirty="0"/>
              <a:t>2025.12</a:t>
            </a:r>
            <a:r>
              <a:rPr lang="ko-KR" altLang="en-US" dirty="0"/>
              <a:t>월 과제 진행상황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176" y="-1"/>
            <a:ext cx="3284016" cy="500451"/>
          </a:xfrm>
          <a:prstGeom prst="rect">
            <a:avLst/>
          </a:prstGeom>
        </p:spPr>
        <p:txBody>
          <a:bodyPr spcFirstLastPara="1" wrap="square" lIns="134372" tIns="134372" rIns="134372" bIns="134372" anchor="t" anchorCtr="0">
            <a:noAutofit/>
          </a:bodyPr>
          <a:lstStyle/>
          <a:p>
            <a:pPr marL="0" indent="0">
              <a:lnSpc>
                <a:spcPct val="135000"/>
              </a:lnSpc>
              <a:spcAft>
                <a:spcPts val="1764"/>
              </a:spcAft>
            </a:pPr>
            <a:r>
              <a:rPr lang="en-US" dirty="0"/>
              <a:t>Internal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2"/>
          </p:nvPr>
        </p:nvSpPr>
        <p:spPr>
          <a:xfrm>
            <a:off x="869241" y="3930559"/>
            <a:ext cx="11701292" cy="2151738"/>
          </a:xfrm>
          <a:prstGeom prst="rect">
            <a:avLst/>
          </a:prstGeom>
        </p:spPr>
        <p:txBody>
          <a:bodyPr spcFirstLastPara="1" wrap="square" lIns="134372" tIns="134372" rIns="134372" bIns="134372" anchor="t" anchorCtr="0">
            <a:normAutofit fontScale="70000" lnSpcReduction="20000"/>
          </a:bodyPr>
          <a:lstStyle/>
          <a:p>
            <a:pPr marL="0" indent="0" algn="r">
              <a:spcAft>
                <a:spcPts val="1764"/>
              </a:spcAft>
            </a:pPr>
            <a:r>
              <a:rPr lang="en-US" dirty="0"/>
              <a:t>Prof.</a:t>
            </a:r>
            <a:r>
              <a:rPr lang="ko-KR" altLang="en-US" dirty="0"/>
              <a:t> </a:t>
            </a:r>
            <a:r>
              <a:rPr lang="en-US" altLang="ko-KR" dirty="0"/>
              <a:t>Juhyun</a:t>
            </a:r>
            <a:r>
              <a:rPr lang="ko-KR" altLang="en-US" dirty="0"/>
              <a:t> </a:t>
            </a:r>
            <a:r>
              <a:rPr lang="en-US" altLang="ko-KR" dirty="0"/>
              <a:t>Song,</a:t>
            </a:r>
          </a:p>
          <a:p>
            <a:pPr marL="0" indent="0" algn="r">
              <a:spcAft>
                <a:spcPts val="1764"/>
              </a:spcAft>
            </a:pPr>
            <a:r>
              <a:rPr lang="en-US" dirty="0"/>
              <a:t>PhD Student. Chulwon Jung</a:t>
            </a:r>
          </a:p>
          <a:p>
            <a:pPr marL="0" indent="0" algn="r">
              <a:spcAft>
                <a:spcPts val="1764"/>
              </a:spcAft>
            </a:pPr>
            <a:r>
              <a:rPr lang="en-US" u="sng" dirty="0"/>
              <a:t>Battery Software Group</a:t>
            </a:r>
          </a:p>
          <a:p>
            <a:pPr marL="0" indent="0" algn="r">
              <a:spcAft>
                <a:spcPts val="1764"/>
              </a:spcAft>
            </a:pPr>
            <a:r>
              <a:rPr lang="en-US" dirty="0"/>
              <a:t>2025.12.06.</a:t>
            </a:r>
          </a:p>
          <a:p>
            <a:pPr marL="0" indent="0" algn="r">
              <a:spcAft>
                <a:spcPts val="1764"/>
              </a:spcAft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955A-E94A-0B09-5469-C19A5AC82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F008B7-01F2-076D-111E-5991AB7A0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F83E39-AE89-10EB-AADC-8DC5E7EE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12/10 Feedback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D13370-59A7-507F-D9C6-3511B0274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CFF6E8-2547-2905-47A3-6A2FC81F684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7368931" cy="5346860"/>
          </a:xfrm>
        </p:spPr>
        <p:txBody>
          <a:bodyPr/>
          <a:lstStyle/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</a:rPr>
              <a:t>랩데이터에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</a:rPr>
              <a:t>focus</a:t>
            </a:r>
          </a:p>
          <a:p>
            <a:pPr marL="1365974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모델을 </a:t>
            </a:r>
            <a:r>
              <a:rPr lang="ko-KR" altLang="en-US" sz="1400" dirty="0" err="1">
                <a:latin typeface="+mn-ea"/>
                <a:ea typeface="+mn-ea"/>
              </a:rPr>
              <a:t>개발하는게</a:t>
            </a:r>
            <a:r>
              <a:rPr lang="ko-KR" altLang="en-US" sz="1400" dirty="0">
                <a:latin typeface="+mn-ea"/>
                <a:ea typeface="+mn-ea"/>
              </a:rPr>
              <a:t> 우선</a:t>
            </a:r>
            <a:endParaRPr lang="en-US" altLang="ko-KR" sz="1400" dirty="0">
              <a:latin typeface="+mn-ea"/>
              <a:ea typeface="+mn-ea"/>
            </a:endParaRPr>
          </a:p>
          <a:p>
            <a:pPr marL="1365974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아래 내용으로 </a:t>
            </a:r>
            <a:r>
              <a:rPr lang="en-US" altLang="ko-KR" sz="1400" dirty="0">
                <a:latin typeface="+mn-ea"/>
                <a:ea typeface="+mn-ea"/>
              </a:rPr>
              <a:t>correlation, feature </a:t>
            </a:r>
            <a:r>
              <a:rPr lang="ko-KR" altLang="en-US" sz="1400" dirty="0">
                <a:latin typeface="+mn-ea"/>
                <a:ea typeface="+mn-ea"/>
              </a:rPr>
              <a:t>수 늘어나면 </a:t>
            </a:r>
            <a:r>
              <a:rPr lang="en-US" altLang="ko-KR" sz="1400" dirty="0">
                <a:latin typeface="+mn-ea"/>
                <a:ea typeface="+mn-ea"/>
              </a:rPr>
              <a:t>ML</a:t>
            </a:r>
            <a:r>
              <a:rPr lang="ko-KR" altLang="en-US" sz="1400" dirty="0">
                <a:latin typeface="+mn-ea"/>
                <a:ea typeface="+mn-ea"/>
              </a:rPr>
              <a:t>시도</a:t>
            </a:r>
            <a:endParaRPr lang="en-US" altLang="ko-KR" sz="1400" dirty="0">
              <a:latin typeface="+mn-ea"/>
              <a:ea typeface="+mn-ea"/>
            </a:endParaRP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중간 데이터 </a:t>
            </a:r>
            <a:r>
              <a:rPr lang="en-US" altLang="ko-KR" sz="1400" dirty="0">
                <a:latin typeface="+mn-ea"/>
                <a:ea typeface="+mn-ea"/>
              </a:rPr>
              <a:t>(X-Y matrix) </a:t>
            </a:r>
            <a:r>
              <a:rPr lang="ko-KR" altLang="en-US" sz="1400" dirty="0">
                <a:latin typeface="+mn-ea"/>
                <a:ea typeface="+mn-ea"/>
              </a:rPr>
              <a:t>생성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</a:rPr>
              <a:t>feature</a:t>
            </a: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</a:rPr>
              <a:t>, SOH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</a:rPr>
              <a:t>둘 다 늘리는 방향이 필요</a:t>
            </a:r>
            <a:endParaRPr lang="en-US" altLang="ko-KR" sz="1400" dirty="0">
              <a:highlight>
                <a:srgbClr val="FFFF00"/>
              </a:highlight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39</a:t>
            </a:r>
            <a:r>
              <a:rPr lang="ko-KR" altLang="en-US" sz="1400" dirty="0">
                <a:latin typeface="+mn-ea"/>
                <a:ea typeface="+mn-ea"/>
              </a:rPr>
              <a:t>개 </a:t>
            </a:r>
            <a:r>
              <a:rPr lang="en-US" altLang="ko-KR" sz="1400" dirty="0">
                <a:latin typeface="+mn-ea"/>
                <a:ea typeface="+mn-ea"/>
              </a:rPr>
              <a:t>entry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이벤트 필터링 조건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스텝별 그래프 추가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필터링 후 </a:t>
            </a:r>
            <a:r>
              <a:rPr lang="ko-KR" altLang="en-US" sz="1400" dirty="0" err="1">
                <a:latin typeface="+mn-ea"/>
                <a:ea typeface="+mn-ea"/>
              </a:rPr>
              <a:t>남는것들</a:t>
            </a:r>
            <a:r>
              <a:rPr lang="ko-KR" altLang="en-US" sz="1400" dirty="0">
                <a:latin typeface="+mn-ea"/>
                <a:ea typeface="+mn-ea"/>
              </a:rPr>
              <a:t> 확인용</a:t>
            </a:r>
            <a:r>
              <a:rPr lang="en-US" altLang="ko-KR" sz="1400" dirty="0">
                <a:latin typeface="+mn-ea"/>
                <a:ea typeface="+mn-ea"/>
              </a:rPr>
              <a:t>)(1-2</a:t>
            </a:r>
            <a:r>
              <a:rPr lang="ko-KR" altLang="en-US" sz="1400" dirty="0">
                <a:latin typeface="+mn-ea"/>
                <a:ea typeface="+mn-ea"/>
              </a:rPr>
              <a:t>케이스 추가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Rchg_event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 feature</a:t>
            </a: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를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refine</a:t>
            </a:r>
            <a:endParaRPr lang="en-US" altLang="ko-KR" sz="1400" dirty="0">
              <a:highlight>
                <a:srgbClr val="FFFF00"/>
              </a:highlight>
              <a:latin typeface="+mn-ea"/>
              <a:ea typeface="+mn-ea"/>
            </a:endParaRP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데이터 상 이슈정리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[</a:t>
            </a:r>
            <a:r>
              <a:rPr lang="ko-KR" altLang="en-US" sz="1400" dirty="0">
                <a:latin typeface="+mn-ea"/>
                <a:ea typeface="+mn-ea"/>
              </a:rPr>
              <a:t>완료</a:t>
            </a:r>
            <a:r>
              <a:rPr lang="en-US" altLang="ko-KR" sz="1400" dirty="0">
                <a:latin typeface="+mn-ea"/>
                <a:ea typeface="+mn-ea"/>
              </a:rPr>
              <a:t>] </a:t>
            </a:r>
            <a:r>
              <a:rPr lang="ko-KR" altLang="en-US" sz="1400" dirty="0">
                <a:latin typeface="+mn-ea"/>
                <a:ea typeface="+mn-ea"/>
              </a:rPr>
              <a:t>데이터 로그 딜레이 필드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없는 것으로 확인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저항 감소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사이클 스케일</a:t>
            </a:r>
            <a:r>
              <a:rPr lang="en-US" altLang="ko-KR" sz="1400" dirty="0">
                <a:latin typeface="+mn-ea"/>
                <a:ea typeface="+mn-ea"/>
              </a:rPr>
              <a:t>, 10s </a:t>
            </a:r>
            <a:r>
              <a:rPr lang="ko-KR" altLang="en-US" sz="1400" dirty="0">
                <a:latin typeface="+mn-ea"/>
                <a:ea typeface="+mn-ea"/>
              </a:rPr>
              <a:t>스케일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/>
              <a:t>Qmax 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: Rack01</a:t>
            </a:r>
            <a:r>
              <a:rPr lang="ko-KR" altLang="en-US" sz="1400" dirty="0"/>
              <a:t>데이터가 맞는지 확인 요청함 </a:t>
            </a:r>
            <a:r>
              <a:rPr lang="en-US" altLang="ko-KR" sz="1400" dirty="0"/>
              <a:t>(21-25</a:t>
            </a:r>
            <a:r>
              <a:rPr lang="ko-KR" altLang="en-US" sz="1400" dirty="0"/>
              <a:t>년 데이터 전부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추가 데이터 요청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리마인드겸</a:t>
            </a:r>
            <a:r>
              <a:rPr lang="ko-KR" altLang="en-US" sz="1400" dirty="0"/>
              <a:t> 데이터 요청 보내기 </a:t>
            </a:r>
            <a:r>
              <a:rPr lang="en-US" altLang="ko-KR" sz="1400" dirty="0"/>
              <a:t>(</a:t>
            </a:r>
            <a:r>
              <a:rPr lang="ko-KR" altLang="en-US" sz="1400" dirty="0"/>
              <a:t>김제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김제데이터로 진행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72C6F-4B29-9060-7160-0101491C0744}"/>
              </a:ext>
            </a:extLst>
          </p:cNvPr>
          <p:cNvSpPr txBox="1"/>
          <p:nvPr/>
        </p:nvSpPr>
        <p:spPr>
          <a:xfrm>
            <a:off x="8377417" y="1554371"/>
            <a:ext cx="4479111" cy="409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58" dirty="0"/>
              <a:t>동일한 흐름으로 다른 </a:t>
            </a:r>
            <a:r>
              <a:rPr lang="en-US" altLang="ko-KR" sz="2058" dirty="0"/>
              <a:t>feature</a:t>
            </a:r>
            <a:r>
              <a:rPr lang="ko-KR" altLang="en-US" sz="2058" dirty="0"/>
              <a:t>들 추가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23890-CA2F-05AF-F36E-862D82C0526A}"/>
              </a:ext>
            </a:extLst>
          </p:cNvPr>
          <p:cNvSpPr txBox="1"/>
          <p:nvPr/>
        </p:nvSpPr>
        <p:spPr>
          <a:xfrm>
            <a:off x="7910748" y="829096"/>
            <a:ext cx="3961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(**1)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이벤트 정규성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&gt; </a:t>
            </a:r>
            <a:r>
              <a:rPr lang="ko-KR" altLang="en-US" b="1" u="sng" dirty="0">
                <a:highlight>
                  <a:srgbClr val="FFFF00"/>
                </a:highlight>
                <a:sym typeface="Wingdings" panose="05000000000000000000" pitchFamily="2" charset="2"/>
              </a:rPr>
              <a:t>이벤트 검출 량</a:t>
            </a:r>
            <a:endParaRPr lang="en-US" altLang="ko-KR" b="1" u="sng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자세히 보고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가야함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데이터 많으면 대표 샘플 선정 등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조건별로 얼마나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filter out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되는지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–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그 검출 결과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403A6-B766-3E51-4D9F-E33A92D6D2C1}"/>
              </a:ext>
            </a:extLst>
          </p:cNvPr>
          <p:cNvSpPr txBox="1"/>
          <p:nvPr/>
        </p:nvSpPr>
        <p:spPr>
          <a:xfrm>
            <a:off x="7910748" y="2214091"/>
            <a:ext cx="43877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(**2)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전체 랩 데이터 </a:t>
            </a:r>
            <a:r>
              <a:rPr lang="ko-KR" altLang="en-US" b="1" u="sng" dirty="0" err="1">
                <a:highlight>
                  <a:srgbClr val="FFFF00"/>
                </a:highlight>
              </a:rPr>
              <a:t>디멘전</a:t>
            </a:r>
            <a:r>
              <a:rPr lang="ko-KR" altLang="en-US" b="1" u="sng" dirty="0">
                <a:highlight>
                  <a:srgbClr val="FFFF00"/>
                </a:highlight>
              </a:rPr>
              <a:t> 파악</a:t>
            </a:r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en-US" altLang="ko-KR" b="1" u="sng" dirty="0">
                <a:highlight>
                  <a:srgbClr val="FFFF00"/>
                </a:highlight>
              </a:rPr>
              <a:t>(</a:t>
            </a:r>
            <a:r>
              <a:rPr lang="ko-KR" altLang="en-US" b="1" u="sng" dirty="0">
                <a:highlight>
                  <a:srgbClr val="FFFF00"/>
                </a:highlight>
              </a:rPr>
              <a:t>셀</a:t>
            </a:r>
            <a:r>
              <a:rPr lang="en-US" altLang="ko-KR" b="1" u="sng" dirty="0">
                <a:highlight>
                  <a:srgbClr val="FFFF00"/>
                </a:highlight>
              </a:rPr>
              <a:t>/</a:t>
            </a:r>
            <a:r>
              <a:rPr lang="ko-KR" altLang="en-US" b="1" u="sng" dirty="0">
                <a:highlight>
                  <a:srgbClr val="FFFF00"/>
                </a:highlight>
              </a:rPr>
              <a:t>채널</a:t>
            </a:r>
            <a:r>
              <a:rPr lang="en-US" altLang="ko-KR" b="1" u="sng" dirty="0">
                <a:highlight>
                  <a:srgbClr val="FFFF00"/>
                </a:highlight>
              </a:rPr>
              <a:t>, RPT# (cycle, SOH),  SOC, </a:t>
            </a:r>
            <a:r>
              <a:rPr lang="ko-KR" altLang="en-US" b="1" u="sng" dirty="0">
                <a:highlight>
                  <a:srgbClr val="FFFF00"/>
                </a:highlight>
              </a:rPr>
              <a:t>부하</a:t>
            </a:r>
            <a:r>
              <a:rPr lang="en-US" altLang="ko-KR" b="1" u="sng" dirty="0">
                <a:highlight>
                  <a:srgbClr val="FFFF00"/>
                </a:highlight>
              </a:rPr>
              <a:t>#, </a:t>
            </a:r>
            <a:r>
              <a:rPr lang="ko-KR" altLang="en-US" b="1" u="sng" dirty="0">
                <a:highlight>
                  <a:srgbClr val="FFFF00"/>
                </a:highlight>
              </a:rPr>
              <a:t>이벤트</a:t>
            </a:r>
            <a:r>
              <a:rPr lang="en-US" altLang="ko-KR" b="1" u="sng" dirty="0">
                <a:highlight>
                  <a:srgbClr val="FFFF00"/>
                </a:highlight>
              </a:rPr>
              <a:t>#)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6373D-A051-CEAC-DAC2-9CE5AD6790EB}"/>
              </a:ext>
            </a:extLst>
          </p:cNvPr>
          <p:cNvSpPr txBox="1"/>
          <p:nvPr/>
        </p:nvSpPr>
        <p:spPr>
          <a:xfrm>
            <a:off x="7910748" y="3203452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(**3)</a:t>
            </a:r>
          </a:p>
          <a:p>
            <a:r>
              <a:rPr lang="en-US" altLang="ko-KR" b="1" u="sng" dirty="0">
                <a:highlight>
                  <a:srgbClr val="FFFF00"/>
                </a:highlight>
              </a:rPr>
              <a:t>X(</a:t>
            </a:r>
            <a:r>
              <a:rPr lang="ko-KR" altLang="en-US" b="1" u="sng" dirty="0">
                <a:highlight>
                  <a:srgbClr val="FFFF00"/>
                </a:highlight>
              </a:rPr>
              <a:t>실부하</a:t>
            </a:r>
            <a:r>
              <a:rPr lang="en-US" altLang="ko-KR" b="1" u="sng" dirty="0">
                <a:highlight>
                  <a:srgbClr val="FFFF00"/>
                </a:highlight>
              </a:rPr>
              <a:t>) 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  Y(RPT) </a:t>
            </a: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여러가지 조합이 있음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현재까지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개 조합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(filtering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 최적화는 남은 부분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방향성을 부정하는 것은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섣부른것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 판단임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3B371-1DF6-59DE-FEBB-A2451E4CB2D5}"/>
              </a:ext>
            </a:extLst>
          </p:cNvPr>
          <p:cNvSpPr txBox="1"/>
          <p:nvPr/>
        </p:nvSpPr>
        <p:spPr>
          <a:xfrm>
            <a:off x="7910748" y="4889988"/>
            <a:ext cx="13019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highlight>
                  <a:srgbClr val="FFFF00"/>
                </a:highlight>
              </a:rPr>
              <a:t>**4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필드 데이터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x</a:t>
            </a:r>
            <a:r>
              <a:rPr lang="ko-KR" altLang="en-US" dirty="0">
                <a:highlight>
                  <a:srgbClr val="FFFF00"/>
                </a:highlight>
              </a:rPr>
              <a:t>축을 </a:t>
            </a:r>
            <a:r>
              <a:rPr lang="en-US" altLang="ko-KR" dirty="0">
                <a:highlight>
                  <a:srgbClr val="FFFF00"/>
                </a:highlight>
              </a:rPr>
              <a:t>SOH</a:t>
            </a:r>
            <a:r>
              <a:rPr lang="ko-KR" altLang="en-US" dirty="0">
                <a:highlight>
                  <a:srgbClr val="FFFF00"/>
                </a:highlight>
              </a:rPr>
              <a:t>로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193B2-DC7F-3705-19F5-1A95F21AA4E2}"/>
              </a:ext>
            </a:extLst>
          </p:cNvPr>
          <p:cNvSpPr txBox="1"/>
          <p:nvPr/>
        </p:nvSpPr>
        <p:spPr>
          <a:xfrm>
            <a:off x="971358" y="6369775"/>
            <a:ext cx="11497058" cy="954107"/>
          </a:xfrm>
          <a:prstGeom prst="rect">
            <a:avLst/>
          </a:prstGeom>
          <a:solidFill>
            <a:srgbClr val="FFF2CC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왜 랩데이터 쓰는가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필드데이터가 충분치 않아서 </a:t>
            </a:r>
            <a:r>
              <a:rPr lang="en-US" altLang="ko-KR" dirty="0"/>
              <a:t>(labeled </a:t>
            </a:r>
            <a:r>
              <a:rPr lang="ko-KR" altLang="en-US" dirty="0" err="1"/>
              <a:t>안되엇고</a:t>
            </a:r>
            <a:r>
              <a:rPr lang="en-US" altLang="ko-KR" dirty="0"/>
              <a:t>, </a:t>
            </a:r>
            <a:r>
              <a:rPr lang="ko-KR" altLang="en-US" dirty="0" err="1"/>
              <a:t>된것은</a:t>
            </a:r>
            <a:r>
              <a:rPr lang="ko-KR" altLang="en-US" dirty="0"/>
              <a:t> 적음 </a:t>
            </a:r>
            <a:r>
              <a:rPr lang="en-US" altLang="ko-KR" dirty="0"/>
              <a:t>5</a:t>
            </a:r>
            <a:r>
              <a:rPr lang="ko-KR" altLang="en-US" dirty="0"/>
              <a:t>회 </a:t>
            </a:r>
            <a:r>
              <a:rPr lang="en-US" altLang="ko-KR" dirty="0"/>
              <a:t>label – </a:t>
            </a:r>
            <a:r>
              <a:rPr lang="ko-KR" altLang="en-US" dirty="0"/>
              <a:t>이것도 부정확</a:t>
            </a:r>
            <a:r>
              <a:rPr lang="en-US" altLang="ko-KR" dirty="0"/>
              <a:t>)</a:t>
            </a:r>
            <a:r>
              <a:rPr lang="ko-KR" altLang="en-US" dirty="0"/>
              <a:t> 자체 적으로 모델 개발은 불가능하다 </a:t>
            </a:r>
            <a:r>
              <a:rPr lang="en-US" altLang="ko-KR" dirty="0"/>
              <a:t>(</a:t>
            </a:r>
            <a:r>
              <a:rPr lang="ko-KR" altLang="en-US" dirty="0"/>
              <a:t>현재 데이터로는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우리 방향</a:t>
            </a:r>
            <a:r>
              <a:rPr lang="en-US" altLang="ko-KR" dirty="0"/>
              <a:t>: </a:t>
            </a:r>
            <a:r>
              <a:rPr lang="ko-KR" altLang="en-US" dirty="0"/>
              <a:t>랩 </a:t>
            </a:r>
            <a:r>
              <a:rPr lang="en-US" altLang="ko-KR" dirty="0"/>
              <a:t>(</a:t>
            </a:r>
            <a:r>
              <a:rPr lang="ko-KR" altLang="en-US" dirty="0"/>
              <a:t>실주행부하 포함</a:t>
            </a:r>
            <a:r>
              <a:rPr lang="en-US" altLang="ko-KR" dirty="0"/>
              <a:t>)</a:t>
            </a:r>
            <a:r>
              <a:rPr lang="ko-KR" altLang="en-US" dirty="0"/>
              <a:t> 모델개발 및 검증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필드데이터에 적용 시도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4364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CA95-FC7F-53E8-D369-335243B8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3401DEF-E2C5-0A93-A318-590C11E38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C71D5AE-712B-6380-5EB8-1B4757B2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12/10 </a:t>
            </a:r>
            <a:r>
              <a:rPr lang="ko-KR" altLang="en-US" dirty="0"/>
              <a:t>첨부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B1473F-E332-DB67-D059-0DB658200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310ACE-DFD0-D444-6E24-8ED23F0B1D0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sz="1400" dirty="0"/>
              <a:t>왜 상관관계가 낮은가 </a:t>
            </a:r>
            <a:r>
              <a:rPr lang="en-US" altLang="ko-KR" sz="1400" dirty="0"/>
              <a:t>-&gt; </a:t>
            </a:r>
            <a:r>
              <a:rPr lang="ko-KR" altLang="en-US" sz="1400" dirty="0"/>
              <a:t>해결 방법</a:t>
            </a: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이유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이벤트의 비정규성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en-US" altLang="ko-KR" sz="1400" dirty="0"/>
              <a:t>Qmax </a:t>
            </a:r>
            <a:r>
              <a:rPr lang="ko-KR" altLang="en-US" sz="1400" dirty="0"/>
              <a:t>의 부정확성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해결방법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더 정규성 있게 </a:t>
            </a:r>
            <a:r>
              <a:rPr lang="en-US" altLang="ko-KR" sz="1400" dirty="0"/>
              <a:t>narrow down (</a:t>
            </a:r>
            <a:r>
              <a:rPr lang="ko-KR" altLang="en-US" sz="1400" dirty="0"/>
              <a:t>이벤트 수는 적어지는데</a:t>
            </a:r>
            <a:r>
              <a:rPr lang="en-US" altLang="ko-KR" sz="1400" dirty="0"/>
              <a:t>)</a:t>
            </a:r>
          </a:p>
          <a:p>
            <a:pPr marL="1750170" lvl="2" indent="-457200">
              <a:buAutoNum type="arabicPeriod"/>
            </a:pPr>
            <a:r>
              <a:rPr lang="ko-KR" altLang="en-US" sz="1400" dirty="0"/>
              <a:t>수를 늘려서 통계 </a:t>
            </a:r>
            <a:r>
              <a:rPr lang="en-US" altLang="ko-KR" sz="1400" dirty="0"/>
              <a:t>(</a:t>
            </a:r>
            <a:r>
              <a:rPr lang="ko-KR" altLang="en-US" sz="1400" dirty="0"/>
              <a:t>평균</a:t>
            </a:r>
            <a:r>
              <a:rPr lang="en-US" altLang="ko-KR" sz="1400" dirty="0"/>
              <a:t>)</a:t>
            </a:r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정기평가 저항 </a:t>
            </a:r>
            <a:r>
              <a:rPr lang="en-US" altLang="ko-KR" sz="1400" dirty="0"/>
              <a:t>(y </a:t>
            </a:r>
            <a:r>
              <a:rPr lang="ko-KR" altLang="en-US" sz="1400" dirty="0"/>
              <a:t>값을 다르게</a:t>
            </a:r>
            <a:r>
              <a:rPr lang="en-US" altLang="ko-KR" sz="1400" dirty="0"/>
              <a:t> – DCIR </a:t>
            </a:r>
            <a:r>
              <a:rPr lang="ko-KR" altLang="en-US" sz="1400" dirty="0"/>
              <a:t>부분</a:t>
            </a:r>
            <a:r>
              <a:rPr lang="en-US" altLang="ko-KR" sz="1400" dirty="0"/>
              <a:t>?)</a:t>
            </a:r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78175C-6D94-3FE0-4308-17FB65E0B2B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07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67036-E516-1F86-72A9-F5B3B5D70C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8FD77AE-2AAC-FEB7-77CA-8F98FE6BF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12/03 Feedback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EBEE52-F3F8-BC12-9756-79C980EA5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42F365-2AAE-12B7-32E5-286496AB0CD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중간 데이터 </a:t>
            </a:r>
            <a:r>
              <a:rPr lang="en-US" altLang="ko-KR" sz="1400" dirty="0">
                <a:latin typeface="+mn-ea"/>
                <a:ea typeface="+mn-ea"/>
              </a:rPr>
              <a:t>(X-Y matrix) </a:t>
            </a:r>
            <a:r>
              <a:rPr lang="ko-KR" altLang="en-US" sz="1400" dirty="0">
                <a:latin typeface="+mn-ea"/>
                <a:ea typeface="+mn-ea"/>
              </a:rPr>
              <a:t>생성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feature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, SOH 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39</a:t>
            </a:r>
            <a:r>
              <a:rPr lang="ko-KR" altLang="en-US" sz="1400" dirty="0">
                <a:latin typeface="+mn-ea"/>
                <a:ea typeface="+mn-ea"/>
              </a:rPr>
              <a:t>개 </a:t>
            </a:r>
            <a:r>
              <a:rPr lang="en-US" altLang="ko-KR" sz="1400" dirty="0">
                <a:latin typeface="+mn-ea"/>
                <a:ea typeface="+mn-ea"/>
              </a:rPr>
              <a:t>entry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이벤트 필터링 조건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스텝별 그래프 추가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필터링 후 </a:t>
            </a:r>
            <a:r>
              <a:rPr lang="ko-KR" altLang="en-US" sz="1400" dirty="0" err="1">
                <a:latin typeface="+mn-ea"/>
                <a:ea typeface="+mn-ea"/>
              </a:rPr>
              <a:t>남는것들</a:t>
            </a:r>
            <a:r>
              <a:rPr lang="ko-KR" altLang="en-US" sz="1400" dirty="0">
                <a:latin typeface="+mn-ea"/>
                <a:ea typeface="+mn-ea"/>
              </a:rPr>
              <a:t> 확인용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pPr marL="503994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Feature </a:t>
            </a:r>
            <a:r>
              <a:rPr lang="ko-KR" altLang="en-US" sz="1400" dirty="0">
                <a:latin typeface="+mn-ea"/>
                <a:ea typeface="+mn-ea"/>
              </a:rPr>
              <a:t>들 부하</a:t>
            </a:r>
            <a:r>
              <a:rPr lang="en-US" altLang="ko-KR" sz="1400" dirty="0">
                <a:latin typeface="+mn-ea"/>
                <a:ea typeface="+mn-ea"/>
              </a:rPr>
              <a:t>8</a:t>
            </a:r>
            <a:r>
              <a:rPr lang="ko-KR" altLang="en-US" sz="1400" dirty="0">
                <a:latin typeface="+mn-ea"/>
                <a:ea typeface="+mn-ea"/>
              </a:rPr>
              <a:t>종 별로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하나의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plot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으로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(marker, color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등 구분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)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셀별 데이터 같이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plot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x-Q(C/2), Q(C/20)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y-feature(</a:t>
            </a:r>
            <a:r>
              <a:rPr lang="en-US" altLang="ko-KR" sz="1400" dirty="0" err="1">
                <a:latin typeface="+mn-ea"/>
                <a:ea typeface="+mn-ea"/>
                <a:sym typeface="Wingdings" panose="05000000000000000000" pitchFamily="2" charset="2"/>
              </a:rPr>
              <a:t>Rch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시간별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3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종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)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6</a:t>
            </a:r>
            <a:r>
              <a:rPr lang="ko-KR" altLang="en-US" sz="1400" dirty="0">
                <a:latin typeface="+mn-ea"/>
                <a:ea typeface="+mn-ea"/>
              </a:rPr>
              <a:t>개 </a:t>
            </a:r>
            <a:r>
              <a:rPr lang="en-US" altLang="ko-KR" sz="1400" dirty="0">
                <a:latin typeface="+mn-ea"/>
                <a:ea typeface="+mn-ea"/>
              </a:rPr>
              <a:t>plot</a:t>
            </a: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전체적 추세는 셀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부하 구분 없이 </a:t>
            </a:r>
            <a:r>
              <a:rPr lang="en-US" altLang="ko-KR" sz="1400" dirty="0">
                <a:latin typeface="+mn-ea"/>
                <a:ea typeface="+mn-ea"/>
              </a:rPr>
              <a:t>– </a:t>
            </a:r>
            <a:r>
              <a:rPr lang="ko-KR" altLang="en-US" sz="1400" dirty="0">
                <a:latin typeface="+mn-ea"/>
                <a:ea typeface="+mn-ea"/>
              </a:rPr>
              <a:t>내부 분석용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셀</a:t>
            </a:r>
            <a:r>
              <a:rPr lang="en-US" altLang="ko-KR" sz="1400" dirty="0">
                <a:latin typeface="+mn-ea"/>
                <a:ea typeface="+mn-ea"/>
              </a:rPr>
              <a:t> marker / </a:t>
            </a:r>
            <a:r>
              <a:rPr lang="ko-KR" altLang="en-US" sz="1400" dirty="0">
                <a:latin typeface="+mn-ea"/>
                <a:ea typeface="+mn-ea"/>
              </a:rPr>
              <a:t>부하는 </a:t>
            </a:r>
            <a:r>
              <a:rPr lang="en-US" altLang="ko-KR" sz="1400" dirty="0">
                <a:latin typeface="+mn-ea"/>
                <a:ea typeface="+mn-ea"/>
              </a:rPr>
              <a:t>color)	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데이터 상 이슈정리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데이터 로그 딜레이 필드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랩에서 관측 데이터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저항 감소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사이클 스케일</a:t>
            </a:r>
            <a:r>
              <a:rPr lang="en-US" altLang="ko-KR" sz="1400" dirty="0">
                <a:latin typeface="+mn-ea"/>
                <a:ea typeface="+mn-ea"/>
              </a:rPr>
              <a:t>, 10s </a:t>
            </a:r>
            <a:r>
              <a:rPr lang="ko-KR" altLang="en-US" sz="1400" dirty="0">
                <a:latin typeface="+mn-ea"/>
                <a:ea typeface="+mn-ea"/>
              </a:rPr>
              <a:t>스케일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/>
              <a:t>Qmax 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: Rack01</a:t>
            </a:r>
            <a:r>
              <a:rPr lang="ko-KR" altLang="en-US" sz="1400" dirty="0"/>
              <a:t>데이터가 맞는지 확인 요청함 </a:t>
            </a:r>
            <a:r>
              <a:rPr lang="en-US" altLang="ko-KR" sz="1400" dirty="0"/>
              <a:t>(21-25</a:t>
            </a:r>
            <a:r>
              <a:rPr lang="ko-KR" altLang="en-US" sz="1400" dirty="0"/>
              <a:t>년 데이터 전부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추가 데이터 요청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리마인드겸</a:t>
            </a:r>
            <a:r>
              <a:rPr lang="ko-KR" altLang="en-US" sz="1400" dirty="0"/>
              <a:t> 데이터 요청 보내기 </a:t>
            </a:r>
            <a:r>
              <a:rPr lang="en-US" altLang="ko-KR" sz="1400" dirty="0"/>
              <a:t>(</a:t>
            </a:r>
            <a:r>
              <a:rPr lang="ko-KR" altLang="en-US" sz="1400" dirty="0"/>
              <a:t>김제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김제데이터로 진행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7DE1B5-B924-C8F0-33A2-26FDB30976B5}"/>
              </a:ext>
            </a:extLst>
          </p:cNvPr>
          <p:cNvSpPr txBox="1"/>
          <p:nvPr/>
        </p:nvSpPr>
        <p:spPr>
          <a:xfrm>
            <a:off x="8377417" y="1554371"/>
            <a:ext cx="4479111" cy="409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58" dirty="0"/>
              <a:t>동일한 흐름으로 다른 </a:t>
            </a:r>
            <a:r>
              <a:rPr lang="en-US" altLang="ko-KR" sz="2058" dirty="0"/>
              <a:t>feature</a:t>
            </a:r>
            <a:r>
              <a:rPr lang="ko-KR" altLang="en-US" sz="2058" dirty="0"/>
              <a:t>들 추가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4DDEC-CABD-4F54-8106-FF9C54AAFFB4}"/>
              </a:ext>
            </a:extLst>
          </p:cNvPr>
          <p:cNvSpPr txBox="1"/>
          <p:nvPr/>
        </p:nvSpPr>
        <p:spPr>
          <a:xfrm>
            <a:off x="7910748" y="829096"/>
            <a:ext cx="3961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(**1)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이벤트 정규성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&gt; </a:t>
            </a:r>
            <a:r>
              <a:rPr lang="ko-KR" altLang="en-US" b="1" u="sng" dirty="0">
                <a:highlight>
                  <a:srgbClr val="FFFF00"/>
                </a:highlight>
                <a:sym typeface="Wingdings" panose="05000000000000000000" pitchFamily="2" charset="2"/>
              </a:rPr>
              <a:t>이벤트 검출 량</a:t>
            </a:r>
            <a:endParaRPr lang="en-US" altLang="ko-KR" b="1" u="sng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자세히 보고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가야함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데이터 많으면 대표 샘플 선정 등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조건별로 얼마나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filter out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되는지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–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그 검출 결과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41ADA-9513-2C63-EA12-5A51D79A2799}"/>
              </a:ext>
            </a:extLst>
          </p:cNvPr>
          <p:cNvSpPr txBox="1"/>
          <p:nvPr/>
        </p:nvSpPr>
        <p:spPr>
          <a:xfrm>
            <a:off x="7910748" y="2214091"/>
            <a:ext cx="38988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(**2)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전체 랩 데이터 </a:t>
            </a:r>
            <a:r>
              <a:rPr lang="ko-KR" altLang="en-US" b="1" u="sng" dirty="0" err="1">
                <a:highlight>
                  <a:srgbClr val="FFFF00"/>
                </a:highlight>
              </a:rPr>
              <a:t>디멘전</a:t>
            </a:r>
            <a:r>
              <a:rPr lang="ko-KR" altLang="en-US" b="1" u="sng" dirty="0">
                <a:highlight>
                  <a:srgbClr val="FFFF00"/>
                </a:highlight>
              </a:rPr>
              <a:t> 파악</a:t>
            </a:r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en-US" altLang="ko-KR" b="1" u="sng" dirty="0">
                <a:highlight>
                  <a:srgbClr val="FFFF00"/>
                </a:highlight>
              </a:rPr>
              <a:t>(</a:t>
            </a:r>
            <a:r>
              <a:rPr lang="ko-KR" altLang="en-US" b="1" u="sng" dirty="0">
                <a:highlight>
                  <a:srgbClr val="FFFF00"/>
                </a:highlight>
              </a:rPr>
              <a:t>셀</a:t>
            </a:r>
            <a:r>
              <a:rPr lang="en-US" altLang="ko-KR" b="1" u="sng" dirty="0">
                <a:highlight>
                  <a:srgbClr val="FFFF00"/>
                </a:highlight>
              </a:rPr>
              <a:t>/</a:t>
            </a:r>
            <a:r>
              <a:rPr lang="ko-KR" altLang="en-US" b="1" u="sng" dirty="0">
                <a:highlight>
                  <a:srgbClr val="FFFF00"/>
                </a:highlight>
              </a:rPr>
              <a:t>채널</a:t>
            </a:r>
            <a:r>
              <a:rPr lang="en-US" altLang="ko-KR" b="1" u="sng" dirty="0">
                <a:highlight>
                  <a:srgbClr val="FFFF00"/>
                </a:highlight>
              </a:rPr>
              <a:t>, RPT# (cycle, SOH),  </a:t>
            </a:r>
            <a:r>
              <a:rPr lang="ko-KR" altLang="en-US" b="1" u="sng" dirty="0">
                <a:highlight>
                  <a:srgbClr val="FFFF00"/>
                </a:highlight>
              </a:rPr>
              <a:t>부하</a:t>
            </a:r>
            <a:r>
              <a:rPr lang="en-US" altLang="ko-KR" b="1" u="sng" dirty="0">
                <a:highlight>
                  <a:srgbClr val="FFFF00"/>
                </a:highlight>
              </a:rPr>
              <a:t>#, </a:t>
            </a:r>
            <a:r>
              <a:rPr lang="ko-KR" altLang="en-US" b="1" u="sng" dirty="0">
                <a:highlight>
                  <a:srgbClr val="FFFF00"/>
                </a:highlight>
              </a:rPr>
              <a:t>이벤트</a:t>
            </a:r>
            <a:r>
              <a:rPr lang="en-US" altLang="ko-KR" b="1" u="sng" dirty="0">
                <a:highlight>
                  <a:srgbClr val="FFFF00"/>
                </a:highlight>
              </a:rPr>
              <a:t>#)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B8D7C-64D0-2CC5-4D79-4EA491A3FBEF}"/>
              </a:ext>
            </a:extLst>
          </p:cNvPr>
          <p:cNvSpPr txBox="1"/>
          <p:nvPr/>
        </p:nvSpPr>
        <p:spPr>
          <a:xfrm>
            <a:off x="7910748" y="3203452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(**3)</a:t>
            </a:r>
          </a:p>
          <a:p>
            <a:r>
              <a:rPr lang="en-US" altLang="ko-KR" b="1" u="sng" dirty="0">
                <a:highlight>
                  <a:srgbClr val="FFFF00"/>
                </a:highlight>
              </a:rPr>
              <a:t>X(</a:t>
            </a:r>
            <a:r>
              <a:rPr lang="ko-KR" altLang="en-US" b="1" u="sng" dirty="0">
                <a:highlight>
                  <a:srgbClr val="FFFF00"/>
                </a:highlight>
              </a:rPr>
              <a:t>실부하</a:t>
            </a:r>
            <a:r>
              <a:rPr lang="en-US" altLang="ko-KR" b="1" u="sng" dirty="0">
                <a:highlight>
                  <a:srgbClr val="FFFF00"/>
                </a:highlight>
              </a:rPr>
              <a:t>) 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  Y(RPT) </a:t>
            </a: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여러가지 조합이 있음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현재까지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개 조합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(filtering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 최적화는 남은 부분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방향성을 부정하는 것은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섣부른것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 판단임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3373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CED2-6099-8555-05D8-786F3378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C5B75A-9EDB-1676-E6A7-5FB5653D86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1BE7B1-B0F1-AB6C-304A-FC76C572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203350-2893-C58B-0E7C-44FDFD460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랩데이터 정리본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9B20A0-6E27-A7C0-B235-0ED0EED6A5E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tx1"/>
                </a:solidFill>
              </a:rPr>
              <a:t> RPT </a:t>
            </a:r>
            <a:r>
              <a:rPr lang="ko-KR" altLang="en-US" dirty="0">
                <a:solidFill>
                  <a:schemeClr val="tx1"/>
                </a:solidFill>
              </a:rPr>
              <a:t>데이터 파일 개수</a:t>
            </a:r>
            <a:r>
              <a:rPr lang="en-US" altLang="ko-KR" dirty="0">
                <a:solidFill>
                  <a:schemeClr val="tx1"/>
                </a:solidFill>
              </a:rPr>
              <a:t>: 39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tx1"/>
                </a:solidFill>
              </a:rPr>
              <a:t>주행부하 데이터 파일 개수</a:t>
            </a:r>
            <a:r>
              <a:rPr lang="en-US" altLang="ko-KR" dirty="0">
                <a:solidFill>
                  <a:schemeClr val="tx1"/>
                </a:solidFill>
              </a:rPr>
              <a:t>: 39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04E0A5-BFED-0520-7B4E-3C78EDF57CD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3BCA1D7-364C-5D33-A568-05C7C63CBD47}"/>
              </a:ext>
            </a:extLst>
          </p:cNvPr>
          <p:cNvGraphicFramePr>
            <a:graphicFrameLocks noGrp="1"/>
          </p:cNvGraphicFramePr>
          <p:nvPr/>
        </p:nvGraphicFramePr>
        <p:xfrm>
          <a:off x="295125" y="2503092"/>
          <a:ext cx="12247220" cy="2449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203">
                  <a:extLst>
                    <a:ext uri="{9D8B030D-6E8A-4147-A177-3AD203B41FA5}">
                      <a16:colId xmlns:a16="http://schemas.microsoft.com/office/drawing/2014/main" val="3549159436"/>
                    </a:ext>
                  </a:extLst>
                </a:gridCol>
                <a:gridCol w="2041203">
                  <a:extLst>
                    <a:ext uri="{9D8B030D-6E8A-4147-A177-3AD203B41FA5}">
                      <a16:colId xmlns:a16="http://schemas.microsoft.com/office/drawing/2014/main" val="3147993211"/>
                    </a:ext>
                  </a:extLst>
                </a:gridCol>
                <a:gridCol w="1930412">
                  <a:extLst>
                    <a:ext uri="{9D8B030D-6E8A-4147-A177-3AD203B41FA5}">
                      <a16:colId xmlns:a16="http://schemas.microsoft.com/office/drawing/2014/main" val="3896830475"/>
                    </a:ext>
                  </a:extLst>
                </a:gridCol>
                <a:gridCol w="1930412">
                  <a:extLst>
                    <a:ext uri="{9D8B030D-6E8A-4147-A177-3AD203B41FA5}">
                      <a16:colId xmlns:a16="http://schemas.microsoft.com/office/drawing/2014/main" val="3840184973"/>
                    </a:ext>
                  </a:extLst>
                </a:gridCol>
                <a:gridCol w="1930412">
                  <a:extLst>
                    <a:ext uri="{9D8B030D-6E8A-4147-A177-3AD203B41FA5}">
                      <a16:colId xmlns:a16="http://schemas.microsoft.com/office/drawing/2014/main" val="3783496552"/>
                    </a:ext>
                  </a:extLst>
                </a:gridCol>
                <a:gridCol w="2373578">
                  <a:extLst>
                    <a:ext uri="{9D8B030D-6E8A-4147-A177-3AD203B41FA5}">
                      <a16:colId xmlns:a16="http://schemas.microsoft.com/office/drawing/2014/main" val="2099537941"/>
                    </a:ext>
                  </a:extLst>
                </a:gridCol>
              </a:tblGrid>
              <a:tr h="3583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사이클 구간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Cell #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RPT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측정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Drive Cycle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측정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Aging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측정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87336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 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초기값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506688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001-200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182218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201-400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846081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401-600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555313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601-800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897039"/>
                  </a:ext>
                </a:extLst>
              </a:tr>
              <a:tr h="4927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801-1000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12,14,15,16 </a:t>
                      </a:r>
                      <a:r>
                        <a:rPr lang="ko-KR" altLang="en-US" sz="1200" dirty="0"/>
                        <a:t>제외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진행중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RPT </a:t>
                      </a:r>
                      <a:r>
                        <a:rPr lang="ko-KR" altLang="en-US" sz="1200" dirty="0"/>
                        <a:t>데이터 개수</a:t>
                      </a:r>
                      <a:r>
                        <a:rPr lang="en-US" altLang="ko-KR" sz="1200" dirty="0"/>
                        <a:t>: 39</a:t>
                      </a:r>
                    </a:p>
                    <a:p>
                      <a:pPr latinLnBrk="1"/>
                      <a:r>
                        <a:rPr lang="ko-KR" altLang="en-US" sz="1200" dirty="0"/>
                        <a:t>주행부하 데이터 개수</a:t>
                      </a:r>
                      <a:r>
                        <a:rPr lang="en-US" altLang="ko-KR" sz="1200" dirty="0"/>
                        <a:t>: 39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6268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532C6E0-D980-A7FC-8E37-32297C57C28F}"/>
              </a:ext>
            </a:extLst>
          </p:cNvPr>
          <p:cNvGraphicFramePr>
            <a:graphicFrameLocks noGrp="1"/>
          </p:cNvGraphicFramePr>
          <p:nvPr/>
        </p:nvGraphicFramePr>
        <p:xfrm>
          <a:off x="189805" y="5375299"/>
          <a:ext cx="6455172" cy="1657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556433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71153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32229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Ch09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: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62.39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Ch10: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63.44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506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59.30 (95.1%)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59.14 (93.2%)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32229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Ch11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62.97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Ch12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스웰링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63.38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50646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59.69 (94.8%)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59.23 (93.4%)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5F67E0-9282-C98B-5041-92548CBD1598}"/>
              </a:ext>
            </a:extLst>
          </p:cNvPr>
          <p:cNvGraphicFramePr>
            <a:graphicFrameLocks noGrp="1"/>
          </p:cNvGraphicFramePr>
          <p:nvPr/>
        </p:nvGraphicFramePr>
        <p:xfrm>
          <a:off x="6819285" y="5375301"/>
          <a:ext cx="6455172" cy="2038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534669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92917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31358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Ch13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62.54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Ch14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벤트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537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58.14 (93.0%)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54.94 (86.7%)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31358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Ch15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스웰링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 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63.66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Ch16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스웰링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62.95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49277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61.62 (96.8%)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56.06 (87.5%)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21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66FFE4-B529-FD42-63F8-09B3B24E03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4EE9827-67F0-2AD0-788C-230D558A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C207B0-5C1E-123A-C15D-01728E397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1-2. Capacity Retention (C/2, </a:t>
            </a:r>
            <a:r>
              <a:rPr lang="ko-KR" altLang="en-US" dirty="0"/>
              <a:t>방전용량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0C6999-9149-3B02-C39D-5BAE9738D0B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49FD39A-0D54-262A-AA6C-3EDB9D65FE2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D50B832-2FD7-32C4-B24C-3B03E5BC1FFB}"/>
              </a:ext>
            </a:extLst>
          </p:cNvPr>
          <p:cNvGraphicFramePr>
            <a:graphicFrameLocks noGrp="1"/>
          </p:cNvGraphicFramePr>
          <p:nvPr/>
        </p:nvGraphicFramePr>
        <p:xfrm>
          <a:off x="6984428" y="-1"/>
          <a:ext cx="6455172" cy="136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Ch09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62.39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Ch10: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63.44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59.30 (95.1%)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59.14 (93.2%)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Ch11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62.97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Ch12 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실험 종료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스웰링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63.38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59.69 (94.8%)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59.23 (93.4%)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719E9A53-4679-18C4-0736-EF80654DF78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0243" y="1499969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E01E2C-1A37-CA22-37CB-870D5489A05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79366" y="1499969"/>
            <a:ext cx="5820222" cy="29533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0537029-74D3-36F1-71D9-15EA9C3B48E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0243" y="4606368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E0149E-D41C-56C7-F1F9-C9AD7C1E9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366" y="4606368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956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310243B-3052-75E7-E534-A128589E89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1682144-5E40-2258-AB13-A2EA9127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B3E6FF-7D46-3278-AE86-7EA7E0621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1-2. Capacity Retention (C/2, </a:t>
            </a:r>
            <a:r>
              <a:rPr lang="ko-KR" altLang="en-US" dirty="0"/>
              <a:t>방전용량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EB2309-364E-6004-8C3F-02AF9C3CDCE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C663786-D275-B01C-BDA3-2B04B2C4777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EFD1EF-34FB-9D16-FFA6-24321330F8FB}"/>
              </a:ext>
            </a:extLst>
          </p:cNvPr>
          <p:cNvGraphicFramePr>
            <a:graphicFrameLocks noGrp="1"/>
          </p:cNvGraphicFramePr>
          <p:nvPr/>
        </p:nvGraphicFramePr>
        <p:xfrm>
          <a:off x="6984428" y="-1"/>
          <a:ext cx="6455172" cy="136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Ch13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62.54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Ch14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실험 종료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벤트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endParaRPr lang="ko-KR" altLang="en-US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63.40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58.14 (93.0%)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54.94 (86.7%)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Ch15 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실험 종료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스웰링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 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63.66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Ch16 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실험 종료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스웰링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62.95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61.62 (96.8%)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56.06 (87.5%)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8C5DC9ED-364D-0060-70F4-0247E6170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51" y="1499969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D21394-525D-7E91-ED88-B1EE38D4F4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81897" y="1499969"/>
            <a:ext cx="5820222" cy="30169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822384-4C0E-E1B8-2119-00A133DAE1F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8923" y="4606368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7468C7-8ACE-62CF-134B-83C044FCD9E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81897" y="4604057"/>
            <a:ext cx="5820222" cy="29556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269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B69CB7A-E228-89D9-F2FA-863A5A6056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C71E9EA-55ED-E028-68CA-F8C099E41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A23C8D-C418-7411-5B36-4D9C344B3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실험 </a:t>
            </a:r>
            <a:r>
              <a:rPr lang="en-US" altLang="ko-KR" dirty="0">
                <a:solidFill>
                  <a:schemeClr val="tx1"/>
                </a:solidFill>
              </a:rPr>
              <a:t>DOE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BC967D-0AD9-68A6-E700-EE54626BFF6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764" dirty="0">
                <a:solidFill>
                  <a:schemeClr val="tx1"/>
                </a:solidFill>
              </a:rPr>
              <a:t>RPT </a:t>
            </a:r>
            <a:r>
              <a:rPr lang="ko-KR" altLang="en-US" sz="1764" dirty="0">
                <a:solidFill>
                  <a:schemeClr val="tx1"/>
                </a:solidFill>
              </a:rPr>
              <a:t>구성 </a:t>
            </a:r>
            <a:r>
              <a:rPr lang="en-US" altLang="ko-KR" sz="1764" dirty="0">
                <a:solidFill>
                  <a:schemeClr val="tx1"/>
                </a:solidFill>
              </a:rPr>
              <a:t>(OCV-DCIR-C rate – </a:t>
            </a:r>
            <a:r>
              <a:rPr lang="ko-KR" altLang="en-US" sz="1764" dirty="0">
                <a:solidFill>
                  <a:schemeClr val="tx1"/>
                </a:solidFill>
              </a:rPr>
              <a:t>주행부하</a:t>
            </a:r>
            <a:r>
              <a:rPr lang="en-US" altLang="ko-KR" sz="1764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764" dirty="0">
                <a:solidFill>
                  <a:schemeClr val="tx1"/>
                </a:solidFill>
              </a:rPr>
              <a:t>정격용량 평가</a:t>
            </a:r>
            <a:r>
              <a:rPr lang="en-US" altLang="ko-KR" sz="1764" dirty="0">
                <a:solidFill>
                  <a:schemeClr val="tx1"/>
                </a:solidFill>
              </a:rPr>
              <a:t>: C/3 CCCV – Rest (1hr) – C/3 CC – Rest (1hr)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OCV </a:t>
            </a:r>
            <a:r>
              <a:rPr lang="ko-KR" altLang="en-US" sz="1764" dirty="0">
                <a:solidFill>
                  <a:schemeClr val="tx1"/>
                </a:solidFill>
              </a:rPr>
              <a:t>평가</a:t>
            </a:r>
            <a:r>
              <a:rPr lang="en-US" altLang="ko-KR" sz="1764" dirty="0">
                <a:solidFill>
                  <a:schemeClr val="tx1"/>
                </a:solidFill>
              </a:rPr>
              <a:t>: C/20 </a:t>
            </a:r>
            <a:r>
              <a:rPr lang="ko-KR" altLang="en-US" sz="1764" dirty="0">
                <a:solidFill>
                  <a:schemeClr val="tx1"/>
                </a:solidFill>
              </a:rPr>
              <a:t>충전 및 방전 </a:t>
            </a:r>
            <a:r>
              <a:rPr lang="en-US" altLang="ko-KR" sz="1764" dirty="0">
                <a:solidFill>
                  <a:schemeClr val="tx1"/>
                </a:solidFill>
              </a:rPr>
              <a:t>(30</a:t>
            </a:r>
            <a:r>
              <a:rPr lang="ko-KR" altLang="en-US" sz="1764" dirty="0">
                <a:solidFill>
                  <a:schemeClr val="tx1"/>
                </a:solidFill>
              </a:rPr>
              <a:t>분 휴지</a:t>
            </a:r>
            <a:r>
              <a:rPr lang="en-US" altLang="ko-KR" sz="1764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DCIR </a:t>
            </a:r>
            <a:r>
              <a:rPr lang="ko-KR" altLang="en-US" sz="1764" dirty="0">
                <a:solidFill>
                  <a:schemeClr val="tx1"/>
                </a:solidFill>
              </a:rPr>
              <a:t>평가</a:t>
            </a:r>
            <a:r>
              <a:rPr lang="en-US" altLang="ko-KR" sz="1764" dirty="0">
                <a:solidFill>
                  <a:schemeClr val="tx1"/>
                </a:solidFill>
              </a:rPr>
              <a:t>: 5-100% SOC </a:t>
            </a:r>
            <a:r>
              <a:rPr lang="ko-KR" altLang="en-US" sz="1764" dirty="0">
                <a:solidFill>
                  <a:schemeClr val="tx1"/>
                </a:solidFill>
              </a:rPr>
              <a:t>지점에서 </a:t>
            </a:r>
            <a:r>
              <a:rPr lang="en-US" altLang="ko-KR" sz="1764" dirty="0">
                <a:solidFill>
                  <a:schemeClr val="tx1"/>
                </a:solidFill>
              </a:rPr>
              <a:t>1C(60sec)</a:t>
            </a:r>
            <a:r>
              <a:rPr lang="ko-KR" altLang="en-US" sz="1764" dirty="0">
                <a:solidFill>
                  <a:schemeClr val="tx1"/>
                </a:solidFill>
              </a:rPr>
              <a:t> </a:t>
            </a:r>
            <a:r>
              <a:rPr lang="en-US" altLang="ko-KR" sz="1764" dirty="0">
                <a:solidFill>
                  <a:schemeClr val="tx1"/>
                </a:solidFill>
              </a:rPr>
              <a:t>Pulse</a:t>
            </a:r>
            <a:r>
              <a:rPr lang="ko-KR" altLang="en-US" sz="1764" dirty="0">
                <a:solidFill>
                  <a:schemeClr val="tx1"/>
                </a:solidFill>
              </a:rPr>
              <a:t> 거동 평가</a:t>
            </a:r>
            <a:endParaRPr lang="en-US" altLang="ko-KR" sz="1764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Crate </a:t>
            </a:r>
            <a:r>
              <a:rPr lang="ko-KR" altLang="en-US" sz="1764" dirty="0">
                <a:solidFill>
                  <a:schemeClr val="tx1"/>
                </a:solidFill>
              </a:rPr>
              <a:t>평가</a:t>
            </a:r>
            <a:r>
              <a:rPr lang="en-US" altLang="ko-KR" sz="1764" dirty="0">
                <a:solidFill>
                  <a:schemeClr val="tx1"/>
                </a:solidFill>
              </a:rPr>
              <a:t>: 0.1C, 0.5C, 1C, 2C </a:t>
            </a:r>
            <a:r>
              <a:rPr lang="ko-KR" altLang="en-US" sz="1764" dirty="0">
                <a:solidFill>
                  <a:schemeClr val="tx1"/>
                </a:solidFill>
              </a:rPr>
              <a:t>충방전 평가</a:t>
            </a:r>
            <a:endParaRPr lang="en-US" altLang="ko-KR" sz="1764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ESS </a:t>
            </a:r>
            <a:r>
              <a:rPr lang="ko-KR" altLang="en-US" sz="1764" dirty="0">
                <a:solidFill>
                  <a:schemeClr val="tx1"/>
                </a:solidFill>
              </a:rPr>
              <a:t>주행부하 </a:t>
            </a:r>
            <a:r>
              <a:rPr lang="en-US" altLang="ko-KR" sz="1764" dirty="0">
                <a:solidFill>
                  <a:schemeClr val="tx1"/>
                </a:solidFill>
              </a:rPr>
              <a:t>(Deep *4, Light *4)</a:t>
            </a:r>
          </a:p>
          <a:p>
            <a:pPr marL="1712965" lvl="2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SOC</a:t>
            </a:r>
            <a:r>
              <a:rPr lang="ko-KR" altLang="en-US" sz="1764" dirty="0">
                <a:solidFill>
                  <a:schemeClr val="tx1"/>
                </a:solidFill>
              </a:rPr>
              <a:t> 포인트</a:t>
            </a:r>
            <a:r>
              <a:rPr lang="en-US" altLang="ko-KR" sz="1764" dirty="0">
                <a:solidFill>
                  <a:schemeClr val="tx1"/>
                </a:solidFill>
              </a:rPr>
              <a:t>: 90, 70, 50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ko-KR" altLang="en-US" sz="1764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33AD1D-3399-B99E-A56F-075E7F0D71C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CC8E3D-8D8F-DB21-833B-A66C16F663B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2563" y="4255207"/>
            <a:ext cx="7649271" cy="206947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055BF14-D0A2-F2B6-2589-9211CD3AE7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79041" y="2231220"/>
            <a:ext cx="3982566" cy="21534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0A063EB1-DA5B-8FE9-71AE-52B0CA7B80D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79041" y="4466515"/>
            <a:ext cx="3982566" cy="2380314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EC57E37F-24F0-A0A4-C74E-258656BE510C}"/>
              </a:ext>
            </a:extLst>
          </p:cNvPr>
          <p:cNvSpPr/>
          <p:nvPr/>
        </p:nvSpPr>
        <p:spPr>
          <a:xfrm>
            <a:off x="10214610" y="1886801"/>
            <a:ext cx="1311428" cy="3034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70" dirty="0">
                <a:solidFill>
                  <a:schemeClr val="tx1"/>
                </a:solidFill>
              </a:rPr>
              <a:t>주행부하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AA31282-6667-727A-AAE9-C1B44409A7A5}"/>
              </a:ext>
            </a:extLst>
          </p:cNvPr>
          <p:cNvSpPr/>
          <p:nvPr/>
        </p:nvSpPr>
        <p:spPr>
          <a:xfrm>
            <a:off x="9324184" y="3156183"/>
            <a:ext cx="3092283" cy="87564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58" b="1" dirty="0">
                <a:solidFill>
                  <a:schemeClr val="tx1"/>
                </a:solidFill>
              </a:rPr>
              <a:t>Deep*4</a:t>
            </a:r>
          </a:p>
          <a:p>
            <a:pPr algn="ctr"/>
            <a:r>
              <a:rPr lang="en-US" altLang="ko-KR" sz="1470" b="1" dirty="0">
                <a:solidFill>
                  <a:schemeClr val="tx1"/>
                </a:solidFill>
              </a:rPr>
              <a:t>(SOC</a:t>
            </a:r>
            <a:r>
              <a:rPr lang="ko-KR" altLang="en-US" sz="1470" b="1" dirty="0">
                <a:solidFill>
                  <a:schemeClr val="tx1"/>
                </a:solidFill>
              </a:rPr>
              <a:t>변동 큰 프로파일</a:t>
            </a:r>
            <a:r>
              <a:rPr lang="en-US" altLang="ko-KR" sz="1470" b="1" dirty="0">
                <a:solidFill>
                  <a:schemeClr val="tx1"/>
                </a:solidFill>
              </a:rPr>
              <a:t>)</a:t>
            </a:r>
            <a:endParaRPr lang="ko-KR" altLang="en-US" sz="147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C2F00C-EF26-D616-DCBE-CFD70F140FE6}"/>
              </a:ext>
            </a:extLst>
          </p:cNvPr>
          <p:cNvSpPr/>
          <p:nvPr/>
        </p:nvSpPr>
        <p:spPr>
          <a:xfrm>
            <a:off x="9324184" y="5521136"/>
            <a:ext cx="3092283" cy="80354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58" b="1" dirty="0">
                <a:solidFill>
                  <a:schemeClr val="tx1"/>
                </a:solidFill>
              </a:rPr>
              <a:t>Light*4</a:t>
            </a:r>
          </a:p>
          <a:p>
            <a:pPr algn="ctr"/>
            <a:r>
              <a:rPr lang="en-US" altLang="ko-KR" sz="1470" b="1" dirty="0">
                <a:solidFill>
                  <a:schemeClr val="tx1"/>
                </a:solidFill>
              </a:rPr>
              <a:t>(SOC</a:t>
            </a:r>
            <a:r>
              <a:rPr lang="ko-KR" altLang="en-US" sz="1470" b="1" dirty="0">
                <a:solidFill>
                  <a:schemeClr val="tx1"/>
                </a:solidFill>
              </a:rPr>
              <a:t>변동 작은 프로파일</a:t>
            </a:r>
            <a:r>
              <a:rPr lang="en-US" altLang="ko-KR" sz="1470" b="1" dirty="0">
                <a:solidFill>
                  <a:schemeClr val="tx1"/>
                </a:solidFill>
              </a:rPr>
              <a:t>)</a:t>
            </a:r>
            <a:endParaRPr lang="ko-KR" altLang="en-US" sz="1470" b="1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1ABB6E0-469A-D691-0CDE-89F62D7B9929}"/>
              </a:ext>
            </a:extLst>
          </p:cNvPr>
          <p:cNvCxnSpPr/>
          <p:nvPr/>
        </p:nvCxnSpPr>
        <p:spPr>
          <a:xfrm>
            <a:off x="2557399" y="5301105"/>
            <a:ext cx="391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2C3C711-C5A5-F613-8118-E597358487FB}"/>
              </a:ext>
            </a:extLst>
          </p:cNvPr>
          <p:cNvCxnSpPr/>
          <p:nvPr/>
        </p:nvCxnSpPr>
        <p:spPr>
          <a:xfrm>
            <a:off x="5161287" y="5301105"/>
            <a:ext cx="391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B86CBA9-0815-8E3C-CA20-255F26DDE315}"/>
              </a:ext>
            </a:extLst>
          </p:cNvPr>
          <p:cNvCxnSpPr>
            <a:cxnSpLocks/>
          </p:cNvCxnSpPr>
          <p:nvPr/>
        </p:nvCxnSpPr>
        <p:spPr>
          <a:xfrm>
            <a:off x="7951834" y="5301105"/>
            <a:ext cx="783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052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E9947DC-DFC4-0A69-B20B-3825BF8B0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CD6D08B-65E6-5CD0-826D-3D15928C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랩데이터 정리본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884240-7032-9C0C-F900-68370CA87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이벤트 정의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6AD6E6-8C38-05DA-28A7-CAEC8928EF1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C4378B2-0F53-725C-7BBD-B5D32D689E4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 sz="1543" dirty="0"/>
              <a:t>Smoothing </a:t>
            </a:r>
            <a:r>
              <a:rPr lang="ko-KR" altLang="en-US" sz="1543" dirty="0"/>
              <a:t>적용하지 않음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9B5C0BF-D525-3151-F72C-260AF8BA3728}"/>
              </a:ext>
            </a:extLst>
          </p:cNvPr>
          <p:cNvGraphicFramePr>
            <a:graphicFrameLocks noGrp="1"/>
          </p:cNvGraphicFramePr>
          <p:nvPr/>
        </p:nvGraphicFramePr>
        <p:xfrm>
          <a:off x="6909511" y="4739493"/>
          <a:ext cx="6530088" cy="2120120"/>
        </p:xfrm>
        <a:graphic>
          <a:graphicData uri="http://schemas.openxmlformats.org/drawingml/2006/table">
            <a:tbl>
              <a:tblPr/>
              <a:tblGrid>
                <a:gridCol w="2176696">
                  <a:extLst>
                    <a:ext uri="{9D8B030D-6E8A-4147-A177-3AD203B41FA5}">
                      <a16:colId xmlns:a16="http://schemas.microsoft.com/office/drawing/2014/main" val="3397662707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2462773461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1044024518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4. </a:t>
                      </a:r>
                      <a:r>
                        <a:rPr lang="ko-KR" altLang="en-US" sz="1200" b="1" dirty="0">
                          <a:effectLst/>
                        </a:rPr>
                        <a:t>충전</a:t>
                      </a:r>
                      <a:r>
                        <a:rPr lang="en-US" altLang="ko-KR" sz="1200" b="1" dirty="0">
                          <a:effectLst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</a:rPr>
                        <a:t>방전 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2511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조건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005540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mean(I_seg) &gt; 0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CHARGING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평균 전류 양수 → 충전 이벤트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309195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mean(I_seg) &lt; 0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DISCHARGING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평균 전류 음수 → 방전 이벤트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47106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mean(I_seg) == 0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SKIP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평균 전류 </a:t>
                      </a:r>
                      <a:r>
                        <a:rPr lang="en-US" altLang="ko-KR" sz="1200" dirty="0">
                          <a:effectLst/>
                        </a:rPr>
                        <a:t>0 → </a:t>
                      </a:r>
                      <a:r>
                        <a:rPr lang="ko-KR" altLang="en-US" sz="1200" dirty="0">
                          <a:effectLst/>
                        </a:rPr>
                        <a:t>제외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7291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23CF2B9-6444-6FA6-0271-5A5C58B90455}"/>
              </a:ext>
            </a:extLst>
          </p:cNvPr>
          <p:cNvGraphicFramePr>
            <a:graphicFrameLocks noGrp="1"/>
          </p:cNvGraphicFramePr>
          <p:nvPr/>
        </p:nvGraphicFramePr>
        <p:xfrm>
          <a:off x="6909511" y="819510"/>
          <a:ext cx="6530088" cy="3855720"/>
        </p:xfrm>
        <a:graphic>
          <a:graphicData uri="http://schemas.openxmlformats.org/drawingml/2006/table">
            <a:tbl>
              <a:tblPr/>
              <a:tblGrid>
                <a:gridCol w="2176696">
                  <a:extLst>
                    <a:ext uri="{9D8B030D-6E8A-4147-A177-3AD203B41FA5}">
                      <a16:colId xmlns:a16="http://schemas.microsoft.com/office/drawing/2014/main" val="1841440794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493955217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2725559700"/>
                    </a:ext>
                  </a:extLst>
                </a:gridCol>
              </a:tblGrid>
              <a:tr h="285873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3. </a:t>
                      </a:r>
                      <a:r>
                        <a:rPr lang="ko-KR" altLang="en-US" sz="1200" b="1" dirty="0">
                          <a:effectLst/>
                        </a:rPr>
                        <a:t>안정성 체크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685234"/>
                  </a:ext>
                </a:extLst>
              </a:tr>
              <a:tr h="2858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777566"/>
                  </a:ext>
                </a:extLst>
              </a:tr>
              <a:tr h="11818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3-1. </a:t>
                      </a:r>
                      <a:r>
                        <a:rPr lang="ko-KR" altLang="en-US" sz="1200" b="1" dirty="0">
                          <a:effectLst/>
                        </a:rPr>
                        <a:t>구간 추출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 sz="1200" dirty="0">
                          <a:effectLst/>
                          <a:latin typeface="Consolas" panose="020B0609020204030204" pitchFamily="49" charset="0"/>
                        </a:rPr>
                        <a:t>I_seg = I(start_idx:end_idx)</a:t>
                      </a:r>
                      <a:r>
                        <a:rPr lang="nn-NO" sz="1200" dirty="0">
                          <a:effectLst/>
                        </a:rPr>
                        <a:t>&lt;br&gt;</a:t>
                      </a:r>
                      <a:r>
                        <a:rPr lang="nn-NO" sz="1200" dirty="0">
                          <a:effectLst/>
                          <a:latin typeface="Consolas" panose="020B0609020204030204" pitchFamily="49" charset="0"/>
                        </a:rPr>
                        <a:t>V_seg = V(start_idx:end_idx)</a:t>
                      </a:r>
                      <a:r>
                        <a:rPr lang="nn-NO" sz="1200" dirty="0">
                          <a:effectLst/>
                        </a:rPr>
                        <a:t>&lt;br&gt;</a:t>
                      </a:r>
                      <a:r>
                        <a:rPr lang="nn-NO" sz="1200" dirty="0">
                          <a:effectLst/>
                          <a:latin typeface="Consolas" panose="020B0609020204030204" pitchFamily="49" charset="0"/>
                        </a:rPr>
                        <a:t>P_seg = V_seg .* I_seg / 1000</a:t>
                      </a:r>
                      <a:endParaRPr lang="nn-NO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전압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전력 구간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878768"/>
                  </a:ext>
                </a:extLst>
              </a:tr>
              <a:tr h="4650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3-2. </a:t>
                      </a:r>
                      <a:r>
                        <a:rPr lang="ko-KR" altLang="en-US" sz="1200" b="1">
                          <a:effectLst/>
                        </a:rPr>
                        <a:t>안정 구간</a:t>
                      </a:r>
                      <a:endParaRPr lang="ko-KR" alt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P_seg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(3:idx2-2)</a:t>
                      </a:r>
                      <a:r>
                        <a:rPr lang="en-US" sz="1200" dirty="0">
                          <a:effectLst/>
                        </a:rPr>
                        <a:t>, 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(3:idx2-2)</a:t>
                      </a:r>
                      <a:endParaRPr 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시작</a:t>
                      </a:r>
                      <a:r>
                        <a:rPr lang="en-US" altLang="ko-KR" sz="1200" dirty="0">
                          <a:effectLst/>
                        </a:rPr>
                        <a:t>/</a:t>
                      </a:r>
                      <a:r>
                        <a:rPr lang="ko-KR" altLang="en-US" sz="1200" dirty="0">
                          <a:effectLst/>
                        </a:rPr>
                        <a:t>끝 </a:t>
                      </a:r>
                      <a:r>
                        <a:rPr lang="en-US" altLang="ko-KR" sz="1200" dirty="0">
                          <a:effectLst/>
                        </a:rPr>
                        <a:t>2</a:t>
                      </a:r>
                      <a:r>
                        <a:rPr lang="ko-KR" altLang="en-US" sz="1200" dirty="0">
                          <a:effectLst/>
                        </a:rPr>
                        <a:t>점 제외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8581"/>
                  </a:ext>
                </a:extLst>
              </a:tr>
              <a:tr h="4650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3-3. </a:t>
                      </a:r>
                      <a:r>
                        <a:rPr lang="ko-KR" altLang="en-US" sz="1200" b="1" dirty="0">
                          <a:effectLst/>
                        </a:rPr>
                        <a:t>전력 표준편차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power_std</a:t>
                      </a:r>
                      <a:r>
                        <a:rPr lang="en-US" sz="1200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 = std(</a:t>
                      </a:r>
                      <a:r>
                        <a:rPr lang="en-US" sz="1200" dirty="0" err="1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P_seg</a:t>
                      </a:r>
                      <a:r>
                        <a:rPr lang="en-US" sz="1200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(3:idx2-2))</a:t>
                      </a:r>
                      <a:endParaRPr 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안정 구간 전력 변동성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746167"/>
                  </a:ext>
                </a:extLst>
              </a:tr>
              <a:tr h="4650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3-4. </a:t>
                      </a:r>
                      <a:r>
                        <a:rPr lang="ko-KR" altLang="en-US" sz="1200" b="1">
                          <a:effectLst/>
                        </a:rPr>
                        <a:t>전류 표준편차</a:t>
                      </a:r>
                      <a:endParaRPr lang="ko-KR" alt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current_std = std(I_seg(3:idx2-2))</a:t>
                      </a:r>
                      <a:endParaRPr 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안정 구간 전류 변동성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491168"/>
                  </a:ext>
                </a:extLst>
              </a:tr>
              <a:tr h="6442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3-5. </a:t>
                      </a:r>
                      <a:r>
                        <a:rPr lang="ko-KR" altLang="en-US" sz="1200" b="1">
                          <a:effectLst/>
                        </a:rPr>
                        <a:t>필터링</a:t>
                      </a:r>
                      <a:endParaRPr lang="ko-KR" alt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power_std &gt;= 0.00705 kW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en-US" sz="1200" b="1">
                          <a:effectLst/>
                        </a:rPr>
                        <a:t>OR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current_std &gt;= 1.6 A</a:t>
                      </a:r>
                      <a:endParaRPr 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→ </a:t>
                      </a:r>
                      <a:r>
                        <a:rPr lang="en-US" sz="1200" b="1" dirty="0">
                          <a:effectLst/>
                        </a:rPr>
                        <a:t>FILTERED: Unstable</a:t>
                      </a:r>
                      <a:endParaRPr 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920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DCBAA8E-EDFD-8DCE-4445-BC782B148759}"/>
              </a:ext>
            </a:extLst>
          </p:cNvPr>
          <p:cNvGraphicFramePr>
            <a:graphicFrameLocks noGrp="1"/>
          </p:cNvGraphicFramePr>
          <p:nvPr/>
        </p:nvGraphicFramePr>
        <p:xfrm>
          <a:off x="105359" y="4213116"/>
          <a:ext cx="6654873" cy="2653872"/>
        </p:xfrm>
        <a:graphic>
          <a:graphicData uri="http://schemas.openxmlformats.org/drawingml/2006/table">
            <a:tbl>
              <a:tblPr/>
              <a:tblGrid>
                <a:gridCol w="2218291">
                  <a:extLst>
                    <a:ext uri="{9D8B030D-6E8A-4147-A177-3AD203B41FA5}">
                      <a16:colId xmlns:a16="http://schemas.microsoft.com/office/drawing/2014/main" val="1458272995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2462391346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2201854788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2. </a:t>
                      </a:r>
                      <a:r>
                        <a:rPr lang="ko-KR" altLang="en-US" sz="1200" b="1" dirty="0">
                          <a:effectLst/>
                        </a:rPr>
                        <a:t>이벤트 구간 및 최소 지속 시간 체크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51101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94357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2-1. </a:t>
                      </a:r>
                      <a:r>
                        <a:rPr lang="ko-KR" altLang="en-US" sz="1200" b="1" dirty="0">
                          <a:effectLst/>
                        </a:rPr>
                        <a:t>이벤트 시작점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start_idx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 = idx1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Transition </a:t>
                      </a:r>
                      <a:r>
                        <a:rPr lang="ko-KR" altLang="en-US" sz="1200">
                          <a:effectLst/>
                        </a:rPr>
                        <a:t>직전 인덱스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49802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2-2. </a:t>
                      </a:r>
                      <a:r>
                        <a:rPr lang="ko-KR" altLang="en-US" sz="1200" b="1" dirty="0">
                          <a:effectLst/>
                        </a:rPr>
                        <a:t>이벤트 </a:t>
                      </a:r>
                      <a:r>
                        <a:rPr lang="ko-KR" altLang="en-US" sz="1200" b="1" dirty="0" err="1">
                          <a:effectLst/>
                        </a:rPr>
                        <a:t>종료점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dirty="0">
                          <a:effectLst/>
                          <a:latin typeface="Consolas" panose="020B0609020204030204" pitchFamily="49" charset="0"/>
                        </a:rPr>
                        <a:t>end_idx = driving_end_idx</a:t>
                      </a:r>
                      <a:endParaRPr lang="da-DK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Driving </a:t>
                      </a:r>
                      <a:r>
                        <a:rPr lang="ko-KR" altLang="en-US" sz="1200" dirty="0">
                          <a:effectLst/>
                        </a:rPr>
                        <a:t>상태 종료 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026828"/>
                  </a:ext>
                </a:extLst>
              </a:tr>
              <a:tr h="7055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2-3. </a:t>
                      </a:r>
                      <a:r>
                        <a:rPr lang="ko-KR" altLang="en-US" sz="1200" b="1" dirty="0">
                          <a:effectLst/>
                        </a:rPr>
                        <a:t>실제 지속 시간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t_seconds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end_idx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 -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t_seconds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start_idx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실제 시간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848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2-4. </a:t>
                      </a:r>
                      <a:r>
                        <a:rPr lang="ko-KR" altLang="en-US" sz="1200" b="1">
                          <a:effectLst/>
                        </a:rPr>
                        <a:t>필터링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 err="1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sz="1200" b="1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 &lt; 10s</a:t>
                      </a:r>
                      <a:endParaRPr lang="en-US" sz="1200" b="1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→ </a:t>
                      </a:r>
                      <a:r>
                        <a:rPr lang="en-US" sz="1200" b="1" dirty="0">
                          <a:effectLst/>
                        </a:rPr>
                        <a:t>SKIP</a:t>
                      </a:r>
                      <a:r>
                        <a:rPr lang="en-US" sz="1200" dirty="0">
                          <a:effectLst/>
                        </a:rPr>
                        <a:t> (</a:t>
                      </a:r>
                      <a:r>
                        <a:rPr lang="ko-KR" altLang="en-US" sz="1200" dirty="0">
                          <a:effectLst/>
                        </a:rPr>
                        <a:t>너무 짧음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313306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C3408CF-AAF1-1266-3444-15301DE88946}"/>
              </a:ext>
            </a:extLst>
          </p:cNvPr>
          <p:cNvGraphicFramePr>
            <a:graphicFrameLocks noGrp="1"/>
          </p:cNvGraphicFramePr>
          <p:nvPr/>
        </p:nvGraphicFramePr>
        <p:xfrm>
          <a:off x="5207952" y="-2413755"/>
          <a:ext cx="8231646" cy="2340968"/>
        </p:xfrm>
        <a:graphic>
          <a:graphicData uri="http://schemas.openxmlformats.org/drawingml/2006/table">
            <a:tbl>
              <a:tblPr/>
              <a:tblGrid>
                <a:gridCol w="2743882">
                  <a:extLst>
                    <a:ext uri="{9D8B030D-6E8A-4147-A177-3AD203B41FA5}">
                      <a16:colId xmlns:a16="http://schemas.microsoft.com/office/drawing/2014/main" val="87978944"/>
                    </a:ext>
                  </a:extLst>
                </a:gridCol>
                <a:gridCol w="2743882">
                  <a:extLst>
                    <a:ext uri="{9D8B030D-6E8A-4147-A177-3AD203B41FA5}">
                      <a16:colId xmlns:a16="http://schemas.microsoft.com/office/drawing/2014/main" val="271943307"/>
                    </a:ext>
                  </a:extLst>
                </a:gridCol>
                <a:gridCol w="2743882">
                  <a:extLst>
                    <a:ext uri="{9D8B030D-6E8A-4147-A177-3AD203B41FA5}">
                      <a16:colId xmlns:a16="http://schemas.microsoft.com/office/drawing/2014/main" val="623188381"/>
                    </a:ext>
                  </a:extLst>
                </a:gridCol>
              </a:tblGrid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파라미터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값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524129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Cnom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64 Ah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배터리 용량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357763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Pnom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0.235 kW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정격 전력 </a:t>
                      </a:r>
                      <a:r>
                        <a:rPr lang="en-US" altLang="ko-KR" sz="1200">
                          <a:effectLst/>
                        </a:rPr>
                        <a:t>(3.68</a:t>
                      </a:r>
                      <a:r>
                        <a:rPr lang="en-US" sz="1200">
                          <a:effectLst/>
                        </a:rPr>
                        <a:t>V × 64Ah)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21145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current_threshold</a:t>
                      </a:r>
                      <a:endParaRPr lang="en-US" sz="120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1.28 A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Idle </a:t>
                      </a:r>
                      <a:r>
                        <a:rPr lang="ko-KR" altLang="en-US" sz="1200" dirty="0">
                          <a:effectLst/>
                        </a:rPr>
                        <a:t>전류 임계값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Cnom</a:t>
                      </a:r>
                      <a:r>
                        <a:rPr lang="en-US" altLang="ko-KR" sz="1200" dirty="0">
                          <a:effectLst/>
                        </a:rPr>
                        <a:t> × 0.02)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66023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min_duration</a:t>
                      </a:r>
                      <a:endParaRPr lang="en-US" sz="120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10 s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최소 이벤트 지속 시간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44884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max_P_std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0.00705 kW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최대 전력 표준편차 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Pnom</a:t>
                      </a:r>
                      <a:r>
                        <a:rPr lang="en-US" altLang="ko-KR" sz="1200" dirty="0">
                          <a:effectLst/>
                        </a:rPr>
                        <a:t> × 0.03)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63629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max_I_std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1.6 A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최대 전류 표준편차 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Cnom</a:t>
                      </a:r>
                      <a:r>
                        <a:rPr lang="en-US" altLang="ko-KR" sz="1200" dirty="0">
                          <a:effectLst/>
                        </a:rPr>
                        <a:t> × 0.025)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263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1351207-A20C-884E-6E4A-584AB5336F17}"/>
              </a:ext>
            </a:extLst>
          </p:cNvPr>
          <p:cNvGraphicFramePr>
            <a:graphicFrameLocks noGrp="1"/>
          </p:cNvGraphicFramePr>
          <p:nvPr/>
        </p:nvGraphicFramePr>
        <p:xfrm>
          <a:off x="105359" y="1316300"/>
          <a:ext cx="6654873" cy="2821864"/>
        </p:xfrm>
        <a:graphic>
          <a:graphicData uri="http://schemas.openxmlformats.org/drawingml/2006/table">
            <a:tbl>
              <a:tblPr/>
              <a:tblGrid>
                <a:gridCol w="2218291">
                  <a:extLst>
                    <a:ext uri="{9D8B030D-6E8A-4147-A177-3AD203B41FA5}">
                      <a16:colId xmlns:a16="http://schemas.microsoft.com/office/drawing/2014/main" val="2672124161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2065498614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1194180332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1. Idle </a:t>
                      </a:r>
                      <a:r>
                        <a:rPr lang="en-US" altLang="ko-KR" sz="1200" b="1" dirty="0">
                          <a:effectLst/>
                          <a:sym typeface="Wingdings" panose="05000000000000000000" pitchFamily="2" charset="2"/>
                        </a:rPr>
                        <a:t> Load </a:t>
                      </a:r>
                      <a:r>
                        <a:rPr lang="ko-KR" altLang="en-US" sz="1200" b="1" dirty="0">
                          <a:effectLst/>
                          <a:sym typeface="Wingdings" panose="05000000000000000000" pitchFamily="2" charset="2"/>
                        </a:rPr>
                        <a:t>검출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38822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Ilde </a:t>
                      </a:r>
                      <a:r>
                        <a:rPr lang="en-US" altLang="ko-KR" sz="1200" b="1" dirty="0">
                          <a:effectLst/>
                          <a:sym typeface="Wingdings" panose="05000000000000000000" pitchFamily="2" charset="2"/>
                        </a:rPr>
                        <a:t> Load Transition </a:t>
                      </a:r>
                      <a:r>
                        <a:rPr lang="ko-KR" altLang="en-US" sz="1200" b="1" dirty="0">
                          <a:effectLst/>
                          <a:sym typeface="Wingdings" panose="05000000000000000000" pitchFamily="2" charset="2"/>
                        </a:rPr>
                        <a:t>검출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조건</a:t>
                      </a:r>
                      <a:r>
                        <a:rPr lang="en-US" altLang="ko-KR" sz="1200" b="1" dirty="0">
                          <a:effectLst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148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1-1. Idle </a:t>
                      </a:r>
                      <a:r>
                        <a:rPr lang="ko-KR" altLang="en-US" sz="1200" b="1" dirty="0">
                          <a:effectLst/>
                        </a:rPr>
                        <a:t>상태 판단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abs(I) &lt; 1.28 A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 절댓값이 임계값 미만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14352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1-2. Driving </a:t>
                      </a:r>
                      <a:r>
                        <a:rPr lang="ko-KR" altLang="en-US" sz="1200" b="1">
                          <a:effectLst/>
                        </a:rPr>
                        <a:t>상태 판단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abs(I) &gt;= 1.28 A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 절댓값이 임계값 이상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48544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1-3. Transition </a:t>
                      </a:r>
                      <a:r>
                        <a:rPr lang="ko-KR" altLang="en-US" sz="1200" b="1">
                          <a:effectLst/>
                        </a:rPr>
                        <a:t>검출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is_idle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 &amp; 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is_driving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(i+1)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Idle → Driving </a:t>
                      </a:r>
                      <a:r>
                        <a:rPr lang="ko-KR" altLang="en-US" sz="1200" dirty="0">
                          <a:effectLst/>
                        </a:rPr>
                        <a:t>전환 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1071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1-4. </a:t>
                      </a:r>
                      <a:r>
                        <a:rPr lang="ko-KR" altLang="en-US" sz="1200" b="1">
                          <a:effectLst/>
                        </a:rPr>
                        <a:t>결과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idle_to_driving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</a:rPr>
                        <a:t>배열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Transition </a:t>
                      </a:r>
                      <a:r>
                        <a:rPr lang="ko-KR" altLang="en-US" sz="1200" dirty="0">
                          <a:effectLst/>
                        </a:rPr>
                        <a:t>인덱스 저장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5045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>
                          <a:effectLst/>
                        </a:rPr>
                        <a:t>필터링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Transition </a:t>
                      </a:r>
                      <a:r>
                        <a:rPr lang="ko-KR" altLang="en-US" sz="1200" dirty="0">
                          <a:effectLst/>
                        </a:rPr>
                        <a:t>없음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→ </a:t>
                      </a:r>
                      <a:r>
                        <a:rPr lang="en-US" sz="1200" b="1" dirty="0">
                          <a:effectLst/>
                        </a:rPr>
                        <a:t>SKIP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1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317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18DA1-5C45-CFE2-FEAB-AB6A74A5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31F786-01AA-25B5-F67A-756F1960D4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F74FA1-1353-0706-1D7E-E528357C8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SOC70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60B81D-485B-8689-C31C-741B61E8BBC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708513C-4A54-4CB4-60CF-6429997392B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394945-33B8-47BA-07EE-63F60FED489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1499968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65FB4C-660B-3C8B-CA7F-FC4FF5469C4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26248" y="1499968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4926D79-DBBA-C8AD-4482-955EED84D43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21162" y="1499968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319002-2F5C-8BE6-AE25-84FAADFB137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49969" y="1499968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BDF08CC-9547-FF9B-206C-0B0713DC4A9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557" y="4674634"/>
            <a:ext cx="4366579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094C7DB-DC1E-BEB2-F4F7-C7413C55842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86888" y="4674634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14FD61C-7379-DC63-ADCE-2BD368B9E84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27832" y="4674634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19D3F58-96D4-54F0-3042-C4D6131E960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25480" y="466438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제목 2">
            <a:extLst>
              <a:ext uri="{FF2B5EF4-FFF2-40B4-BE49-F238E27FC236}">
                <a16:creationId xmlns:a16="http://schemas.microsoft.com/office/drawing/2014/main" id="{326D2BE6-4880-92DE-FBB0-267FC4AC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505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5A914D-4E06-B7D8-7CC5-AAC957B0F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F0200A-5E9A-234C-3A7E-668B6B9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E77BBA-1C9A-4C14-1697-01DB03120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SOC70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55C382-CFE5-769D-5D30-3135E7B37C2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FB00D99-811F-39DC-1A91-027149B5714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0557E5-1876-59D7-7883-C08655F06B5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1499968"/>
            <a:ext cx="6349333" cy="505087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7B47CC-4C76-47D9-F8B2-A641EEF4BCB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1499968"/>
            <a:ext cx="6349333" cy="49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49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58CD25-9C8E-1BF6-118E-6F0165F158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12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8765DF9-F6E6-D582-0634-F06CC5838C2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5AD90D9-43A8-F079-622F-F611D88C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94A4EACA-DF4C-D34A-BD2B-7E85AD9D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SOC50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96E889-B458-8A63-4B9B-D50F2AFF862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04815" y="447794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E65AFF-6C31-1A44-6B3A-3BB2E60D765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07167" y="4477940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7585DA-3046-915E-05E8-60780CB03EF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75626" y="447794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801F864-E8F8-9476-9449-77518E635F4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992" y="4477940"/>
            <a:ext cx="4366579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186D09B-DA53-6A78-03C6-5A3510C5131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21762" y="13032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D60D963-EE62-C72F-DFB1-DB415061256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81748" y="1303273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286FBAA-56B0-A38A-522D-6DB4EA06A78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1642" y="13032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6062303-0AD9-76F3-9C53-8519DBB626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201" y="13032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3883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9869-AE1C-995F-B9BA-AB8E3784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3453B44-B87B-307B-7930-AA5E1EB559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68CDB6F-845E-07EB-5F3C-ABADFEA6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C8C07D-09BD-8024-E95E-563532AC6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DCIR</a:t>
            </a:r>
            <a:r>
              <a:rPr lang="ko-KR" altLang="en-US" dirty="0"/>
              <a:t>값 비교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4C9789-1140-ADB0-7A6E-C47D5C15C43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AE3A110-DF7B-1914-FD05-B5D2CDCD1F1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306E65-7F1A-F991-41CF-6C384368913F}"/>
              </a:ext>
            </a:extLst>
          </p:cNvPr>
          <p:cNvPicPr>
            <a:picLocks noChangeAspect="1"/>
          </p:cNvPicPr>
          <p:nvPr/>
        </p:nvPicPr>
        <p:blipFill>
          <a:blip/>
          <a:srcRect b="50000"/>
          <a:stretch>
            <a:fillRect/>
          </a:stretch>
        </p:blipFill>
        <p:spPr>
          <a:xfrm>
            <a:off x="176" y="1335498"/>
            <a:ext cx="13439422" cy="35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9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CC93-C828-0FE8-BBE4-B9A8A062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BE09DA-4A10-7F01-4341-EB70147FBB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F93CCB-8366-D84E-D731-5E65DE41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 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21FB03-E45A-CB9A-68BF-9DE505B7B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Ch13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BE9846-5D08-1D9E-E983-CFF51A9FA74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9F047D1-4739-1BA6-C38F-3241CDB2176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762CDB-6DBD-211B-21E8-132E0701779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07233" y="9142063"/>
            <a:ext cx="10552607" cy="75596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4FA591-2691-76CC-33CC-2C63629910A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55706" y="9059643"/>
            <a:ext cx="10471898" cy="7559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E41C4F-A753-3195-3D19-1BBE859A057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076356" y="9142063"/>
            <a:ext cx="10552607" cy="7559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10240B1-5CE9-16A2-DB38-12992F410E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8913825" y="9142063"/>
            <a:ext cx="10397915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106A5C0-A82D-04FA-B024-C1E13966E8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07233" y="1316300"/>
            <a:ext cx="10471898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20A80D-DF74-2ADE-CCF7-33CE408AE17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74996" y="1316300"/>
            <a:ext cx="10552607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5189A8D-3055-CF11-AA55-923C442FAF0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076355" y="1379006"/>
            <a:ext cx="10471898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CBC2987-9DF3-A022-AA9F-00906783FFB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8913825" y="1379006"/>
            <a:ext cx="10471898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61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A3F4-1AD8-981C-2C74-84FBC05A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D6F2A0-224E-7701-2CF8-5EAAAEC5BD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8C37249-0647-3ED3-7A36-470E59B7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 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6E1258-C99E-1CEF-256F-145210568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Ch13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499EE9-9E06-4232-0EAD-AEBFED9B944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099019-B5EB-5FFE-C5F1-24B572F8F29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F1752D-17D6-A317-65B6-74634AA4A0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37817" y="9127608"/>
            <a:ext cx="11139420" cy="75596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6E42DA5-9AA5-03DF-E517-504B71C559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12670" y="9127608"/>
            <a:ext cx="11139420" cy="7559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2C7336-03FF-4642-2629-9B3E909E89F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46514" y="9157183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C570477-4FB8-2B7B-FE58-F6B9F39B43B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37817" y="1175624"/>
            <a:ext cx="11073636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FA10B1A-E302-4F78-31A2-127D1F8265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300178" y="1175624"/>
            <a:ext cx="11139420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4E41FD4-DE49-B090-5BFA-9D49645A17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46514" y="1316300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27AC47-2AA4-DB47-45FA-9892433F18E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418369" y="1316300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40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D284-3299-325B-0307-3991ADEB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5BAAEF-C22E-4358-140F-8021A27A65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7D0B710-12B9-02BD-A1FF-DC2D88CB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 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E7E9BC-2517-27FB-ECF2-1BDA58387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Ch13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0750A8-C949-B514-2A6B-183810C0B23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D865166-04BA-9B12-FC17-4D674410079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6A45B95-5052-478A-7AE4-C9BA33CFC42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3" y="1555717"/>
            <a:ext cx="6519082" cy="52911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56BA51-13C5-76D0-E52B-E051051D46D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706399" y="1473423"/>
            <a:ext cx="6519082" cy="529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30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B3200-1440-3838-E17D-FBC62225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E9FC79-6475-6A75-9441-A2AD396914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17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759698-A1A5-DF39-A09A-869FE49AC0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4F9556-42D7-64F4-63E7-D7D3A964692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438CDA1-A819-5D84-7E25-B85B63DA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Ch14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F22A32E6-D3FD-4FAD-ED3B-936A811C8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Ch14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EA790BB-7BE5-BC44-EB68-5BA4450C5A1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050026" y="9490716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61A6D1C-8B5C-6EFA-38F7-AC8E222A437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66683" y="947343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634494-42BB-AC7A-B4D2-DC27261BAAF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5258913" y="947343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4EB191A-65A3-E0CC-6085-A205BA6EE1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5913471" y="947343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3FA9B43-E31C-4FE9-811B-CDD6AAA4C01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050024" y="178055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67C00DC-2877-0420-72E8-A80780C9E0A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66682" y="1780550"/>
            <a:ext cx="10552607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DDCD49C-C131-F333-3A6D-A18585B7E9C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5235773" y="1751856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4E9591D-6F48-904E-04DE-EDCA8017ECB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5913471" y="1751856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8072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DBE1-07DD-7DC3-D1E7-8E3D8776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AA1111-247E-DEEF-B7C1-928EBD7A23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28428E8-4643-648D-E92A-C3B1CFD6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Ch14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FE80D2-E690-C6C9-7AC5-CD2D903F8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Ch14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632FA4-B457-DDC8-6CA6-3E660AB140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544369C-1707-47EC-B6BD-B91F30A68F8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F894842-E799-A812-4A25-A3CA44A7A2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439598" y="8735624"/>
            <a:ext cx="11139420" cy="7559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CEDA3B5-91FF-BE05-8B13-87882222918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10549" y="8735624"/>
            <a:ext cx="11139420" cy="7559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455E6ED-B5E8-78C7-E4C6-732341BBD52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52715" y="8735624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3B70FDE-2E7E-1859-C394-87DDF26827F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481941" y="8735624"/>
            <a:ext cx="11139420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AA5C231-E0C1-D12C-22CF-FE3C5531762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439599" y="1063629"/>
            <a:ext cx="11073636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876C86-2B6D-0127-87D6-C816260919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51845" y="1063629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D28C745-5097-C03A-67E4-FD5E907D87E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52717" y="1091628"/>
            <a:ext cx="11073636" cy="755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CE6DE09-014B-CDFE-F42A-379EB0D8610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457455" y="981210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59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7456A-DC2F-BF47-7654-FEF87503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93FFBC-C7A8-0850-1C34-12EAD1BFB9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1F71580-C220-F6B6-BD3C-75C1223E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Ch14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96ECF6-2C0D-FC78-147E-B422F1188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Ch14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E75B1A-B751-37DA-1E7C-B280BC4B433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472CEB1-E790-C440-7B6A-534C4880DB0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A051E57-E722-EA07-11CB-141B5AAA02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3" y="1499968"/>
            <a:ext cx="6349333" cy="49578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0778AE0-6CD6-51B6-C9DC-B26AF7610C1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76147" y="1499968"/>
            <a:ext cx="6349333" cy="495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31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4A4A-2713-61CD-3AA5-2861AA033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596DCE-CB0B-6ADD-ABD9-9F2F8DAA81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20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CD3099-E8E9-D08F-492C-CBF967486C9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A6EEE09-6DC0-327A-045E-D44368D2B91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F86DAE97-C4FC-8CD4-E33B-0B7FC359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Ch15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464FCDE0-E4AB-166D-8855-E47718285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Ch15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8C8B4C5-5314-9C97-AC46-86F6F2E534F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855913" y="4472373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E35996D-CDA8-02D6-B454-5CFE4710802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518178" y="44723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942D96A-AA30-9390-D8C4-B7441B53DF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60615" y="4472373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DADCA08-C0A7-976B-2273-38A4708EFD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363055" y="4593379"/>
            <a:ext cx="4423670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C8EC9AF-943A-B1EB-EF83-D4B1AD33379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872859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3537F9-039B-7FDD-AF3C-981405DE82B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75211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59F1BAB-A5CD-6E46-0C0D-FA76A858CE1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60615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8E4B8D0-A855-CDBD-B711-F7EAE998958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363055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1839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27D4-C3DA-10D2-A15D-F0714ADD3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F8A07C3-DD2A-B90C-2DB6-707895E13C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21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17F2B0-C7E7-496B-BC92-8778C68177B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090948-0509-7426-4E3E-651DA1C553D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제목 2">
            <a:extLst>
              <a:ext uri="{FF2B5EF4-FFF2-40B4-BE49-F238E27FC236}">
                <a16:creationId xmlns:a16="http://schemas.microsoft.com/office/drawing/2014/main" id="{BF8A4CA1-5B1C-49BD-0D76-04FB60455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Ch15</a:t>
            </a:r>
            <a:endParaRPr lang="ko-KR" altLang="en-US" dirty="0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00D53221-A6CE-A192-4F68-C6EF907C3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Ch15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B9171FD-9716-1736-2CF5-EF6B11F0D82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91764" y="9335004"/>
            <a:ext cx="11073636" cy="7559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137D94C-8EFB-0163-B2DA-A6595174882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03836" y="9335004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CBFBFBC-3C0D-BD82-30C6-BA0A50705EC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949702" y="9335004"/>
            <a:ext cx="11139420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895664C-A4EF-79EE-8FC5-1BC680E2DCE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303414" y="9335004"/>
            <a:ext cx="11139420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3CF11FE-5214-AFEA-8047-5E9955CF11E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91763" y="1495526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01FE509-B0D8-A3D9-74AF-E0F59EF1EE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03836" y="1495526"/>
            <a:ext cx="11073636" cy="755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85EF34C-0471-31F8-8173-09ECC3FCBE5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949701" y="1495526"/>
            <a:ext cx="11073636" cy="755967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9489BBF-FB13-1632-9DDB-10C8261020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237630" y="1495526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39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DE84-4689-82AF-490E-42F93D2A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D23081-F34D-423A-3EBD-A13952537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B1CC7C4-35F4-6F40-0B67-8A7FC6D9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1E6239-1ECD-CDDE-76C5-20BA7EE16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BAE0FA-74F6-170D-E166-E5E1D874CB2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5221F39-3E71-91BA-E5B0-605BC34ABA7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6703FE7-D393-A93D-9BDB-314E8D1DD31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3" y="1555717"/>
            <a:ext cx="6349333" cy="49715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187185-1B15-524E-782F-BC22DD4A8F4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76147" y="1499968"/>
            <a:ext cx="6349333" cy="49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29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BCE26-A646-467F-D66A-1E4410458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83972C-CC06-8B37-11A0-A881768F03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4BFAE7-7FBA-19B3-863D-CF227E01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Ch16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38A19A-D8CA-2708-EE03-F3D213288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Ch16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D91299-EA2E-32E1-D3EA-162A3438E17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AD3149-0A23-6BF4-DC82-B2A9424E5C8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9B75C63-FFBA-CABB-DC6E-B092227974C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367771" y="451988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3565B4A-2CEF-9642-1510-12808C0CD5C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4016" y="4519880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6229578-9AC3-2359-4559-65483C09EFE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407239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3E939E0-A782-8087-95DB-6CF9E36C54D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9590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B7CBCEC-A831-4F7A-2AFC-ABA8927D280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11942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CD4F11-A63C-F07B-094D-DCB8893269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11942" y="4519880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390166C-DF2D-3C08-A60C-535243E4C0E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5976" y="451988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56CD0B0-7627-DEF0-8FC8-A8B741D33EE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9805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4320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6BEC0-25DA-B57C-FDE0-82843B15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5DA95E-990C-2D62-1B5F-791A7FF53A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24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FD1A28-2FF6-E52A-4DDE-621CCF682FA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A914D0-BAE8-D365-A5A0-056988192C7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제목 2">
            <a:extLst>
              <a:ext uri="{FF2B5EF4-FFF2-40B4-BE49-F238E27FC236}">
                <a16:creationId xmlns:a16="http://schemas.microsoft.com/office/drawing/2014/main" id="{EA5046FB-1A46-AD7E-B582-3290924F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Ch16</a:t>
            </a:r>
            <a:endParaRPr lang="ko-KR" altLang="en-US" dirty="0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0704602E-AF06-63C3-7A20-1B8E58A4F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Ch16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DFCD4DC-3A8B-F15E-5823-6CB89F6F7A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47762" y="9210134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846DC6-0D2F-D8E9-982A-D552AA32960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84321" y="9285881"/>
            <a:ext cx="11073636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AB0AC17-8D9C-0F35-AD10-F37613B102A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844729" y="9210134"/>
            <a:ext cx="11139420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C911E16-6310-4567-A68F-0A14EA3EF69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108170" y="9210134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26A8F30-045B-8FEB-2CB9-1B24184771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47762" y="1499968"/>
            <a:ext cx="11073636" cy="755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44288AD-E614-57B0-A3B8-1342CA5644C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84321" y="1499968"/>
            <a:ext cx="11073636" cy="755967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9500DB4-EC3A-9461-25DF-100A7CEC39B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844729" y="1499968"/>
            <a:ext cx="11073636" cy="755967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82A3328-FA0D-0154-08C8-196689640B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108170" y="1499968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34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005E-44C7-E729-85E8-833107FA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B4099C8-A42F-07AE-F226-01F1513E13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1F5591-F8A5-25E8-EA8D-7C609804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30A7C9-6496-D322-F8DD-032C2FFDF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0DCD81-7BC3-F7BC-2A84-DF07030765D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2A1273-EC50-2FD1-029F-189E1FCDE0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F170EB-317B-5546-1A39-1560DBAB8DB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293" y="1654108"/>
            <a:ext cx="6757399" cy="52911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B347C75-E02F-B660-70B4-C8EB9998E91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85688" y="1621117"/>
            <a:ext cx="6757399" cy="529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90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AE977C-6837-6A25-B659-B5136D7091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E4D24B-0443-6F84-66E7-5DB9875E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558AF-351A-A3AD-8102-E044E7683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SOC90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4CD44B-D337-FCA3-58AA-E1554C890DD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399B596-ABCC-BCAE-72AF-C68D33EC3A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03DAA1-6E17-E116-5638-09EAB7B19FF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1499968"/>
            <a:ext cx="4397648" cy="3174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941F86D-C78C-D5F1-DFD5-2198E75D8E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7824" y="1499968"/>
            <a:ext cx="4397648" cy="3174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43D0D7-9642-D638-E270-252B3BD5C16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83925" y="1499738"/>
            <a:ext cx="4397648" cy="3174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94D6439-AED4-3B91-CAA3-A52074838B6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86274" y="467440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122273F-6564-2B94-6C95-354C8E0F667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306876" y="4674405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411F585-14CB-045F-66F7-C0A95B7125C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7824" y="4674634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BDCE472-1FD7-1C03-F522-97953A231A3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95474" y="1499738"/>
            <a:ext cx="4488450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9E9BF56-AE96-F21E-EBC9-EC0C2DD873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467440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3804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5D95-8222-DAAC-0553-CBB1C3B6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8A6CB3-1B27-3F64-F212-E567F61824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5C449C6-85B7-2B4E-D506-301AECD5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21F414-7D12-C752-41F3-D058E43C3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SOC90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BD2601-6124-55C6-6870-F9FC48A179D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F5802ED-FE6B-17A0-3C5C-69FBC51C4D3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539318E-3442-500B-8F9C-6D2C41FA1C6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1499968"/>
            <a:ext cx="7823478" cy="529111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E9CA30E-B483-F130-30BB-84B6C829BF9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12467" y="5677251"/>
            <a:ext cx="5062807" cy="101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50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3737-947E-1DD7-1934-9FDB392AD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30CCFE-8A49-42AB-EC46-0BB096AAFA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B832DDB-A6E7-3707-F4B8-BCA7592C8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3DCDB8-7808-B32E-03B2-E8A21BF2D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SOC90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844CEB-9270-0316-AD71-40E6CE14445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FB51524-A018-C426-43BC-289C54BE852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FE95336-4FF5-7BED-EE6C-67B8D6B6028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1499968"/>
            <a:ext cx="6349333" cy="505087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D50A1D-E238-A8C8-F50B-EAEFF06BFC6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1499968"/>
            <a:ext cx="6349333" cy="49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71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AED28EF-657D-F125-D8D2-AC987C3956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EE9D939-4DB5-4C52-A758-10C1D5C5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7C96B4-4713-E06D-1998-EC18B2F5D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540FD9-3D66-A99E-C30A-62D3A2E4FE9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ko-KR" altLang="en-US" sz="1764" b="1" dirty="0">
                <a:solidFill>
                  <a:schemeClr val="tx1"/>
                </a:solidFill>
              </a:rPr>
              <a:t>랩데이터 요약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en-US" altLang="ko-KR" sz="1764" b="1" dirty="0">
                <a:solidFill>
                  <a:schemeClr val="tx1"/>
                </a:solidFill>
              </a:rPr>
              <a:t>(</a:t>
            </a:r>
            <a:r>
              <a:rPr lang="ko-KR" altLang="en-US" sz="1764" b="1" dirty="0">
                <a:solidFill>
                  <a:schemeClr val="tx1"/>
                </a:solidFill>
              </a:rPr>
              <a:t>랩데이터</a:t>
            </a:r>
            <a:r>
              <a:rPr lang="en-US" altLang="ko-KR" sz="1764" b="1" dirty="0">
                <a:solidFill>
                  <a:schemeClr val="tx1"/>
                </a:solidFill>
              </a:rPr>
              <a:t>) </a:t>
            </a:r>
            <a:r>
              <a:rPr lang="ko-KR" altLang="en-US" sz="1764" b="1" dirty="0">
                <a:solidFill>
                  <a:schemeClr val="tx1"/>
                </a:solidFill>
              </a:rPr>
              <a:t>이벤트 기반 특징 인자 추출 알고리즘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2-1. </a:t>
            </a:r>
            <a:r>
              <a:rPr lang="ko-KR" altLang="en-US" sz="1764" b="1" dirty="0">
                <a:solidFill>
                  <a:schemeClr val="tx1"/>
                </a:solidFill>
              </a:rPr>
              <a:t>진단용 유효 이벤트 정의 및 검출 로직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2-2. </a:t>
            </a:r>
            <a:r>
              <a:rPr lang="ko-KR" altLang="en-US" sz="1764" b="1" dirty="0">
                <a:solidFill>
                  <a:schemeClr val="tx1"/>
                </a:solidFill>
              </a:rPr>
              <a:t>저항 산출 로직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en-US" altLang="ko-KR" sz="1764" b="1" dirty="0">
                <a:solidFill>
                  <a:schemeClr val="tx1"/>
                </a:solidFill>
              </a:rPr>
              <a:t>(</a:t>
            </a:r>
            <a:r>
              <a:rPr lang="ko-KR" altLang="en-US" sz="1764" b="1" dirty="0">
                <a:solidFill>
                  <a:schemeClr val="tx1"/>
                </a:solidFill>
              </a:rPr>
              <a:t>랩데이터</a:t>
            </a:r>
            <a:r>
              <a:rPr lang="en-US" altLang="ko-KR" sz="1764" b="1" dirty="0">
                <a:solidFill>
                  <a:schemeClr val="tx1"/>
                </a:solidFill>
              </a:rPr>
              <a:t>) </a:t>
            </a:r>
            <a:r>
              <a:rPr lang="ko-KR" altLang="en-US" sz="1764" b="1" dirty="0">
                <a:solidFill>
                  <a:schemeClr val="tx1"/>
                </a:solidFill>
              </a:rPr>
              <a:t>열화 인자 상관성 분석 결과 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3-1. Cycle </a:t>
            </a:r>
            <a:r>
              <a:rPr lang="ko-KR" altLang="en-US" sz="1764" b="1" dirty="0">
                <a:solidFill>
                  <a:schemeClr val="tx1"/>
                </a:solidFill>
              </a:rPr>
              <a:t>경과에 따른 저항 증가 추이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3-2. SOH</a:t>
            </a:r>
            <a:r>
              <a:rPr lang="ko-KR" altLang="en-US" sz="1764" b="1" dirty="0">
                <a:solidFill>
                  <a:schemeClr val="tx1"/>
                </a:solidFill>
              </a:rPr>
              <a:t>와의 상관관계 결과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en-US" altLang="ko-KR" sz="1764" b="1" dirty="0">
                <a:solidFill>
                  <a:schemeClr val="tx1"/>
                </a:solidFill>
              </a:rPr>
              <a:t>(</a:t>
            </a:r>
            <a:r>
              <a:rPr lang="ko-KR" altLang="en-US" sz="1764" b="1" dirty="0">
                <a:solidFill>
                  <a:schemeClr val="tx1"/>
                </a:solidFill>
              </a:rPr>
              <a:t>필드데이터</a:t>
            </a:r>
            <a:r>
              <a:rPr lang="en-US" altLang="ko-KR" sz="1764" b="1" dirty="0">
                <a:solidFill>
                  <a:schemeClr val="tx1"/>
                </a:solidFill>
              </a:rPr>
              <a:t>) </a:t>
            </a:r>
            <a:r>
              <a:rPr lang="ko-KR" altLang="en-US" sz="1764" b="1" dirty="0">
                <a:solidFill>
                  <a:schemeClr val="tx1"/>
                </a:solidFill>
              </a:rPr>
              <a:t>열화 인자 상관성 분석 결과 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3-1. </a:t>
            </a:r>
            <a:r>
              <a:rPr lang="ko-KR" altLang="en-US" sz="1764" b="1" dirty="0">
                <a:solidFill>
                  <a:schemeClr val="tx1"/>
                </a:solidFill>
              </a:rPr>
              <a:t>진단용 유효 이벤트 정의 및 검출 로직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3-2. </a:t>
            </a:r>
            <a:r>
              <a:rPr lang="ko-KR" altLang="en-US" sz="1764" b="1" dirty="0">
                <a:solidFill>
                  <a:schemeClr val="tx1"/>
                </a:solidFill>
              </a:rPr>
              <a:t>연도별 저항 증가 추이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3-3. SOH</a:t>
            </a:r>
            <a:r>
              <a:rPr lang="ko-KR" altLang="en-US" sz="1764" b="1" dirty="0">
                <a:solidFill>
                  <a:schemeClr val="tx1"/>
                </a:solidFill>
              </a:rPr>
              <a:t>와의 상관관계 결과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endParaRPr lang="ko-KR" altLang="en-US" sz="1764" b="1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02CA7E6-3F62-D517-9F21-E2F99563653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28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793E-F765-D865-A939-C0B8E765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97F10B-DE30-C1FA-9063-A7B6BEEABF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A7D0E74-A84A-E884-D438-1F0D9276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이벤트 기반 특징 추출 알고리즘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DA06EF-A63D-5686-51CC-79B3FFFE1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2-1. </a:t>
            </a:r>
            <a:r>
              <a:rPr lang="ko-KR" altLang="en-US" dirty="0">
                <a:solidFill>
                  <a:schemeClr val="tx1"/>
                </a:solidFill>
              </a:rPr>
              <a:t>진단용 유효 이벤트 정의 및 검출 로직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3E0B41-02F1-BFB7-8DEB-1908AC3979E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0B3AAB2-D91D-2E7B-D6DA-1A8366491DF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F0B5494-3E5F-16A2-E410-995B31937867}"/>
              </a:ext>
            </a:extLst>
          </p:cNvPr>
          <p:cNvGraphicFramePr>
            <a:graphicFrameLocks noGrp="1"/>
          </p:cNvGraphicFramePr>
          <p:nvPr/>
        </p:nvGraphicFramePr>
        <p:xfrm>
          <a:off x="6815360" y="6002941"/>
          <a:ext cx="6530087" cy="1571480"/>
        </p:xfrm>
        <a:graphic>
          <a:graphicData uri="http://schemas.openxmlformats.org/drawingml/2006/table">
            <a:tbl>
              <a:tblPr/>
              <a:tblGrid>
                <a:gridCol w="1750419">
                  <a:extLst>
                    <a:ext uri="{9D8B030D-6E8A-4147-A177-3AD203B41FA5}">
                      <a16:colId xmlns:a16="http://schemas.microsoft.com/office/drawing/2014/main" val="3397662707"/>
                    </a:ext>
                  </a:extLst>
                </a:gridCol>
                <a:gridCol w="2796267">
                  <a:extLst>
                    <a:ext uri="{9D8B030D-6E8A-4147-A177-3AD203B41FA5}">
                      <a16:colId xmlns:a16="http://schemas.microsoft.com/office/drawing/2014/main" val="2462773461"/>
                    </a:ext>
                  </a:extLst>
                </a:gridCol>
                <a:gridCol w="1983401">
                  <a:extLst>
                    <a:ext uri="{9D8B030D-6E8A-4147-A177-3AD203B41FA5}">
                      <a16:colId xmlns:a16="http://schemas.microsoft.com/office/drawing/2014/main" val="1044024518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4.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충전</a:t>
                      </a: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방전 분류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2511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조건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005540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event_type &gt; 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effectLst/>
                        </a:rPr>
                        <a:t>Charge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dirty="0">
                          <a:effectLst/>
                        </a:rPr>
                        <a:t>충전 이벤트 </a:t>
                      </a:r>
                      <a:r>
                        <a:rPr lang="en-US" altLang="ko-KR" sz="900" dirty="0">
                          <a:effectLst/>
                        </a:rPr>
                        <a:t>(</a:t>
                      </a:r>
                      <a:r>
                        <a:rPr lang="ko-KR" altLang="en-US" sz="900" dirty="0">
                          <a:effectLst/>
                        </a:rPr>
                        <a:t>평균 전류 양수</a:t>
                      </a:r>
                      <a:r>
                        <a:rPr lang="en-US" altLang="ko-KR" sz="900" dirty="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309195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event_type &lt; 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Discharge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방전 이벤트 </a:t>
                      </a:r>
                      <a:r>
                        <a:rPr lang="en-US" altLang="ko-KR" sz="900">
                          <a:effectLst/>
                        </a:rPr>
                        <a:t>(</a:t>
                      </a:r>
                      <a:r>
                        <a:rPr lang="ko-KR" altLang="en-US" sz="900">
                          <a:effectLst/>
                        </a:rPr>
                        <a:t>평균 전류 음수</a:t>
                      </a:r>
                      <a:r>
                        <a:rPr lang="en-US" altLang="ko-KR" sz="90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47106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event_type == 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SKIP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dirty="0">
                          <a:effectLst/>
                        </a:rPr>
                        <a:t>전류가 </a:t>
                      </a:r>
                      <a:r>
                        <a:rPr lang="en-US" altLang="ko-KR" sz="900" dirty="0">
                          <a:effectLst/>
                        </a:rPr>
                        <a:t>0 → </a:t>
                      </a:r>
                      <a:r>
                        <a:rPr lang="ko-KR" altLang="en-US" sz="900" dirty="0">
                          <a:effectLst/>
                        </a:rPr>
                        <a:t>제외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729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FADB90C-C82D-94FE-4925-5AD6E6817C20}"/>
              </a:ext>
            </a:extLst>
          </p:cNvPr>
          <p:cNvGraphicFramePr>
            <a:graphicFrameLocks noGrp="1"/>
          </p:cNvGraphicFramePr>
          <p:nvPr/>
        </p:nvGraphicFramePr>
        <p:xfrm>
          <a:off x="6815360" y="2333341"/>
          <a:ext cx="6530086" cy="3648458"/>
        </p:xfrm>
        <a:graphic>
          <a:graphicData uri="http://schemas.openxmlformats.org/drawingml/2006/table">
            <a:tbl>
              <a:tblPr/>
              <a:tblGrid>
                <a:gridCol w="1696227">
                  <a:extLst>
                    <a:ext uri="{9D8B030D-6E8A-4147-A177-3AD203B41FA5}">
                      <a16:colId xmlns:a16="http://schemas.microsoft.com/office/drawing/2014/main" val="1841440794"/>
                    </a:ext>
                  </a:extLst>
                </a:gridCol>
                <a:gridCol w="1657751">
                  <a:extLst>
                    <a:ext uri="{9D8B030D-6E8A-4147-A177-3AD203B41FA5}">
                      <a16:colId xmlns:a16="http://schemas.microsoft.com/office/drawing/2014/main" val="493955217"/>
                    </a:ext>
                  </a:extLst>
                </a:gridCol>
                <a:gridCol w="3176108">
                  <a:extLst>
                    <a:ext uri="{9D8B030D-6E8A-4147-A177-3AD203B41FA5}">
                      <a16:colId xmlns:a16="http://schemas.microsoft.com/office/drawing/2014/main" val="2725559700"/>
                    </a:ext>
                  </a:extLst>
                </a:gridCol>
              </a:tblGrid>
              <a:tr h="308786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3.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안정성 체크</a:t>
                      </a:r>
                    </a:p>
                  </a:txBody>
                  <a:tcPr marL="115571" marR="115571" marT="53340" marB="533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685234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코드</a:t>
                      </a:r>
                      <a:r>
                        <a:rPr lang="en-US" altLang="ko-KR" sz="900" b="1" dirty="0">
                          <a:effectLst/>
                        </a:rPr>
                        <a:t>/</a:t>
                      </a:r>
                      <a:r>
                        <a:rPr lang="ko-KR" altLang="en-US" sz="9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777566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3-1. </a:t>
                      </a:r>
                      <a:r>
                        <a:rPr lang="ko-KR" altLang="en-US" sz="900" b="1">
                          <a:effectLst/>
                        </a:rPr>
                        <a:t>구간 추출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이벤트 전체 구간 데이터 추출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 sz="900">
                          <a:effectLst/>
                          <a:latin typeface="Consolas" panose="020B0609020204030204" pitchFamily="49" charset="0"/>
                        </a:rPr>
                        <a:t>I_seg = I(start_idx:end_idx)</a:t>
                      </a:r>
                      <a:r>
                        <a:rPr lang="nn-NO" sz="900">
                          <a:effectLst/>
                        </a:rPr>
                        <a:t>&lt;br&gt;</a:t>
                      </a:r>
                      <a:r>
                        <a:rPr lang="nn-NO" sz="900">
                          <a:effectLst/>
                          <a:latin typeface="Consolas" panose="020B0609020204030204" pitchFamily="49" charset="0"/>
                        </a:rPr>
                        <a:t>V_seg = V(start_idx:end_idx)</a:t>
                      </a:r>
                      <a:r>
                        <a:rPr lang="nn-NO" sz="900">
                          <a:effectLst/>
                        </a:rPr>
                        <a:t>&lt;br&gt;</a:t>
                      </a:r>
                      <a:r>
                        <a:rPr lang="nn-NO" sz="900">
                          <a:effectLst/>
                          <a:latin typeface="Consolas" panose="020B0609020204030204" pitchFamily="49" charset="0"/>
                        </a:rPr>
                        <a:t>P_seg = V_seg .* I_seg / 1000</a:t>
                      </a:r>
                      <a:endParaRPr lang="nn-NO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878768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3-2. </a:t>
                      </a:r>
                      <a:r>
                        <a:rPr lang="ko-KR" altLang="en-US" sz="900" b="1">
                          <a:effectLst/>
                        </a:rPr>
                        <a:t>안정 구간 정의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고정 시간 윈도우 </a:t>
                      </a:r>
                      <a:r>
                        <a:rPr lang="en-US" altLang="ko-KR" sz="900">
                          <a:effectLst/>
                        </a:rPr>
                        <a:t>(2~60</a:t>
                      </a:r>
                      <a:r>
                        <a:rPr lang="ko-KR" altLang="en-US" sz="900">
                          <a:effectLst/>
                        </a:rPr>
                        <a:t>초</a:t>
                      </a:r>
                      <a:r>
                        <a:rPr lang="en-US" altLang="ko-KR" sz="90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t_start_stable = t_seg(1) + 2</a:t>
                      </a:r>
                      <a:r>
                        <a:rPr lang="en-US" sz="900">
                          <a:effectLst/>
                        </a:rPr>
                        <a:t>&lt;br&gt;</a:t>
                      </a: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t_end_stable = t_seg(1) + 60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8581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3-3. </a:t>
                      </a:r>
                      <a:r>
                        <a:rPr lang="ko-KR" altLang="en-US" sz="900" b="1">
                          <a:effectLst/>
                        </a:rPr>
                        <a:t>안정 구간 길이 체크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이벤트가 </a:t>
                      </a:r>
                      <a:r>
                        <a:rPr lang="en-US" altLang="ko-KR" sz="900">
                          <a:effectLst/>
                        </a:rPr>
                        <a:t>60</a:t>
                      </a:r>
                      <a:r>
                        <a:rPr lang="ko-KR" altLang="en-US" sz="900">
                          <a:effectLst/>
                        </a:rPr>
                        <a:t>초 이상인지 확인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if t_seg(end) &lt; t_end_stable → continue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746167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3-4. </a:t>
                      </a:r>
                      <a:r>
                        <a:rPr lang="ko-KR" altLang="en-US" sz="900" b="1">
                          <a:effectLst/>
                        </a:rPr>
                        <a:t>안정 구간 인덱스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2~60</a:t>
                      </a:r>
                      <a:r>
                        <a:rPr lang="ko-KR" altLang="en-US" sz="900">
                          <a:effectLst/>
                        </a:rPr>
                        <a:t>초 구간에 해당하는 인덱스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stable_mask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&gt;=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t_start_stable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 &amp; 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&lt;=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t_end_stable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stable_indices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find(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stable_mask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491168"/>
                  </a:ext>
                </a:extLst>
              </a:tr>
              <a:tr h="9743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3-5. </a:t>
                      </a:r>
                      <a:r>
                        <a:rPr lang="ko-KR" altLang="en-US" sz="900" b="1">
                          <a:effectLst/>
                        </a:rPr>
                        <a:t>통계량 계산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안정 구간에서 통계량 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stable_indices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power_std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std(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P_seg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stable_indices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current_std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 std(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current_mean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mean(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current_range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 max(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 - min(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current_CV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current_std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/ abs(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current_mean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920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9A6614D-4912-FB69-81B2-5C3DA7352B0A}"/>
              </a:ext>
            </a:extLst>
          </p:cNvPr>
          <p:cNvGraphicFramePr>
            <a:graphicFrameLocks noGrp="1"/>
          </p:cNvGraphicFramePr>
          <p:nvPr/>
        </p:nvGraphicFramePr>
        <p:xfrm>
          <a:off x="77259" y="4472407"/>
          <a:ext cx="6654873" cy="3238254"/>
        </p:xfrm>
        <a:graphic>
          <a:graphicData uri="http://schemas.openxmlformats.org/drawingml/2006/table">
            <a:tbl>
              <a:tblPr/>
              <a:tblGrid>
                <a:gridCol w="1765419">
                  <a:extLst>
                    <a:ext uri="{9D8B030D-6E8A-4147-A177-3AD203B41FA5}">
                      <a16:colId xmlns:a16="http://schemas.microsoft.com/office/drawing/2014/main" val="1458272995"/>
                    </a:ext>
                  </a:extLst>
                </a:gridCol>
                <a:gridCol w="2514473">
                  <a:extLst>
                    <a:ext uri="{9D8B030D-6E8A-4147-A177-3AD203B41FA5}">
                      <a16:colId xmlns:a16="http://schemas.microsoft.com/office/drawing/2014/main" val="2462391346"/>
                    </a:ext>
                  </a:extLst>
                </a:gridCol>
                <a:gridCol w="2374981">
                  <a:extLst>
                    <a:ext uri="{9D8B030D-6E8A-4147-A177-3AD203B41FA5}">
                      <a16:colId xmlns:a16="http://schemas.microsoft.com/office/drawing/2014/main" val="2201854788"/>
                    </a:ext>
                  </a:extLst>
                </a:gridCol>
              </a:tblGrid>
              <a:tr h="374759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2.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이벤트 구간 및 최소 지속 시간 체크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51101"/>
                  </a:ext>
                </a:extLst>
              </a:tr>
              <a:tr h="3747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94357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2-1. </a:t>
                      </a:r>
                      <a:r>
                        <a:rPr lang="ko-KR" altLang="en-US" sz="900" b="1">
                          <a:effectLst/>
                        </a:rPr>
                        <a:t>이벤트 타입 결정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Driving </a:t>
                      </a:r>
                      <a:r>
                        <a:rPr lang="ko-KR" altLang="en-US" sz="900">
                          <a:effectLst/>
                        </a:rPr>
                        <a:t>시작 지점의 전류 부호로 결정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event_type = sign(I(start_driving_idx))</a:t>
                      </a:r>
                      <a:r>
                        <a:rPr lang="en-US" sz="900">
                          <a:effectLst/>
                        </a:rPr>
                        <a:t>&lt;br&gt;1: </a:t>
                      </a:r>
                      <a:r>
                        <a:rPr lang="ko-KR" altLang="en-US" sz="900">
                          <a:effectLst/>
                        </a:rPr>
                        <a:t>충전</a:t>
                      </a:r>
                      <a:r>
                        <a:rPr lang="en-US" altLang="ko-KR" sz="900">
                          <a:effectLst/>
                        </a:rPr>
                        <a:t>, -1: </a:t>
                      </a:r>
                      <a:r>
                        <a:rPr lang="ko-KR" altLang="en-US" sz="900">
                          <a:effectLst/>
                        </a:rPr>
                        <a:t>방전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49802"/>
                  </a:ext>
                </a:extLst>
              </a:tr>
              <a:tr h="568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2-2. </a:t>
                      </a:r>
                      <a:r>
                        <a:rPr lang="ko-KR" altLang="en-US" sz="900" b="1">
                          <a:effectLst/>
                        </a:rPr>
                        <a:t>이벤트 시작점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Transition </a:t>
                      </a:r>
                      <a:r>
                        <a:rPr lang="ko-KR" altLang="en-US" sz="900">
                          <a:effectLst/>
                        </a:rPr>
                        <a:t>직전 인덱스 </a:t>
                      </a:r>
                      <a:r>
                        <a:rPr lang="en-US" altLang="ko-KR" sz="900">
                          <a:effectLst/>
                        </a:rPr>
                        <a:t>(Idle </a:t>
                      </a:r>
                      <a:r>
                        <a:rPr lang="ko-KR" altLang="en-US" sz="900">
                          <a:effectLst/>
                        </a:rPr>
                        <a:t>상태</a:t>
                      </a:r>
                      <a:r>
                        <a:rPr lang="en-US" altLang="ko-KR" sz="90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start_idx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 = idx1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026828"/>
                  </a:ext>
                </a:extLst>
              </a:tr>
              <a:tr h="761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2-3. Driving </a:t>
                      </a:r>
                      <a:r>
                        <a:rPr lang="ko-KR" altLang="en-US" sz="900" b="1">
                          <a:effectLst/>
                        </a:rPr>
                        <a:t>시작점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Transition </a:t>
                      </a:r>
                      <a:r>
                        <a:rPr lang="ko-KR" altLang="en-US" sz="900">
                          <a:effectLst/>
                        </a:rPr>
                        <a:t>직후 인덱스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start_driving_idx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 idx1 + 1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848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2-4. </a:t>
                      </a:r>
                      <a:r>
                        <a:rPr lang="ko-KR" altLang="en-US" sz="900" b="1">
                          <a:effectLst/>
                        </a:rPr>
                        <a:t>이벤트 종료점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동일 방향 전류가 유지되는 마지막 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driving_end_idx</a:t>
                      </a:r>
                      <a:r>
                        <a:rPr lang="ko-KR" altLang="en-US" sz="900" dirty="0">
                          <a:effectLst/>
                        </a:rPr>
                        <a:t>조건</a:t>
                      </a:r>
                      <a:r>
                        <a:rPr lang="en-US" altLang="ko-KR" sz="900" dirty="0">
                          <a:effectLst/>
                        </a:rPr>
                        <a:t>: </a:t>
                      </a:r>
                      <a:r>
                        <a:rPr lang="en-US" sz="900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abs(I) &gt;= 1.28 A</a:t>
                      </a:r>
                      <a:r>
                        <a:rPr lang="en-US" sz="900" dirty="0">
                          <a:effectLst/>
                        </a:rPr>
                        <a:t> AND 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sign(I) ==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event_type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31330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383AD10-6B56-3411-C718-07C43DE774B8}"/>
              </a:ext>
            </a:extLst>
          </p:cNvPr>
          <p:cNvGraphicFramePr>
            <a:graphicFrameLocks noGrp="1"/>
          </p:cNvGraphicFramePr>
          <p:nvPr/>
        </p:nvGraphicFramePr>
        <p:xfrm>
          <a:off x="94328" y="1652118"/>
          <a:ext cx="6654874" cy="2593264"/>
        </p:xfrm>
        <a:graphic>
          <a:graphicData uri="http://schemas.openxmlformats.org/drawingml/2006/table">
            <a:tbl>
              <a:tblPr/>
              <a:tblGrid>
                <a:gridCol w="1759189">
                  <a:extLst>
                    <a:ext uri="{9D8B030D-6E8A-4147-A177-3AD203B41FA5}">
                      <a16:colId xmlns:a16="http://schemas.microsoft.com/office/drawing/2014/main" val="2672124161"/>
                    </a:ext>
                  </a:extLst>
                </a:gridCol>
                <a:gridCol w="2492797">
                  <a:extLst>
                    <a:ext uri="{9D8B030D-6E8A-4147-A177-3AD203B41FA5}">
                      <a16:colId xmlns:a16="http://schemas.microsoft.com/office/drawing/2014/main" val="2065498614"/>
                    </a:ext>
                  </a:extLst>
                </a:gridCol>
                <a:gridCol w="2402888">
                  <a:extLst>
                    <a:ext uri="{9D8B030D-6E8A-4147-A177-3AD203B41FA5}">
                      <a16:colId xmlns:a16="http://schemas.microsoft.com/office/drawing/2014/main" val="1194180332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1. Idle </a:t>
                      </a: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Load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검출</a:t>
                      </a:r>
                      <a:endParaRPr lang="ko-KR" alt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38822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148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1-1. Idle </a:t>
                      </a:r>
                      <a:r>
                        <a:rPr lang="ko-KR" altLang="en-US" sz="900" b="1">
                          <a:effectLst/>
                        </a:rPr>
                        <a:t>상태 판단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절대 전류값이 임계값 미만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abs(I) &lt; 1.28 A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14352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1-2. Driving </a:t>
                      </a:r>
                      <a:r>
                        <a:rPr lang="ko-KR" altLang="en-US" sz="900" b="1">
                          <a:effectLst/>
                        </a:rPr>
                        <a:t>상태 판단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절대 전류값이 임계값 이상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abs(I) &gt;= 1.28 A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48544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1-3. Transition </a:t>
                      </a:r>
                      <a:r>
                        <a:rPr lang="ko-KR" altLang="en-US" sz="900" b="1">
                          <a:effectLst/>
                        </a:rPr>
                        <a:t>검출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i</a:t>
                      </a:r>
                      <a:r>
                        <a:rPr lang="ko-KR" altLang="en-US" sz="900">
                          <a:effectLst/>
                        </a:rPr>
                        <a:t>번째는 </a:t>
                      </a:r>
                      <a:r>
                        <a:rPr lang="en-US" altLang="ko-KR" sz="900">
                          <a:effectLst/>
                        </a:rPr>
                        <a:t>Idle, i+1</a:t>
                      </a:r>
                      <a:r>
                        <a:rPr lang="ko-KR" altLang="en-US" sz="900">
                          <a:effectLst/>
                        </a:rPr>
                        <a:t>번째는 </a:t>
                      </a:r>
                      <a:r>
                        <a:rPr lang="en-US" altLang="ko-KR" sz="900">
                          <a:effectLst/>
                        </a:rPr>
                        <a:t>Driving</a:t>
                      </a:r>
                      <a:r>
                        <a:rPr lang="ko-KR" altLang="en-US" sz="900">
                          <a:effectLst/>
                        </a:rPr>
                        <a:t>인 지점 검출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is_idle(i) &amp; is_driving(i+1)</a:t>
                      </a:r>
                      <a:r>
                        <a:rPr lang="en-US" sz="900">
                          <a:effectLst/>
                        </a:rPr>
                        <a:t>&lt;br&gt;→ Idle → Driving </a:t>
                      </a:r>
                      <a:r>
                        <a:rPr lang="ko-KR" altLang="en-US" sz="900">
                          <a:effectLst/>
                        </a:rPr>
                        <a:t>전환 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1071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1-4. </a:t>
                      </a:r>
                      <a:r>
                        <a:rPr lang="ko-KR" altLang="en-US" sz="900" b="1">
                          <a:effectLst/>
                        </a:rPr>
                        <a:t>결과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Transition </a:t>
                      </a:r>
                      <a:r>
                        <a:rPr lang="ko-KR" altLang="en-US" sz="900">
                          <a:effectLst/>
                        </a:rPr>
                        <a:t>인덱스 배열 저장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idle_to_driving </a:t>
                      </a:r>
                      <a:r>
                        <a:rPr lang="ko-KR" altLang="en-US" sz="900">
                          <a:effectLst/>
                          <a:latin typeface="Consolas" panose="020B0609020204030204" pitchFamily="49" charset="0"/>
                        </a:rPr>
                        <a:t>배열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5045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>
                          <a:effectLst/>
                        </a:rPr>
                        <a:t>필터링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Transition</a:t>
                      </a:r>
                      <a:r>
                        <a:rPr lang="ko-KR" altLang="en-US" sz="900">
                          <a:effectLst/>
                        </a:rPr>
                        <a:t>이 없으면 </a:t>
                      </a:r>
                      <a:r>
                        <a:rPr lang="en-US" sz="900">
                          <a:effectLst/>
                        </a:rPr>
                        <a:t>SKIP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if 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isempty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idle_to_driving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 → continue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12809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BB9933-824E-74EF-52D7-086822F29D59}"/>
              </a:ext>
            </a:extLst>
          </p:cNvPr>
          <p:cNvGraphicFramePr>
            <a:graphicFrameLocks noGrp="1"/>
          </p:cNvGraphicFramePr>
          <p:nvPr/>
        </p:nvGraphicFramePr>
        <p:xfrm>
          <a:off x="6815361" y="93308"/>
          <a:ext cx="6530085" cy="2181784"/>
        </p:xfrm>
        <a:graphic>
          <a:graphicData uri="http://schemas.openxmlformats.org/drawingml/2006/table">
            <a:tbl>
              <a:tblPr/>
              <a:tblGrid>
                <a:gridCol w="1692837">
                  <a:extLst>
                    <a:ext uri="{9D8B030D-6E8A-4147-A177-3AD203B41FA5}">
                      <a16:colId xmlns:a16="http://schemas.microsoft.com/office/drawing/2014/main" val="87978944"/>
                    </a:ext>
                  </a:extLst>
                </a:gridCol>
                <a:gridCol w="2839620">
                  <a:extLst>
                    <a:ext uri="{9D8B030D-6E8A-4147-A177-3AD203B41FA5}">
                      <a16:colId xmlns:a16="http://schemas.microsoft.com/office/drawing/2014/main" val="271943307"/>
                    </a:ext>
                  </a:extLst>
                </a:gridCol>
                <a:gridCol w="1997628">
                  <a:extLst>
                    <a:ext uri="{9D8B030D-6E8A-4147-A177-3AD203B41FA5}">
                      <a16:colId xmlns:a16="http://schemas.microsoft.com/office/drawing/2014/main" val="623188381"/>
                    </a:ext>
                  </a:extLst>
                </a:gridCol>
              </a:tblGrid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파라미터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값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계산식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524129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Cnom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64 Ah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-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357763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Pnom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0.235 kW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3.68V × 64Ah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21145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current_threshold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1.28 A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Cnom</a:t>
                      </a:r>
                      <a:r>
                        <a:rPr lang="en-US" sz="900" dirty="0">
                          <a:effectLst/>
                        </a:rPr>
                        <a:t> × 0.02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66023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min_duration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60 s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-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44884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 err="1">
                          <a:effectLst/>
                        </a:rPr>
                        <a:t>max_P_std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0.01175 kW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Pnom</a:t>
                      </a:r>
                      <a:r>
                        <a:rPr lang="en-US" sz="900" dirty="0">
                          <a:effectLst/>
                        </a:rPr>
                        <a:t> × 0.05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63629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 err="1">
                          <a:effectLst/>
                        </a:rPr>
                        <a:t>max_I_std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3.2 A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Cnom</a:t>
                      </a:r>
                      <a:r>
                        <a:rPr lang="en-US" sz="900" dirty="0">
                          <a:effectLst/>
                        </a:rPr>
                        <a:t> × 0.05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263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3F3764B-5B5E-B723-C6D1-19B5BDA4BAAA}"/>
              </a:ext>
            </a:extLst>
          </p:cNvPr>
          <p:cNvSpPr txBox="1"/>
          <p:nvPr/>
        </p:nvSpPr>
        <p:spPr>
          <a:xfrm>
            <a:off x="7910748" y="829096"/>
            <a:ext cx="3961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(**1)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이벤트 정규성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&gt; </a:t>
            </a:r>
            <a:r>
              <a:rPr lang="ko-KR" altLang="en-US" b="1" u="sng" dirty="0">
                <a:highlight>
                  <a:srgbClr val="FFFF00"/>
                </a:highlight>
                <a:sym typeface="Wingdings" panose="05000000000000000000" pitchFamily="2" charset="2"/>
              </a:rPr>
              <a:t>이벤트 검출 량</a:t>
            </a:r>
            <a:endParaRPr lang="en-US" altLang="ko-KR" b="1" u="sng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자세히 보고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가야함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데이터 많으면 대표 샘플 선정 등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조건별로 얼마나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filter out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되는지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–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그 검출 결과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42652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377E6-9ED8-738E-65D1-F7D63CDA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F01C3A-28FC-6C12-8634-B303BA1CDA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5A34D57-CB60-D23D-44A8-951223CD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이벤트 기반 특징 추출 알고리즘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BFE2F7-E858-D470-EA3B-8C81B8079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저항 산출 로직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CE45BB-5E62-1732-527A-01C3C624B58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tx1"/>
                </a:solidFill>
              </a:rPr>
              <a:t>검출된 이벤트로부터 </a:t>
            </a:r>
            <a:r>
              <a:rPr lang="ko-KR" altLang="en-US" dirty="0" err="1">
                <a:solidFill>
                  <a:schemeClr val="tx1"/>
                </a:solidFill>
              </a:rPr>
              <a:t>저항값</a:t>
            </a:r>
            <a:r>
              <a:rPr lang="ko-KR" altLang="en-US" dirty="0">
                <a:solidFill>
                  <a:schemeClr val="tx1"/>
                </a:solidFill>
              </a:rPr>
              <a:t> 추출</a:t>
            </a:r>
            <a:endParaRPr lang="en-US" altLang="ko-KR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tx1"/>
                </a:solidFill>
              </a:rPr>
              <a:t>SOC 50</a:t>
            </a:r>
            <a:r>
              <a:rPr lang="ko-KR" altLang="en-US" dirty="0">
                <a:solidFill>
                  <a:schemeClr val="tx1"/>
                </a:solidFill>
              </a:rPr>
              <a:t>에서의 </a:t>
            </a:r>
            <a:r>
              <a:rPr lang="ko-KR" altLang="en-US" dirty="0" err="1">
                <a:solidFill>
                  <a:schemeClr val="tx1"/>
                </a:solidFill>
              </a:rPr>
              <a:t>저항값</a:t>
            </a:r>
            <a:r>
              <a:rPr lang="ko-KR" altLang="en-US" dirty="0">
                <a:solidFill>
                  <a:schemeClr val="tx1"/>
                </a:solidFill>
              </a:rPr>
              <a:t> 추출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42DD4C6-169A-A7F6-93C1-95C30E3014C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977EF77-7A70-0F3E-7F22-4FF3312ECD79}"/>
              </a:ext>
            </a:extLst>
          </p:cNvPr>
          <p:cNvGraphicFramePr>
            <a:graphicFrameLocks noGrp="1"/>
          </p:cNvGraphicFramePr>
          <p:nvPr/>
        </p:nvGraphicFramePr>
        <p:xfrm>
          <a:off x="682986" y="2890893"/>
          <a:ext cx="8773603" cy="4054329"/>
        </p:xfrm>
        <a:graphic>
          <a:graphicData uri="http://schemas.openxmlformats.org/drawingml/2006/table">
            <a:tbl>
              <a:tblPr/>
              <a:tblGrid>
                <a:gridCol w="953767">
                  <a:extLst>
                    <a:ext uri="{9D8B030D-6E8A-4147-A177-3AD203B41FA5}">
                      <a16:colId xmlns:a16="http://schemas.microsoft.com/office/drawing/2014/main" val="2902653969"/>
                    </a:ext>
                  </a:extLst>
                </a:gridCol>
                <a:gridCol w="1257236">
                  <a:extLst>
                    <a:ext uri="{9D8B030D-6E8A-4147-A177-3AD203B41FA5}">
                      <a16:colId xmlns:a16="http://schemas.microsoft.com/office/drawing/2014/main" val="3012034132"/>
                    </a:ext>
                  </a:extLst>
                </a:gridCol>
                <a:gridCol w="1549112">
                  <a:extLst>
                    <a:ext uri="{9D8B030D-6E8A-4147-A177-3AD203B41FA5}">
                      <a16:colId xmlns:a16="http://schemas.microsoft.com/office/drawing/2014/main" val="3761111593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1735025986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445586653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839122464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3756184034"/>
                    </a:ext>
                  </a:extLst>
                </a:gridCol>
              </a:tblGrid>
              <a:tr h="3455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시간 구간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샘플링 간격 </a:t>
                      </a:r>
                      <a:r>
                        <a:rPr lang="en-US" sz="1200" b="1" dirty="0">
                          <a:effectLst/>
                        </a:rPr>
                        <a:t>dt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인덱스 계산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V1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V2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I1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I2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675032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R_1s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round(1/0.1 + 1) = 11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(11)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21961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R_3s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round(3/0.1 + 1) = 31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V_seg(31)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I_seg(31)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647078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R_5s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round(5/0.1 + 1) = 51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(51)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(51)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801782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R_10s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round(10/0.1 + 1) = 101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57438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R_30s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round(30/0.1 + 1) = 301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V_seg(301)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I_seg(301)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503570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R_60s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round(60/0.1 + 1) = 601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V_seg(601)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(601)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02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405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49C0-49A2-CC79-84FD-EF9CE85BF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ABBF98B-DB70-5D4F-E206-71BF6E0026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CB9C94-A606-6466-B19F-B0C05EF1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5251E1-AC17-A762-383F-3356C7048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(Rchg_1sec)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93C29A-2D89-AF44-AD9D-04E16614D95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8E76DE9-E4FB-0251-59D6-F521A5EE894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5B010F-9DC1-2FB5-F46A-F7F1DB65A8C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2613939"/>
            <a:ext cx="682604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A51C6F-F157-19CC-B4E4-3A9E10974B9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05999" y="2613939"/>
            <a:ext cx="584397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16210A-7502-9C35-4CBB-7B6E454008B6}"/>
              </a:ext>
            </a:extLst>
          </p:cNvPr>
          <p:cNvSpPr txBox="1"/>
          <p:nvPr/>
        </p:nvSpPr>
        <p:spPr>
          <a:xfrm>
            <a:off x="7522821" y="582452"/>
            <a:ext cx="389882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(**2)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전체 랩 데이터 </a:t>
            </a:r>
            <a:r>
              <a:rPr lang="ko-KR" altLang="en-US" b="1" u="sng" dirty="0" err="1">
                <a:highlight>
                  <a:srgbClr val="FFFF00"/>
                </a:highlight>
              </a:rPr>
              <a:t>디멘전</a:t>
            </a:r>
            <a:r>
              <a:rPr lang="ko-KR" altLang="en-US" b="1" u="sng" dirty="0">
                <a:highlight>
                  <a:srgbClr val="FFFF00"/>
                </a:highlight>
              </a:rPr>
              <a:t> 파악</a:t>
            </a:r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en-US" altLang="ko-KR" b="1" u="sng" dirty="0">
                <a:highlight>
                  <a:srgbClr val="FFFF00"/>
                </a:highlight>
              </a:rPr>
              <a:t>(</a:t>
            </a:r>
            <a:r>
              <a:rPr lang="ko-KR" altLang="en-US" b="1" u="sng" dirty="0">
                <a:highlight>
                  <a:srgbClr val="FFFF00"/>
                </a:highlight>
              </a:rPr>
              <a:t>셀</a:t>
            </a:r>
            <a:r>
              <a:rPr lang="en-US" altLang="ko-KR" b="1" u="sng" dirty="0">
                <a:highlight>
                  <a:srgbClr val="FFFF00"/>
                </a:highlight>
              </a:rPr>
              <a:t>/</a:t>
            </a:r>
            <a:r>
              <a:rPr lang="ko-KR" altLang="en-US" b="1" u="sng" dirty="0">
                <a:highlight>
                  <a:srgbClr val="FFFF00"/>
                </a:highlight>
              </a:rPr>
              <a:t>채널</a:t>
            </a:r>
            <a:r>
              <a:rPr lang="en-US" altLang="ko-KR" b="1" u="sng" dirty="0">
                <a:highlight>
                  <a:srgbClr val="FFFF00"/>
                </a:highlight>
              </a:rPr>
              <a:t>, RPT# (cycle, SOH),  </a:t>
            </a:r>
            <a:r>
              <a:rPr lang="ko-KR" altLang="en-US" b="1" u="sng" dirty="0">
                <a:highlight>
                  <a:srgbClr val="FFFF00"/>
                </a:highlight>
              </a:rPr>
              <a:t>부하</a:t>
            </a:r>
            <a:r>
              <a:rPr lang="en-US" altLang="ko-KR" b="1" u="sng" dirty="0">
                <a:highlight>
                  <a:srgbClr val="FFFF00"/>
                </a:highlight>
              </a:rPr>
              <a:t>#, </a:t>
            </a:r>
            <a:r>
              <a:rPr lang="ko-KR" altLang="en-US" b="1" u="sng" dirty="0">
                <a:highlight>
                  <a:srgbClr val="FFFF00"/>
                </a:highlight>
              </a:rPr>
              <a:t>이벤트</a:t>
            </a:r>
            <a:r>
              <a:rPr lang="en-US" altLang="ko-KR" b="1" u="sng" dirty="0">
                <a:highlight>
                  <a:srgbClr val="FFFF00"/>
                </a:highlight>
              </a:rPr>
              <a:t>#)</a:t>
            </a:r>
          </a:p>
          <a:p>
            <a:endParaRPr lang="en-US" altLang="ko-KR" b="1" u="sng" dirty="0">
              <a:highlight>
                <a:srgbClr val="FFFF00"/>
              </a:highlight>
            </a:endParaRPr>
          </a:p>
          <a:p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ko-KR" altLang="en-US" b="1" u="sng" dirty="0"/>
              <a:t>각 사이클에서 추출한 </a:t>
            </a:r>
            <a:r>
              <a:rPr lang="en-US" altLang="ko-KR" b="1" u="sng" dirty="0"/>
              <a:t>8</a:t>
            </a:r>
            <a:r>
              <a:rPr lang="ko-KR" altLang="en-US" b="1" u="sng" dirty="0" err="1"/>
              <a:t>개셀</a:t>
            </a:r>
            <a:r>
              <a:rPr lang="en-US" altLang="ko-KR" b="1" u="sng" dirty="0"/>
              <a:t>, DC </a:t>
            </a:r>
            <a:r>
              <a:rPr lang="ko-KR" altLang="en-US" b="1" u="sng" dirty="0"/>
              <a:t>의 평균값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5952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D287-D66E-F6FD-A570-9882F021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D87AB8-DF3D-7163-84DD-E5F52E0DB4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CC3E7F0-8791-8D14-75A5-DB9AB51CA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5F3901-A2B3-C698-DB1E-5EA5E0851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(Rchg_3sec)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ACE011-91E5-6504-02FA-442EBA0234E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DFE3F79-6537-494B-858F-B8F5F74D5BD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40F3C0-2A37-E8A4-9F75-7A632D0B500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2613939"/>
            <a:ext cx="682604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C2C6830-07D1-677F-A64F-2E9922544B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05999" y="2613939"/>
            <a:ext cx="584397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0544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1856-F402-8FF9-DD79-B2DD05E9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0EC5E1-B2AB-C8DF-4B81-2880EF6020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427CEBB-B903-2056-9FFD-4DA281AB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1C21A2-415D-65D1-2ADD-E9B684C92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(Rchg_5sec)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EDD9A2-24EC-475B-5B78-7283A7D3CF1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531601-91B5-127F-53A8-9E10E6CC120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128059-6871-79B3-94F0-3FB059019D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1C78997-2432-C9E3-22EB-6FDCA7237C3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46387" y="2613939"/>
            <a:ext cx="5803583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558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7F700-E07C-1EA3-E04A-5A21CC43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650C9B-1D80-1F42-241F-9E535047A1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508C818-2ECA-E2F8-8A8D-8488F5D8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2CE474-39A2-2427-2386-4E99612E1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(Rchg_10sec)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081579-3257-BE9D-B0C6-EEC102D18E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B092120-96BD-3032-BBB3-B19E6A28741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BB67AF-3A74-BFC5-06AC-5585B0FC7C3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082FA9-C0E4-36D7-C7BC-EBD4B5A568D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1596" y="2613939"/>
            <a:ext cx="5798374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0585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95F0-C55C-7DED-4277-4225B1BDD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805379-718B-7DBA-D922-4A0E2A24AA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8AF54B9-13BB-A16C-AE56-DDFC4CB8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26603A-7E8D-87A7-A9F5-6634749CF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(Rchg_30sec)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A5BC0D-9831-2E10-CD3F-B0AFE8D0512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663FD0-910A-8792-4F4F-09ED5EB197C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8F80378-DC0D-73BF-2659-5C92DC6F02E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19575A-7492-08C1-FA7C-5B29952042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1596" y="2613939"/>
            <a:ext cx="5798374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8300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6B42-26FF-07F7-1BEE-978C90A9E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FE54B2-0BF5-6FD8-9F05-A107BA2BE0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9B4FA9D-5C69-C458-2A4C-23EED3C8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A3FCF9-28BC-0CC7-C8B3-7C4BB491E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(Rchg_60sec)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D83F7E-BE19-E137-A67B-E3A62134576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7423D6B-95B1-C02B-0FB3-585F72C437B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6E8844-DC4D-EBB0-25EE-3D79B3E10C0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8D39A7-50FA-905B-A5DF-0A07B717E01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1596" y="2613939"/>
            <a:ext cx="5798374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99402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C3CADC-CAFD-4A83-6E16-61C9AA9FF8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92A690D-5999-6C5F-392C-BCEDEACC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3BE51-FCD5-9A97-2B39-D5C0771CD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(Rchg_1/3/5/10/30/60sec)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4F13A3-0F5B-7A77-30C3-4898B116C2D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A9D88B-287F-BA8C-454C-C7FAB83064C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6B61A8-8FE7-6C82-394B-50E9E4C4D5B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87888" y="4580156"/>
            <a:ext cx="3475149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4E42E7-8B4F-239F-CD44-49CF1379E4E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44830" y="1499968"/>
            <a:ext cx="3475150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E59498-9A85-9553-C8A7-71B7AA7194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1499968"/>
            <a:ext cx="3475150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18756B5-B86D-42F7-0B9E-2C04058380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85937" y="1499968"/>
            <a:ext cx="3479054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542689-A7F2-069D-2952-5BF43A7B043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4580156"/>
            <a:ext cx="3475150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C0DA9EC-F3EE-BFF9-01B8-0730173185A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64425" y="4580156"/>
            <a:ext cx="3435956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4068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B960-BE81-4EEB-4E2E-B003D00A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4484CB-AE3E-2C05-216A-21D03B1E42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84FFBE3-2A56-0C9B-F598-1E6232DD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D900B4-DA7C-CFB0-C236-A1EDE253E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3-2. </a:t>
            </a:r>
            <a:r>
              <a:rPr lang="ko-KR" altLang="en-US" dirty="0">
                <a:solidFill>
                  <a:schemeClr val="tx1"/>
                </a:solidFill>
              </a:rPr>
              <a:t>용량과의 상관관계 결과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EEAC63-292F-C41D-6C56-3EB391DACD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sz="1470" b="1" dirty="0">
                <a:solidFill>
                  <a:schemeClr val="tx1"/>
                </a:solidFill>
              </a:rPr>
              <a:t>랩데이터 결과 요약</a:t>
            </a:r>
            <a:endParaRPr lang="en-US" altLang="ko-KR" sz="1470" b="1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en-US" altLang="ko-KR" sz="1470" dirty="0">
                <a:solidFill>
                  <a:schemeClr val="tx1"/>
                </a:solidFill>
              </a:rPr>
              <a:t>Capacity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</a:t>
            </a:r>
            <a:r>
              <a:rPr lang="ko-KR" altLang="en-US" sz="1470" dirty="0">
                <a:solidFill>
                  <a:schemeClr val="tx1"/>
                </a:solidFill>
              </a:rPr>
              <a:t>상관관계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이상치 제거 후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</a:rPr>
              <a:t>Pearson</a:t>
            </a:r>
            <a:r>
              <a:rPr lang="ko-KR" altLang="en-US" sz="1470" dirty="0">
                <a:solidFill>
                  <a:schemeClr val="tx1"/>
                </a:solidFill>
              </a:rPr>
              <a:t> 상관계수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R = -0.42 ~-0.21 (</a:t>
            </a:r>
            <a:r>
              <a:rPr lang="ko-KR" altLang="en-US" sz="1470" dirty="0">
                <a:solidFill>
                  <a:schemeClr val="tx1"/>
                </a:solidFill>
              </a:rPr>
              <a:t>약한 음의 상관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R</a:t>
            </a:r>
            <a:r>
              <a:rPr lang="en-US" altLang="ko-KR" sz="1470" baseline="30000" dirty="0">
                <a:solidFill>
                  <a:schemeClr val="tx1"/>
                </a:solidFill>
              </a:rPr>
              <a:t>2</a:t>
            </a:r>
            <a:r>
              <a:rPr lang="en-US" altLang="ko-KR" sz="1470" dirty="0">
                <a:solidFill>
                  <a:schemeClr val="tx1"/>
                </a:solidFill>
              </a:rPr>
              <a:t> = 4.5% ~17.6% (</a:t>
            </a:r>
            <a:r>
              <a:rPr lang="ko-KR" altLang="en-US" sz="1470" dirty="0">
                <a:solidFill>
                  <a:schemeClr val="tx1"/>
                </a:solidFill>
              </a:rPr>
              <a:t>설명력 낮음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모두 통계적으로 유의 </a:t>
            </a:r>
            <a:r>
              <a:rPr lang="en-US" altLang="ko-KR" sz="1470" dirty="0">
                <a:solidFill>
                  <a:schemeClr val="tx1"/>
                </a:solidFill>
              </a:rPr>
              <a:t>(p-value &lt; 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ko-KR" altLang="en-US" sz="1470" dirty="0">
                <a:solidFill>
                  <a:schemeClr val="tx1"/>
                </a:solidFill>
              </a:rPr>
              <a:t>간 상관관계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ko-KR" altLang="en-US" sz="1470" dirty="0">
                <a:solidFill>
                  <a:schemeClr val="tx1"/>
                </a:solidFill>
              </a:rPr>
              <a:t>간 상관계수</a:t>
            </a:r>
            <a:r>
              <a:rPr lang="en-US" altLang="ko-KR" sz="1470" dirty="0">
                <a:solidFill>
                  <a:schemeClr val="tx1"/>
                </a:solidFill>
              </a:rPr>
              <a:t>: 0.94 ~0.98 (</a:t>
            </a:r>
            <a:r>
              <a:rPr lang="ko-KR" altLang="en-US" sz="1470" dirty="0">
                <a:solidFill>
                  <a:schemeClr val="tx1"/>
                </a:solidFill>
              </a:rPr>
              <a:t>매우 강함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같은 이벤트에서 측정된 값들이므로 예상된 결과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모두 통계적으로 유의 </a:t>
            </a:r>
            <a:r>
              <a:rPr lang="en-US" altLang="ko-KR" sz="1470" dirty="0">
                <a:solidFill>
                  <a:schemeClr val="tx1"/>
                </a:solidFill>
              </a:rPr>
              <a:t>(p-value &lt; 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</a:rPr>
              <a:t>결론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통계적 유의성</a:t>
            </a:r>
            <a:r>
              <a:rPr lang="en-US" altLang="ko-KR" sz="1470" dirty="0">
                <a:solidFill>
                  <a:schemeClr val="tx1"/>
                </a:solidFill>
              </a:rPr>
              <a:t>: </a:t>
            </a:r>
            <a:r>
              <a:rPr lang="ko-KR" altLang="en-US" sz="1470" dirty="0">
                <a:solidFill>
                  <a:schemeClr val="tx1"/>
                </a:solidFill>
              </a:rPr>
              <a:t>모든 </a:t>
            </a:r>
            <a:r>
              <a:rPr lang="en-US" altLang="ko-KR" sz="1470" dirty="0" err="1">
                <a:solidFill>
                  <a:schemeClr val="tx1"/>
                </a:solidFill>
              </a:rPr>
              <a:t>Cpacity</a:t>
            </a:r>
            <a:r>
              <a:rPr lang="en-US" altLang="ko-KR" sz="1470" dirty="0">
                <a:solidFill>
                  <a:schemeClr val="tx1"/>
                </a:solidFill>
              </a:rPr>
              <a:t>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</a:t>
            </a:r>
            <a:r>
              <a:rPr lang="ko-KR" altLang="en-US" sz="1470" dirty="0">
                <a:solidFill>
                  <a:schemeClr val="tx1"/>
                </a:solidFill>
              </a:rPr>
              <a:t>상관관계가 유의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설명력</a:t>
            </a:r>
            <a:r>
              <a:rPr lang="en-US" altLang="ko-KR" sz="1470" dirty="0">
                <a:solidFill>
                  <a:schemeClr val="tx1"/>
                </a:solidFill>
              </a:rPr>
              <a:t>: R</a:t>
            </a:r>
            <a:r>
              <a:rPr lang="en-US" altLang="ko-KR" sz="1470" baseline="30000" dirty="0">
                <a:solidFill>
                  <a:schemeClr val="tx1"/>
                </a:solidFill>
              </a:rPr>
              <a:t>2 </a:t>
            </a:r>
            <a:r>
              <a:rPr lang="ko-KR" altLang="en-US" sz="1470" dirty="0">
                <a:solidFill>
                  <a:schemeClr val="tx1"/>
                </a:solidFill>
              </a:rPr>
              <a:t>가 낮아 용량만으로 저항을 예측하기에 어려움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시간구간</a:t>
            </a:r>
            <a:r>
              <a:rPr lang="en-US" altLang="ko-KR" sz="1470" dirty="0">
                <a:solidFill>
                  <a:schemeClr val="tx1"/>
                </a:solidFill>
              </a:rPr>
              <a:t>: Rchg_1sec</a:t>
            </a:r>
            <a:r>
              <a:rPr lang="ko-KR" altLang="en-US" sz="1470" dirty="0">
                <a:solidFill>
                  <a:schemeClr val="tx1"/>
                </a:solidFill>
              </a:rPr>
              <a:t> 가 용량과 가장 높은 상관관계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lvl="1" indent="0">
              <a:buSzPct val="100000"/>
              <a:buNone/>
            </a:pPr>
            <a:endParaRPr lang="ko-KR" altLang="en-US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ko-KR" altLang="en-US" sz="1470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65704CD-CA50-2ABE-0AA5-B5053639AA5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DBA3E5-7F0C-C7F0-A48B-BF7DB2D53B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55158" y="1499968"/>
            <a:ext cx="6565400" cy="577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C54004-DD46-FECB-9495-27C495F19972}"/>
              </a:ext>
            </a:extLst>
          </p:cNvPr>
          <p:cNvSpPr txBox="1"/>
          <p:nvPr/>
        </p:nvSpPr>
        <p:spPr>
          <a:xfrm>
            <a:off x="4444904" y="1035720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(**3)</a:t>
            </a:r>
          </a:p>
          <a:p>
            <a:r>
              <a:rPr lang="en-US" altLang="ko-KR" b="1" u="sng" dirty="0">
                <a:highlight>
                  <a:srgbClr val="FFFF00"/>
                </a:highlight>
              </a:rPr>
              <a:t>X(</a:t>
            </a:r>
            <a:r>
              <a:rPr lang="ko-KR" altLang="en-US" b="1" u="sng" dirty="0">
                <a:highlight>
                  <a:srgbClr val="FFFF00"/>
                </a:highlight>
              </a:rPr>
              <a:t>실부하</a:t>
            </a:r>
            <a:r>
              <a:rPr lang="en-US" altLang="ko-KR" b="1" u="sng" dirty="0">
                <a:highlight>
                  <a:srgbClr val="FFFF00"/>
                </a:highlight>
              </a:rPr>
              <a:t>) 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  Y(RPT) </a:t>
            </a: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여러가지 조합이 있음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현재까지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개 조합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(filtering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 최적화는 남은 부분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방향성을 부정하는 것은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섣부른것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 판단임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82787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CD51-411F-5A54-444A-9BADE439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C80E9D-9638-0C40-8241-800DA7A9A9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9742D0C-BE66-BD45-AB31-40D5499D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920B35-10C8-A6C7-F271-D0810C179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4-1. </a:t>
            </a:r>
            <a:r>
              <a:rPr lang="ko-KR" altLang="en-US" dirty="0">
                <a:solidFill>
                  <a:schemeClr val="tx1"/>
                </a:solidFill>
              </a:rPr>
              <a:t>진단용 유효 이벤트 정의 및 검출 로직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A2A089-244A-ADF9-C5FC-D74EA89E6B5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27" dirty="0">
                <a:solidFill>
                  <a:schemeClr val="tx1"/>
                </a:solidFill>
              </a:rPr>
              <a:t>랩데이터와는 다른 필터링 적용</a:t>
            </a:r>
            <a:endParaRPr lang="en-US" altLang="ko-KR" sz="1727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964F2D0-AF0A-3A70-12F3-5E18EA9D190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7F5FFCF-0D7B-7546-272D-BC92EE66CDBA}"/>
              </a:ext>
            </a:extLst>
          </p:cNvPr>
          <p:cNvGraphicFramePr>
            <a:graphicFrameLocks noGrp="1"/>
          </p:cNvGraphicFramePr>
          <p:nvPr/>
        </p:nvGraphicFramePr>
        <p:xfrm>
          <a:off x="141188" y="2140039"/>
          <a:ext cx="6590942" cy="4383712"/>
        </p:xfrm>
        <a:graphic>
          <a:graphicData uri="http://schemas.openxmlformats.org/drawingml/2006/table">
            <a:tbl>
              <a:tblPr/>
              <a:tblGrid>
                <a:gridCol w="2531085">
                  <a:extLst>
                    <a:ext uri="{9D8B030D-6E8A-4147-A177-3AD203B41FA5}">
                      <a16:colId xmlns:a16="http://schemas.microsoft.com/office/drawing/2014/main" val="1452304429"/>
                    </a:ext>
                  </a:extLst>
                </a:gridCol>
                <a:gridCol w="1433538">
                  <a:extLst>
                    <a:ext uri="{9D8B030D-6E8A-4147-A177-3AD203B41FA5}">
                      <a16:colId xmlns:a16="http://schemas.microsoft.com/office/drawing/2014/main" val="2676045341"/>
                    </a:ext>
                  </a:extLst>
                </a:gridCol>
                <a:gridCol w="2626319">
                  <a:extLst>
                    <a:ext uri="{9D8B030D-6E8A-4147-A177-3AD203B41FA5}">
                      <a16:colId xmlns:a16="http://schemas.microsoft.com/office/drawing/2014/main" val="4171010195"/>
                    </a:ext>
                  </a:extLst>
                </a:gridCol>
              </a:tblGrid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파라미터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값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222376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idle_thr_cell</a:t>
                      </a:r>
                      <a:endParaRPr lang="en-US" sz="1200" dirty="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1.28A (64×0.02)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휴지 상태 전류 임계값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195792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min_duration_sec</a:t>
                      </a:r>
                      <a:endParaRPr lang="en-US" sz="1200" dirty="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30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이벤트 최소 지속 시간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703344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min_idle_duration_sec</a:t>
                      </a:r>
                      <a:endParaRPr lang="en-US" sz="1200" dirty="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60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이벤트 시작 전 최소 휴지 구간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13235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smoothing_method</a:t>
                      </a:r>
                      <a:endParaRPr lang="en-US" sz="120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'</a:t>
                      </a:r>
                      <a:r>
                        <a:rPr lang="en-US" sz="1200" dirty="0" err="1">
                          <a:effectLst/>
                        </a:rPr>
                        <a:t>movmean</a:t>
                      </a:r>
                      <a:r>
                        <a:rPr lang="en-US" sz="1200" dirty="0">
                          <a:effectLst/>
                        </a:rPr>
                        <a:t>' 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필터링 방법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559780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movmean_window</a:t>
                      </a:r>
                      <a:endParaRPr lang="en-US" sz="120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이동평균 윈도우 크기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302560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min_event_duration_sec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60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 이벤트 지속 시간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24752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min_delta_I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6.4A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 전류 변화량 </a:t>
                      </a:r>
                      <a:r>
                        <a:rPr lang="en-US" altLang="ko-KR" sz="1200">
                          <a:effectLst/>
                        </a:rPr>
                        <a:t>(64A × 0.10)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091845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current_variation_threshold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2.0%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변동률 임계값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64683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min_events_per_year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1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각 연도별 최소 이벤트 수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199850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voltage_bin_size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0.01V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전압 </a:t>
                      </a:r>
                      <a:r>
                        <a:rPr lang="en-US" sz="1200" dirty="0">
                          <a:effectLst/>
                        </a:rPr>
                        <a:t>bin </a:t>
                      </a:r>
                      <a:r>
                        <a:rPr lang="ko-KR" altLang="en-US" sz="1200" dirty="0">
                          <a:effectLst/>
                        </a:rPr>
                        <a:t>크기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42494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current_bin_size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2A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</a:t>
                      </a:r>
                      <a:r>
                        <a:rPr lang="en-US" sz="1200" dirty="0">
                          <a:effectLst/>
                        </a:rPr>
                        <a:t>bin </a:t>
                      </a:r>
                      <a:r>
                        <a:rPr lang="ko-KR" altLang="en-US" sz="1200" dirty="0">
                          <a:effectLst/>
                        </a:rPr>
                        <a:t>크기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0807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current_deviation_threshold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2.0A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그룹 평균 전류에서 허용 편차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0442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97E2028-D165-90B6-047E-FC3A9897993C}"/>
              </a:ext>
            </a:extLst>
          </p:cNvPr>
          <p:cNvGraphicFramePr>
            <a:graphicFrameLocks noGrp="1"/>
          </p:cNvGraphicFramePr>
          <p:nvPr/>
        </p:nvGraphicFramePr>
        <p:xfrm>
          <a:off x="6820680" y="389929"/>
          <a:ext cx="6618916" cy="2642760"/>
        </p:xfrm>
        <a:graphic>
          <a:graphicData uri="http://schemas.openxmlformats.org/drawingml/2006/table">
            <a:tbl>
              <a:tblPr/>
              <a:tblGrid>
                <a:gridCol w="739171">
                  <a:extLst>
                    <a:ext uri="{9D8B030D-6E8A-4147-A177-3AD203B41FA5}">
                      <a16:colId xmlns:a16="http://schemas.microsoft.com/office/drawing/2014/main" val="3804923386"/>
                    </a:ext>
                  </a:extLst>
                </a:gridCol>
                <a:gridCol w="1657529">
                  <a:extLst>
                    <a:ext uri="{9D8B030D-6E8A-4147-A177-3AD203B41FA5}">
                      <a16:colId xmlns:a16="http://schemas.microsoft.com/office/drawing/2014/main" val="3609349883"/>
                    </a:ext>
                  </a:extLst>
                </a:gridCol>
                <a:gridCol w="4222216">
                  <a:extLst>
                    <a:ext uri="{9D8B030D-6E8A-4147-A177-3AD203B41FA5}">
                      <a16:colId xmlns:a16="http://schemas.microsoft.com/office/drawing/2014/main" val="1604004878"/>
                    </a:ext>
                  </a:extLst>
                </a:gridCol>
              </a:tblGrid>
              <a:tr h="289953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1. </a:t>
                      </a:r>
                      <a:r>
                        <a:rPr lang="ko-KR" altLang="en-US" sz="1200" b="1" dirty="0">
                          <a:effectLst/>
                        </a:rPr>
                        <a:t>이벤트 검출 조건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81640" marR="81640" marT="37680" marB="376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81640" marR="81640" marT="37680" marB="376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166974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조건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693750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1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데이터  </a:t>
                      </a:r>
                      <a:r>
                        <a:rPr lang="en-US" altLang="ko-KR" sz="1200" dirty="0">
                          <a:effectLst/>
                        </a:rPr>
                        <a:t>smoothing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이동평균 적용</a:t>
                      </a:r>
                      <a:r>
                        <a:rPr lang="en-US" altLang="ko-KR" sz="1200" dirty="0">
                          <a:effectLst/>
                        </a:rPr>
                        <a:t>, window=5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72220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2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휴지 상태 벗어남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\|I\| &gt;= idle_thr</a:t>
                      </a:r>
                      <a:r>
                        <a:rPr lang="en-US" sz="1200">
                          <a:effectLst/>
                        </a:rPr>
                        <a:t> (1.28A)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285449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3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휴지 구간 확인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이벤트 시작 전 휴지 구간 ≥ </a:t>
                      </a:r>
                      <a:r>
                        <a:rPr lang="en-US" altLang="ko-KR" sz="1200" dirty="0">
                          <a:effectLst/>
                        </a:rPr>
                        <a:t>60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763958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4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이벤트 타입 결정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sign(I)</a:t>
                      </a:r>
                      <a:r>
                        <a:rPr lang="en-US" sz="1200" dirty="0">
                          <a:effectLst/>
                        </a:rPr>
                        <a:t> → charge(1) </a:t>
                      </a:r>
                      <a:r>
                        <a:rPr lang="ko-KR" altLang="en-US" sz="1200" dirty="0">
                          <a:effectLst/>
                        </a:rPr>
                        <a:t>또는 </a:t>
                      </a:r>
                      <a:r>
                        <a:rPr lang="en-US" sz="1200" dirty="0">
                          <a:effectLst/>
                        </a:rPr>
                        <a:t>discharge(-1)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79685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이벤트 종료 조건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동일 부호 유지</a:t>
                      </a:r>
                      <a:r>
                        <a:rPr lang="en-US" altLang="ko-KR" sz="1200" dirty="0">
                          <a:effectLst/>
                        </a:rPr>
                        <a:t>, </a:t>
                      </a:r>
                      <a:r>
                        <a:rPr lang="en-US" altLang="ko-KR" sz="1200" dirty="0">
                          <a:effectLst/>
                          <a:latin typeface="Consolas" panose="020B0609020204030204" pitchFamily="49" charset="0"/>
                        </a:rPr>
                        <a:t>\|I\| &gt;= </a:t>
                      </a:r>
                      <a:r>
                        <a:rPr lang="en-US" altLang="ko-KR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867171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6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 지속 시간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event_duration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&gt;= 30</a:t>
                      </a:r>
                      <a:r>
                        <a:rPr lang="ko-KR" altLang="en-US" sz="1200" dirty="0">
                          <a:effectLst/>
                          <a:latin typeface="Consolas" panose="020B0609020204030204" pitchFamily="49" charset="0"/>
                        </a:rPr>
                        <a:t>초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119158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7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최대 전류 확인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max(\|I\|) &gt;= 6.4A</a:t>
                      </a:r>
                      <a:endParaRPr 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3187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C5E0130-7884-4165-3439-E940FCCAF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056948"/>
              </p:ext>
            </p:extLst>
          </p:nvPr>
        </p:nvGraphicFramePr>
        <p:xfrm>
          <a:off x="81374" y="6644866"/>
          <a:ext cx="6404796" cy="1052616"/>
        </p:xfrm>
        <a:graphic>
          <a:graphicData uri="http://schemas.openxmlformats.org/drawingml/2006/table">
            <a:tbl>
              <a:tblPr/>
              <a:tblGrid>
                <a:gridCol w="2134932">
                  <a:extLst>
                    <a:ext uri="{9D8B030D-6E8A-4147-A177-3AD203B41FA5}">
                      <a16:colId xmlns:a16="http://schemas.microsoft.com/office/drawing/2014/main" val="3317613629"/>
                    </a:ext>
                  </a:extLst>
                </a:gridCol>
                <a:gridCol w="2134932">
                  <a:extLst>
                    <a:ext uri="{9D8B030D-6E8A-4147-A177-3AD203B41FA5}">
                      <a16:colId xmlns:a16="http://schemas.microsoft.com/office/drawing/2014/main" val="471269734"/>
                    </a:ext>
                  </a:extLst>
                </a:gridCol>
                <a:gridCol w="2134932">
                  <a:extLst>
                    <a:ext uri="{9D8B030D-6E8A-4147-A177-3AD203B41FA5}">
                      <a16:colId xmlns:a16="http://schemas.microsoft.com/office/drawing/2014/main" val="3127511412"/>
                    </a:ext>
                  </a:extLst>
                </a:gridCol>
              </a:tblGrid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이벤트 타입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계속 조건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종료 조건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904047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충전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sz="1200" dirty="0">
                          <a:effectLst/>
                        </a:rPr>
                        <a:t>charge)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I(j) &gt;= 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I(j) &lt; idle_thr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301645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방전 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en-US" sz="1200">
                          <a:effectLst/>
                        </a:rPr>
                        <a:t>discharge)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I(j) &lt;= -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I(j) &gt; -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2537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B93C968-CD72-B828-2384-56EFA16A44E5}"/>
              </a:ext>
            </a:extLst>
          </p:cNvPr>
          <p:cNvGraphicFramePr>
            <a:graphicFrameLocks noGrp="1"/>
          </p:cNvGraphicFramePr>
          <p:nvPr/>
        </p:nvGraphicFramePr>
        <p:xfrm>
          <a:off x="6845171" y="3154394"/>
          <a:ext cx="6590945" cy="2514870"/>
        </p:xfrm>
        <a:graphic>
          <a:graphicData uri="http://schemas.openxmlformats.org/drawingml/2006/table">
            <a:tbl>
              <a:tblPr/>
              <a:tblGrid>
                <a:gridCol w="724230">
                  <a:extLst>
                    <a:ext uri="{9D8B030D-6E8A-4147-A177-3AD203B41FA5}">
                      <a16:colId xmlns:a16="http://schemas.microsoft.com/office/drawing/2014/main" val="1791531280"/>
                    </a:ext>
                  </a:extLst>
                </a:gridCol>
                <a:gridCol w="1642596">
                  <a:extLst>
                    <a:ext uri="{9D8B030D-6E8A-4147-A177-3AD203B41FA5}">
                      <a16:colId xmlns:a16="http://schemas.microsoft.com/office/drawing/2014/main" val="2689699648"/>
                    </a:ext>
                  </a:extLst>
                </a:gridCol>
                <a:gridCol w="1664995">
                  <a:extLst>
                    <a:ext uri="{9D8B030D-6E8A-4147-A177-3AD203B41FA5}">
                      <a16:colId xmlns:a16="http://schemas.microsoft.com/office/drawing/2014/main" val="1701260314"/>
                    </a:ext>
                  </a:extLst>
                </a:gridCol>
                <a:gridCol w="2559124">
                  <a:extLst>
                    <a:ext uri="{9D8B030D-6E8A-4147-A177-3AD203B41FA5}">
                      <a16:colId xmlns:a16="http://schemas.microsoft.com/office/drawing/2014/main" val="2984741891"/>
                    </a:ext>
                  </a:extLst>
                </a:gridCol>
              </a:tblGrid>
              <a:tr h="255423">
                <a:tc grid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2. </a:t>
                      </a:r>
                      <a:r>
                        <a:rPr lang="ko-KR" altLang="en-US" sz="1200" b="1" dirty="0">
                          <a:effectLst/>
                        </a:rPr>
                        <a:t>이벤트 검출 후 필터링 조건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56189" marR="56189" marT="25933" marB="25933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56189" marR="56189" marT="25933" marB="25933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56189" marR="56189" marT="25933" marB="25933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142810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필터 조건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실패 시 통계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상세 설명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98775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1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전압 데이터 존재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no_voltage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voltage_seq_cell_V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ko-KR" altLang="en-US" sz="1200" dirty="0">
                          <a:effectLst/>
                        </a:rPr>
                        <a:t>필드 확인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322292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2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데이터 존재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no_current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current_seq_cell_A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</a:rPr>
                        <a:t>필드 확인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245997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3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 데이터 포인트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length_too_short</a:t>
                      </a:r>
                      <a:endParaRPr lang="en-US" sz="1200" dirty="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length(current_seq) &gt;= 6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47166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4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delta_I </a:t>
                      </a:r>
                      <a:r>
                        <a:rPr lang="ko-KR" altLang="en-US" sz="1200">
                          <a:effectLst/>
                        </a:rPr>
                        <a:t>검사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delta_I_too_small</a:t>
                      </a:r>
                      <a:endParaRPr lang="en-US" sz="1200" dirty="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I(5) - I(1) &gt;= 6.4A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962137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이벤트 지속 시간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length_too_short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event_duration &gt;= 60</a:t>
                      </a:r>
                      <a:r>
                        <a:rPr lang="ko-KR" altLang="en-US" sz="1200">
                          <a:effectLst/>
                          <a:latin typeface="Consolas" panose="020B0609020204030204" pitchFamily="49" charset="0"/>
                        </a:rPr>
                        <a:t>초</a:t>
                      </a:r>
                      <a:endParaRPr lang="ko-KR" alt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34295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6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 변동성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current_variation</a:t>
                      </a:r>
                      <a:endParaRPr lang="en-US" sz="1200" dirty="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10</a:t>
                      </a:r>
                      <a:r>
                        <a:rPr lang="ko-KR" altLang="en-US" sz="1200">
                          <a:effectLst/>
                        </a:rPr>
                        <a:t>초</a:t>
                      </a:r>
                      <a:r>
                        <a:rPr lang="en-US" altLang="ko-KR" sz="1200">
                          <a:effectLst/>
                        </a:rPr>
                        <a:t>~end-5</a:t>
                      </a:r>
                      <a:r>
                        <a:rPr lang="ko-KR" altLang="en-US" sz="1200">
                          <a:effectLst/>
                        </a:rPr>
                        <a:t>초 구간 변동률 ≤ </a:t>
                      </a:r>
                      <a:r>
                        <a:rPr lang="en-US" altLang="ko-KR" sz="1200">
                          <a:effectLst/>
                        </a:rPr>
                        <a:t>2%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41254"/>
                  </a:ext>
                </a:extLst>
              </a:tr>
              <a:tr h="4346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7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부호 검사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wrong_current_sign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충전</a:t>
                      </a:r>
                      <a:r>
                        <a:rPr lang="en-US" altLang="ko-KR" sz="1200" dirty="0">
                          <a:effectLst/>
                        </a:rPr>
                        <a:t>: </a:t>
                      </a:r>
                      <a:r>
                        <a:rPr lang="ko-KR" altLang="en-US" sz="1200" dirty="0">
                          <a:effectLst/>
                        </a:rPr>
                        <a:t>첫 인덱스 이후 모두 양수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방전</a:t>
                      </a:r>
                      <a:r>
                        <a:rPr lang="en-US" altLang="ko-KR" sz="1200" dirty="0">
                          <a:effectLst/>
                        </a:rPr>
                        <a:t>: </a:t>
                      </a:r>
                      <a:r>
                        <a:rPr lang="ko-KR" altLang="en-US" sz="1200" dirty="0">
                          <a:effectLst/>
                        </a:rPr>
                        <a:t>첫 인덱스 이후 모두 음수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66090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694AAAF-4E06-8A0E-469D-4429E0CACB94}"/>
              </a:ext>
            </a:extLst>
          </p:cNvPr>
          <p:cNvGraphicFramePr>
            <a:graphicFrameLocks noGrp="1"/>
          </p:cNvGraphicFramePr>
          <p:nvPr/>
        </p:nvGraphicFramePr>
        <p:xfrm>
          <a:off x="6845170" y="5870521"/>
          <a:ext cx="6537719" cy="1403488"/>
        </p:xfrm>
        <a:graphic>
          <a:graphicData uri="http://schemas.openxmlformats.org/drawingml/2006/table">
            <a:tbl>
              <a:tblPr/>
              <a:tblGrid>
                <a:gridCol w="1207459">
                  <a:extLst>
                    <a:ext uri="{9D8B030D-6E8A-4147-A177-3AD203B41FA5}">
                      <a16:colId xmlns:a16="http://schemas.microsoft.com/office/drawing/2014/main" val="1767020075"/>
                    </a:ext>
                  </a:extLst>
                </a:gridCol>
                <a:gridCol w="1411139">
                  <a:extLst>
                    <a:ext uri="{9D8B030D-6E8A-4147-A177-3AD203B41FA5}">
                      <a16:colId xmlns:a16="http://schemas.microsoft.com/office/drawing/2014/main" val="1692852077"/>
                    </a:ext>
                  </a:extLst>
                </a:gridCol>
                <a:gridCol w="1299144">
                  <a:extLst>
                    <a:ext uri="{9D8B030D-6E8A-4147-A177-3AD203B41FA5}">
                      <a16:colId xmlns:a16="http://schemas.microsoft.com/office/drawing/2014/main" val="3999162174"/>
                    </a:ext>
                  </a:extLst>
                </a:gridCol>
                <a:gridCol w="2619977">
                  <a:extLst>
                    <a:ext uri="{9D8B030D-6E8A-4147-A177-3AD203B41FA5}">
                      <a16:colId xmlns:a16="http://schemas.microsoft.com/office/drawing/2014/main" val="486612216"/>
                    </a:ext>
                  </a:extLst>
                </a:gridCol>
              </a:tblGrid>
              <a:tr h="347185">
                <a:tc grid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그룹화 로직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92312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항목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>
                          <a:effectLst/>
                        </a:rPr>
                        <a:t>기준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bin </a:t>
                      </a:r>
                      <a:r>
                        <a:rPr lang="ko-KR" altLang="en-US" sz="1200" b="1" dirty="0">
                          <a:effectLst/>
                        </a:rPr>
                        <a:t>크기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 방법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08997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시작 전압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0.01V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floor(V(1) / 0.01) × 0.01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429543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평균 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2A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floor(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avg_current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/ 2) × 2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191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287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4BFF-C993-440C-01D0-D4DCDB99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0036FB-2FBF-438F-0E7A-00566D3380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663369-B523-7C70-6C0A-5785DE87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D762D1-68D6-BE7C-F853-7899D44ED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4-1. </a:t>
            </a:r>
            <a:r>
              <a:rPr lang="ko-KR" altLang="en-US" dirty="0">
                <a:solidFill>
                  <a:schemeClr val="tx1"/>
                </a:solidFill>
              </a:rPr>
              <a:t>진단용 유효 이벤트 정의 및 검출 로직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F32396-EDB2-FBD6-A41C-E0EB92EC612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64" dirty="0">
                <a:solidFill>
                  <a:schemeClr val="tx1"/>
                </a:solidFill>
                <a:latin typeface="+mn-ea"/>
                <a:ea typeface="+mn-ea"/>
              </a:rPr>
              <a:t>로직 적용시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ko-KR" altLang="en-US" sz="1764" dirty="0">
                <a:solidFill>
                  <a:schemeClr val="tx1"/>
                </a:solidFill>
                <a:latin typeface="+mn-ea"/>
                <a:ea typeface="+mn-ea"/>
              </a:rPr>
              <a:t>개의 그룹 검출</a:t>
            </a:r>
            <a:endParaRPr lang="en-US" altLang="ko-KR" sz="1764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Group 1)</a:t>
            </a:r>
            <a:r>
              <a:rPr lang="ko-KR" altLang="en-US" sz="1764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3.79V, 12A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Group 2) 3.80V, 12A </a:t>
            </a: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연도별 최소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개의 이벤트</a:t>
            </a:r>
            <a:endParaRPr lang="en-US" altLang="ko-KR" sz="1764" dirty="0">
              <a:solidFill>
                <a:schemeClr val="tx1"/>
              </a:solidFill>
              <a:latin typeface="+mn-ea"/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21,22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년도는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월 데이터만 보유</a:t>
            </a:r>
            <a:endParaRPr lang="en-US" altLang="ko-KR" sz="1764" dirty="0">
              <a:solidFill>
                <a:schemeClr val="tx1"/>
              </a:solidFill>
              <a:latin typeface="+mn-ea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기존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Rack01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데이터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(2021-06/2022-06/2023-06)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와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신규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Rack01 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데이터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(2023-09 ~ 2025-07)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가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동일한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site, 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동일한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Rack01 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데이터인지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확인 </a:t>
            </a:r>
            <a:r>
              <a:rPr lang="ko-KR" altLang="en-US" sz="1764" dirty="0" err="1">
                <a:solidFill>
                  <a:schemeClr val="tx1"/>
                </a:solidFill>
                <a:latin typeface="+mn-ea"/>
              </a:rPr>
              <a:t>요청중</a:t>
            </a:r>
            <a:endParaRPr lang="en-US" altLang="ko-KR" sz="1507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7D915E-C8ED-6243-A621-E84DFDE8004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E67085-5D71-5EAB-EB31-C4F0DC4909C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10109" y="1043102"/>
            <a:ext cx="3939641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943058F-2E25-66E8-5533-0311CAFF6AD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54015" y="1043102"/>
            <a:ext cx="3985550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FA37D6A-22E8-792C-5C04-C4EC4B31AF8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10109" y="4299663"/>
            <a:ext cx="3939641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D3230F9-E08F-4DB7-34E0-2FA761E991D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54015" y="4299663"/>
            <a:ext cx="3985550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6B2B20-CF2A-E002-925D-8DC48B76D281}"/>
              </a:ext>
            </a:extLst>
          </p:cNvPr>
          <p:cNvSpPr/>
          <p:nvPr/>
        </p:nvSpPr>
        <p:spPr>
          <a:xfrm>
            <a:off x="6010044" y="3688658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1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BCFA0D-23ED-3B05-F928-0F1AF7967898}"/>
              </a:ext>
            </a:extLst>
          </p:cNvPr>
          <p:cNvSpPr/>
          <p:nvPr/>
        </p:nvSpPr>
        <p:spPr>
          <a:xfrm>
            <a:off x="6010044" y="7045771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2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74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1B67-2C0F-2266-0ED3-2C1C77CA6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B2FC1DFC-FBBB-3B02-7E36-7088EA978D6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5C23D2-9C00-AB0C-18EC-1FF3190D14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0F6EAE6-42A5-A84D-D249-76DFD2AA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541818-CED1-C801-F818-61B7518D7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(Rchg_1sec)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C6E41E-9065-49F1-D7E4-3C4772E6A70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Rchg_1sec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 0.770 / 0.974 / 0.838 / 0.750 / 0.777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 0.813 / 0.959 / 0.757 / 0.778 / 0.757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5C7182-EAD0-1E7B-9E5D-A2E8140629B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4292" y="7010619"/>
            <a:ext cx="11901367" cy="39856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6039DC7-8B39-031F-2547-5338E6AB614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95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0E59-19A5-B7D8-8F98-11677665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420D8C-AEB7-AF2C-66B0-97D325A7E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92493DD-FEAF-FF23-0324-8B7A67F3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B9CEF7-28CF-4252-CB60-43F27664B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(Rchg_3sec)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3AF8E2-B93B-240C-4D25-F0F1C0B5058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Rchg_3sec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0.747 / 0.794 / 0.771 / 0.770 / 0.758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0.754 / 0.815 / 0.759 / 0.778 / 0.763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ADB7FF3-6F7C-99BC-4137-F9BE3161E33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CFCB0C3-3800-B775-BD99-12EE2C1A516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8991"/>
            <a:ext cx="7936667" cy="26416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5E40278-05C8-B975-6A73-C7282E5C113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638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BFD3-175B-C4A6-24EF-CDB3293F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77E134-EB92-1F3D-AB2E-0B02F94F6D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E98C362-06C6-39AC-D990-2116DE64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46A640-A33F-3760-E14F-E49D682B9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(Rchg_5sec)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B8BB96-777B-A8BE-D52F-7BD9469E77B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Rchg_5sec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0.788 / 0.817 / 0.824 / 0.837 / 0.800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0.793 / 0.830 / 0.839 / 0.831 / 0.826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0E278E-979A-915D-E10F-BAFA270BD16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0A48BFF-6489-3C78-F484-94ACF7FC6AE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8144229-B1F8-F1B7-BD41-D7CA1904C2F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022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7E60-88A2-233F-97DE-27F2020FD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09A3D-EA64-9C7E-B5AF-2E7F4B19F5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4183E32-298C-8346-137C-74C02CB0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63DB6B-8755-69EC-B16C-5A6BD0D5F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(Rchg_10sec)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F1B509-A041-F244-C1F4-0F7A385A171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Rchg_10sec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0.913 / 0.963 / 1.008 / 0.994 / 0.958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0.917 / 0.937 / 1.022 / 0.983 / 0.996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272E49B-EC35-3D24-FF8B-660A234C5C7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861182-2B85-561D-98B5-9CA6E60B4E1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62A0027-0F35-A815-C9C7-B36F498E877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5572"/>
            <a:ext cx="7936667" cy="229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02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3A5-49A7-9784-5684-BD96F863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858DB0-70B3-271A-6BE2-2DFE3052D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1FD99D4-24C0-A189-83FC-5B16F95B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E2BC3D-05C6-BC6A-4C2A-A6A03305E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(Rchg_30sec)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13BAB5-DB20-285A-2FAF-7492BF7803B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Rchg_30sec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1.300 / 1.426 / 1.517 / 1.482 / 1.420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1.278 / 1.429 / 1.526 / 1.464 / 1.465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AC14E7A-C8BC-F769-DFB0-47885E8B66C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76F7AF5-C10B-B00A-B182-C29CBFF61BB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F5DCAF3-7E99-6C1F-FABD-08E18DEE5F6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5572"/>
            <a:ext cx="7936667" cy="229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97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6EEE8-D7AC-A102-3255-7924C027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A947DA-5978-D6F3-CCA1-291A074D4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7336095-A525-DD37-D25A-AE727AE2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7CBBE6-60B9-1726-BCEC-E77B4B968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(Rchg_60sec)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438CB2-FDDA-8B64-E00A-7E93102F9B6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Rchg_60sec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1.712 / 1.873 / 2.000 / 2.017 / 1.957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1.650 / 1.818 / 2.018 / 1.985 / 1.993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22384F4-9F0B-6CDD-CBEA-F0AEB31E856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78E238-92A1-7EB5-B816-CEF09B91029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7A44FFB-AB36-4AA6-B014-5CBCEA04ED4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1EBBA6-506A-AE3F-BCBF-4A50A4FEAF56}"/>
              </a:ext>
            </a:extLst>
          </p:cNvPr>
          <p:cNvSpPr txBox="1"/>
          <p:nvPr/>
        </p:nvSpPr>
        <p:spPr>
          <a:xfrm>
            <a:off x="9370031" y="893852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**4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x</a:t>
            </a:r>
            <a:r>
              <a:rPr lang="ko-KR" altLang="en-US" dirty="0">
                <a:highlight>
                  <a:srgbClr val="FFFF00"/>
                </a:highlight>
              </a:rPr>
              <a:t>축을 </a:t>
            </a:r>
            <a:r>
              <a:rPr lang="en-US" altLang="ko-KR" dirty="0">
                <a:highlight>
                  <a:srgbClr val="FFFF00"/>
                </a:highlight>
              </a:rPr>
              <a:t>SOH</a:t>
            </a:r>
            <a:r>
              <a:rPr lang="ko-KR" altLang="en-US" dirty="0">
                <a:highlight>
                  <a:srgbClr val="FFFF00"/>
                </a:highlight>
              </a:rPr>
              <a:t>로 </a:t>
            </a:r>
          </a:p>
        </p:txBody>
      </p:sp>
    </p:spTree>
    <p:extLst>
      <p:ext uri="{BB962C8B-B14F-4D97-AF65-F5344CB8AC3E}">
        <p14:creationId xmlns:p14="http://schemas.microsoft.com/office/powerpoint/2010/main" val="3188996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EE7174-7783-DD45-335F-F90D548653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C850A52-C6BA-C06B-5C1D-CF8E1F46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E06F09-966B-3C69-BCBA-1856C250F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4-3. SOH</a:t>
            </a:r>
            <a:r>
              <a:rPr lang="ko-KR" altLang="en-US" dirty="0">
                <a:solidFill>
                  <a:schemeClr val="tx1"/>
                </a:solidFill>
              </a:rPr>
              <a:t>와의 상관분석 결과 및 결론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0605AF-8DD4-508E-A765-3E53E00F48D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sz="1470" b="1" dirty="0">
                <a:solidFill>
                  <a:schemeClr val="tx1"/>
                </a:solidFill>
              </a:rPr>
              <a:t>필드데이터 결과 요약</a:t>
            </a:r>
            <a:endParaRPr lang="en-US" altLang="ko-KR" sz="1470" b="1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en-US" altLang="ko-KR" sz="1470" dirty="0">
                <a:solidFill>
                  <a:schemeClr val="tx1"/>
                </a:solidFill>
              </a:rPr>
              <a:t>Capacity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</a:t>
            </a:r>
            <a:r>
              <a:rPr lang="ko-KR" altLang="en-US" sz="1470" dirty="0">
                <a:solidFill>
                  <a:schemeClr val="tx1"/>
                </a:solidFill>
              </a:rPr>
              <a:t>상관관계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이상치 제거 후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>
              <a:buSzPct val="100000"/>
            </a:pPr>
            <a:r>
              <a:rPr lang="en-US" altLang="ko-KR" sz="1470" dirty="0">
                <a:solidFill>
                  <a:schemeClr val="tx1"/>
                </a:solidFill>
              </a:rPr>
              <a:t>Capacity </a:t>
            </a:r>
            <a:r>
              <a:rPr lang="ko-KR" altLang="en-US" sz="1470" dirty="0">
                <a:solidFill>
                  <a:schemeClr val="tx1"/>
                </a:solidFill>
              </a:rPr>
              <a:t>값은 </a:t>
            </a:r>
            <a:r>
              <a:rPr lang="en-US" altLang="ko-KR" sz="1470" dirty="0">
                <a:solidFill>
                  <a:schemeClr val="tx1"/>
                </a:solidFill>
              </a:rPr>
              <a:t>Qmax </a:t>
            </a:r>
            <a:r>
              <a:rPr lang="ko-KR" altLang="en-US" sz="1470" dirty="0" err="1">
                <a:solidFill>
                  <a:schemeClr val="tx1"/>
                </a:solidFill>
              </a:rPr>
              <a:t>추출값으로</a:t>
            </a:r>
            <a:r>
              <a:rPr lang="ko-KR" altLang="en-US" sz="1470" dirty="0">
                <a:solidFill>
                  <a:schemeClr val="tx1"/>
                </a:solidFill>
              </a:rPr>
              <a:t> 사용 </a:t>
            </a:r>
            <a:r>
              <a:rPr lang="en-US" altLang="ko-KR" sz="1470" dirty="0">
                <a:solidFill>
                  <a:schemeClr val="tx1"/>
                </a:solidFill>
              </a:rPr>
              <a:t>(21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95%, 23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87%, 25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78%)</a:t>
            </a:r>
            <a:br>
              <a:rPr lang="en-US" altLang="ko-KR" sz="1470" dirty="0">
                <a:solidFill>
                  <a:schemeClr val="tx1"/>
                </a:solidFill>
              </a:rPr>
            </a:br>
            <a:r>
              <a:rPr lang="en-US" altLang="ko-KR" sz="1470" dirty="0">
                <a:solidFill>
                  <a:schemeClr val="tx1"/>
                </a:solidFill>
              </a:rPr>
              <a:t>22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24</a:t>
            </a:r>
            <a:r>
              <a:rPr lang="ko-KR" altLang="en-US" sz="1470" dirty="0">
                <a:solidFill>
                  <a:schemeClr val="tx1"/>
                </a:solidFill>
              </a:rPr>
              <a:t>년은 임의 값 사용 </a:t>
            </a:r>
            <a:r>
              <a:rPr lang="en-US" altLang="ko-KR" sz="1470" dirty="0">
                <a:solidFill>
                  <a:schemeClr val="tx1"/>
                </a:solidFill>
              </a:rPr>
              <a:t>(87%, 85%)</a:t>
            </a: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</a:rPr>
              <a:t>Pearson</a:t>
            </a:r>
            <a:r>
              <a:rPr lang="ko-KR" altLang="en-US" sz="1470" dirty="0">
                <a:solidFill>
                  <a:schemeClr val="tx1"/>
                </a:solidFill>
              </a:rPr>
              <a:t> 상관계수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두 그룹 공통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1sec ~30sec: SOH</a:t>
            </a:r>
            <a:r>
              <a:rPr lang="ko-KR" altLang="en-US" sz="1470" dirty="0">
                <a:solidFill>
                  <a:schemeClr val="tx1"/>
                </a:solidFill>
              </a:rPr>
              <a:t>와 유의한 상관관계 없음 </a:t>
            </a:r>
            <a:r>
              <a:rPr lang="en-US" altLang="ko-KR" sz="1470" dirty="0">
                <a:solidFill>
                  <a:schemeClr val="tx1"/>
                </a:solidFill>
              </a:rPr>
              <a:t>(p-value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&gt;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60sec: </a:t>
            </a:r>
            <a:r>
              <a:rPr lang="ko-KR" altLang="en-US" sz="1470" dirty="0">
                <a:solidFill>
                  <a:schemeClr val="tx1"/>
                </a:solidFill>
              </a:rPr>
              <a:t>통계적 유의성 확인 </a:t>
            </a:r>
            <a:r>
              <a:rPr lang="en-US" altLang="ko-KR" sz="1470" dirty="0">
                <a:solidFill>
                  <a:schemeClr val="tx1"/>
                </a:solidFill>
              </a:rPr>
              <a:t>(p-value &lt; 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모든 시간별 </a:t>
            </a:r>
            <a:r>
              <a:rPr lang="ko-KR" altLang="en-US" sz="1470" dirty="0" err="1">
                <a:solidFill>
                  <a:schemeClr val="tx1"/>
                </a:solidFill>
              </a:rPr>
              <a:t>저항값에서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R &lt; 0.5 </a:t>
            </a:r>
            <a:r>
              <a:rPr lang="ko-KR" altLang="en-US" sz="1470" dirty="0">
                <a:solidFill>
                  <a:schemeClr val="tx1"/>
                </a:solidFill>
              </a:rPr>
              <a:t>미만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ko-KR" altLang="en-US" sz="1470" dirty="0">
                <a:solidFill>
                  <a:schemeClr val="tx1"/>
                </a:solidFill>
              </a:rPr>
              <a:t>간 상관관계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두 그룹 공통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1sec vs 3sec: R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=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0.74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3sec vs 5sec: R = 0.80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30sec vs 60sec R: 0.70 ~0.76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시간적으로 가까운 구간 간 상관관계가 높음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</a:rPr>
              <a:t>결론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통계적 유의성</a:t>
            </a:r>
            <a:r>
              <a:rPr lang="en-US" altLang="ko-KR" sz="1470" dirty="0">
                <a:solidFill>
                  <a:schemeClr val="tx1"/>
                </a:solidFill>
              </a:rPr>
              <a:t>: </a:t>
            </a:r>
            <a:r>
              <a:rPr lang="ko-KR" altLang="en-US" sz="1470" dirty="0">
                <a:solidFill>
                  <a:schemeClr val="tx1"/>
                </a:solidFill>
              </a:rPr>
              <a:t>모든 </a:t>
            </a:r>
            <a:r>
              <a:rPr lang="en-US" altLang="ko-KR" sz="1470" dirty="0">
                <a:solidFill>
                  <a:schemeClr val="tx1"/>
                </a:solidFill>
              </a:rPr>
              <a:t>SOH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60sec </a:t>
            </a:r>
            <a:r>
              <a:rPr lang="ko-KR" altLang="en-US" sz="1470" dirty="0">
                <a:solidFill>
                  <a:schemeClr val="tx1"/>
                </a:solidFill>
              </a:rPr>
              <a:t>상관관계가 유의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단기 저항은 </a:t>
            </a:r>
            <a:r>
              <a:rPr lang="en-US" altLang="ko-KR" sz="1470" dirty="0">
                <a:solidFill>
                  <a:schemeClr val="tx1"/>
                </a:solidFill>
              </a:rPr>
              <a:t>SOH</a:t>
            </a:r>
            <a:r>
              <a:rPr lang="ko-KR" altLang="en-US" sz="1470" dirty="0">
                <a:solidFill>
                  <a:schemeClr val="tx1"/>
                </a:solidFill>
              </a:rPr>
              <a:t>와 직접적 연관이 약함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60sec</a:t>
            </a:r>
            <a:r>
              <a:rPr lang="ko-KR" altLang="en-US" sz="1470" dirty="0">
                <a:solidFill>
                  <a:schemeClr val="tx1"/>
                </a:solidFill>
              </a:rPr>
              <a:t>가 열화 모니터링에 유용한 지표로 보임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ko-KR" altLang="en-US" sz="147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02FB09-74AC-4FA8-473F-B2AD2148F2AB}"/>
              </a:ext>
            </a:extLst>
          </p:cNvPr>
          <p:cNvSpPr/>
          <p:nvPr/>
        </p:nvSpPr>
        <p:spPr>
          <a:xfrm>
            <a:off x="4766517" y="1710679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1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05CB9D8-7306-959D-E59D-4F4B20FC1B2E}"/>
              </a:ext>
            </a:extLst>
          </p:cNvPr>
          <p:cNvSpPr/>
          <p:nvPr/>
        </p:nvSpPr>
        <p:spPr>
          <a:xfrm>
            <a:off x="4766517" y="5696410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2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87B13B3-C02C-2E79-D259-7E0F8022ECD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9994" y="58848"/>
            <a:ext cx="4015895" cy="370377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5EDFD8E-0187-6BBE-CA1F-720DC65039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9994" y="3844521"/>
            <a:ext cx="4015895" cy="370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495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D58F23-6F16-C727-5A1C-F1C985F986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BBD7DB2-444F-58F6-8CE2-45518965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A77C61-9406-19A8-A806-D38456C4F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297DEB-C09D-9532-D2AB-9C151972ECF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sz="1400" dirty="0"/>
              <a:t>왜 상관관계가 낮은가 </a:t>
            </a:r>
            <a:r>
              <a:rPr lang="en-US" altLang="ko-KR" sz="1400" dirty="0"/>
              <a:t>-&gt; </a:t>
            </a:r>
            <a:r>
              <a:rPr lang="ko-KR" altLang="en-US" sz="1400" dirty="0"/>
              <a:t>해결 방법</a:t>
            </a: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이유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이벤트의 비정규성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en-US" altLang="ko-KR" sz="1400" dirty="0"/>
              <a:t>Qmax </a:t>
            </a:r>
            <a:r>
              <a:rPr lang="ko-KR" altLang="en-US" sz="1400" dirty="0"/>
              <a:t>의 부정확성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해결방법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더 정규성 있게 </a:t>
            </a:r>
            <a:r>
              <a:rPr lang="en-US" altLang="ko-KR" sz="1400" dirty="0"/>
              <a:t>narrow down (</a:t>
            </a:r>
            <a:r>
              <a:rPr lang="ko-KR" altLang="en-US" sz="1400" dirty="0"/>
              <a:t>이벤트 수는 적어지는데</a:t>
            </a:r>
            <a:r>
              <a:rPr lang="en-US" altLang="ko-KR" sz="1400" dirty="0"/>
              <a:t>)</a:t>
            </a:r>
          </a:p>
          <a:p>
            <a:pPr marL="1750170" lvl="2" indent="-457200">
              <a:buAutoNum type="arabicPeriod"/>
            </a:pPr>
            <a:r>
              <a:rPr lang="ko-KR" altLang="en-US" sz="1400" dirty="0"/>
              <a:t>수를 늘려서 통계 </a:t>
            </a:r>
            <a:r>
              <a:rPr lang="en-US" altLang="ko-KR" sz="1400" dirty="0"/>
              <a:t>(</a:t>
            </a:r>
            <a:r>
              <a:rPr lang="ko-KR" altLang="en-US" sz="1400" dirty="0"/>
              <a:t>평균</a:t>
            </a:r>
            <a:r>
              <a:rPr lang="en-US" altLang="ko-KR" sz="1400" dirty="0"/>
              <a:t>)</a:t>
            </a:r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정기평가 저항 </a:t>
            </a:r>
            <a:r>
              <a:rPr lang="en-US" altLang="ko-KR" sz="1400" dirty="0"/>
              <a:t>(y </a:t>
            </a:r>
            <a:r>
              <a:rPr lang="ko-KR" altLang="en-US" sz="1400" dirty="0"/>
              <a:t>값을 다르게</a:t>
            </a:r>
            <a:r>
              <a:rPr lang="en-US" altLang="ko-KR" sz="1400" dirty="0"/>
              <a:t> – DCIR </a:t>
            </a:r>
            <a:r>
              <a:rPr lang="ko-KR" altLang="en-US" sz="1400" dirty="0"/>
              <a:t>부분</a:t>
            </a:r>
            <a:r>
              <a:rPr lang="en-US" altLang="ko-KR" sz="1400" dirty="0"/>
              <a:t>?)</a:t>
            </a:r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E5FC20-75F6-9E5B-67FE-578A68010BC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21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4B6936-1EEB-AD31-333C-54E6A35B94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4F1C512-1FE3-A78E-78FB-699EC364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AFDCF5-87E6-2960-D743-EED205B18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5CA416-4909-5961-FE32-44C16525973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ADA14F9-451B-E5FC-0BE7-5B517EB387F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DCCA54-9BC3-0C31-9BC2-F437E7470DD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122" y="1553375"/>
            <a:ext cx="6600956" cy="507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084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99CC-87E6-DC55-CA66-FAD2D909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2E9DB1-BB63-1F36-9379-423263A036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9AD03DE-B6AB-B5AE-5CC7-4DDA908B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A614A0-3AD6-4567-B34D-98D45DB45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63CA4C-5BDB-3510-17D9-FCC8B48C1FF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b="1" dirty="0"/>
              <a:t>진단용 유효 이벤트 정의 및 검출</a:t>
            </a:r>
            <a:endParaRPr lang="en-US" altLang="ko-KR" b="1" dirty="0"/>
          </a:p>
          <a:p>
            <a:pPr>
              <a:buSzPct val="100000"/>
            </a:pPr>
            <a:r>
              <a:rPr lang="en-US" altLang="ko-KR" sz="1470" b="1" dirty="0"/>
              <a:t>Step 01. </a:t>
            </a:r>
            <a:r>
              <a:rPr lang="ko-KR" altLang="en-US" sz="1470" b="1" dirty="0"/>
              <a:t>센서 노이즈 제거</a:t>
            </a:r>
            <a:r>
              <a:rPr lang="ko-KR" altLang="en-US" sz="1470" dirty="0"/>
              <a:t> </a:t>
            </a:r>
            <a:endParaRPr lang="en-US" altLang="ko-KR" sz="1470" dirty="0">
              <a:solidFill>
                <a:schemeClr val="dk2"/>
              </a:solidFill>
            </a:endParaRP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/>
              <a:t>이동평균 필터 적용</a:t>
            </a:r>
            <a:r>
              <a:rPr lang="en-US" altLang="ko-KR" sz="1470" dirty="0"/>
              <a:t>: </a:t>
            </a:r>
            <a:r>
              <a:rPr lang="ko-KR" altLang="en-US" sz="1470" dirty="0"/>
              <a:t>전류</a:t>
            </a:r>
            <a:r>
              <a:rPr lang="en-US" altLang="ko-KR" sz="1470" dirty="0"/>
              <a:t>, </a:t>
            </a:r>
            <a:r>
              <a:rPr lang="ko-KR" altLang="en-US" sz="1470" dirty="0"/>
              <a:t>전압 데이터의 센서 노이즈 완화</a:t>
            </a:r>
            <a:r>
              <a:rPr lang="en-US" altLang="ko-KR" sz="1470" dirty="0"/>
              <a:t>, </a:t>
            </a:r>
            <a:r>
              <a:rPr lang="ko-KR" altLang="en-US" sz="1470" dirty="0"/>
              <a:t>윈도우 크기는 고정된 포인트 수가 아닌</a:t>
            </a:r>
            <a:r>
              <a:rPr lang="en-US" altLang="ko-KR" sz="1470" dirty="0"/>
              <a:t>, </a:t>
            </a:r>
            <a:r>
              <a:rPr lang="ko-KR" altLang="en-US" sz="1470" dirty="0"/>
              <a:t>물리적 시간 </a:t>
            </a:r>
            <a:r>
              <a:rPr lang="en-US" altLang="ko-KR" sz="1470" dirty="0"/>
              <a:t>3</a:t>
            </a:r>
            <a:r>
              <a:rPr lang="ko-KR" altLang="en-US" sz="1470" dirty="0"/>
              <a:t>초를 기준으로 설정</a:t>
            </a:r>
            <a:endParaRPr lang="en-US" altLang="ko-KR" sz="1470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en-US" altLang="ko-KR" sz="1470" b="1" dirty="0"/>
              <a:t>Step 02. </a:t>
            </a:r>
            <a:r>
              <a:rPr lang="ko-KR" altLang="en-US" sz="1470" b="1" dirty="0"/>
              <a:t>유효 이벤트 분할</a:t>
            </a:r>
            <a:r>
              <a:rPr lang="ko-KR" altLang="en-US" sz="1470" dirty="0"/>
              <a:t> </a:t>
            </a:r>
            <a:endParaRPr lang="en-US" altLang="ko-KR" sz="1470" dirty="0">
              <a:solidFill>
                <a:schemeClr val="dk2"/>
              </a:solidFill>
            </a:endParaRP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/>
              <a:t>상태 감지</a:t>
            </a:r>
            <a:r>
              <a:rPr lang="en-US" altLang="ko-KR" sz="1470" dirty="0"/>
              <a:t>: </a:t>
            </a:r>
            <a:r>
              <a:rPr lang="ko-KR" altLang="en-US" sz="1470" dirty="0"/>
              <a:t>전류가 </a:t>
            </a:r>
            <a:r>
              <a:rPr lang="en-US" altLang="ko-KR" sz="1470" dirty="0"/>
              <a:t>idle threshold </a:t>
            </a:r>
            <a:r>
              <a:rPr lang="ko-KR" altLang="en-US" sz="1470" dirty="0"/>
              <a:t>미만인 상태에서 이상인 상태로 변하는 시점 감지하여 이벤트의 시작점으로 정의</a:t>
            </a: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방향성 분류</a:t>
            </a:r>
            <a:r>
              <a:rPr lang="en-US" altLang="ko-KR" sz="1470" dirty="0">
                <a:solidFill>
                  <a:schemeClr val="tx1"/>
                </a:solidFill>
              </a:rPr>
              <a:t>: </a:t>
            </a:r>
            <a:r>
              <a:rPr lang="ko-KR" altLang="en-US" sz="1470" dirty="0"/>
              <a:t>충전</a:t>
            </a:r>
            <a:r>
              <a:rPr lang="en-US" altLang="ko-KR" sz="1470" dirty="0"/>
              <a:t>(+), </a:t>
            </a:r>
          </a:p>
          <a:p>
            <a:pPr>
              <a:buSzPct val="100000"/>
            </a:pPr>
            <a:r>
              <a:rPr lang="en-US" altLang="ko-KR" sz="1470" b="1" dirty="0"/>
              <a:t>Step 03. </a:t>
            </a:r>
            <a:r>
              <a:rPr lang="ko-KR" altLang="en-US" sz="1470" b="1" dirty="0"/>
              <a:t>특징 인자 추출 및 데이터 통합</a:t>
            </a:r>
            <a:r>
              <a:rPr lang="ko-KR" altLang="en-US" sz="1470" dirty="0"/>
              <a:t> </a:t>
            </a:r>
            <a:endParaRPr lang="en-US" altLang="ko-KR" sz="1470" dirty="0">
              <a:solidFill>
                <a:schemeClr val="dk2"/>
              </a:solidFill>
            </a:endParaRP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/>
              <a:t>R</a:t>
            </a:r>
            <a:r>
              <a:rPr lang="en-US" altLang="ko-KR" sz="1470" baseline="-25000" dirty="0" err="1"/>
              <a:t>chg</a:t>
            </a:r>
            <a:r>
              <a:rPr lang="en-US" altLang="ko-KR" sz="1470" dirty="0"/>
              <a:t> / </a:t>
            </a:r>
            <a:r>
              <a:rPr lang="en-US" altLang="ko-KR" sz="1470" dirty="0" err="1"/>
              <a:t>R</a:t>
            </a:r>
            <a:r>
              <a:rPr lang="en-US" altLang="ko-KR" sz="1470" baseline="-25000" dirty="0" err="1"/>
              <a:t>dch</a:t>
            </a:r>
            <a:r>
              <a:rPr lang="en-US" altLang="ko-KR" sz="1470" dirty="0"/>
              <a:t>: </a:t>
            </a:r>
            <a:r>
              <a:rPr lang="ko-KR" altLang="en-US" sz="1470" dirty="0"/>
              <a:t>선별된 각 이벤트에서 시간경과 </a:t>
            </a:r>
            <a:r>
              <a:rPr lang="en-US" altLang="ko-KR" sz="1470" dirty="0"/>
              <a:t>(1,3,5,10,30,60sec) </a:t>
            </a:r>
            <a:r>
              <a:rPr lang="ko-KR" altLang="en-US" sz="1470" dirty="0"/>
              <a:t>에 따른 전압과 전류 변화량을 이용하여 저항 산출</a:t>
            </a:r>
            <a:r>
              <a:rPr lang="en-US" altLang="ko-KR" sz="1470" dirty="0"/>
              <a:t> </a:t>
            </a:r>
            <a:endParaRPr lang="ko-KR" altLang="en-US" sz="1470" dirty="0"/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/>
              <a:t>데이터 매핑</a:t>
            </a:r>
            <a:r>
              <a:rPr lang="en-US" altLang="ko-KR" sz="1470" dirty="0"/>
              <a:t>: </a:t>
            </a:r>
            <a:r>
              <a:rPr lang="ko-KR" altLang="en-US" sz="1470" dirty="0"/>
              <a:t>추출된 </a:t>
            </a:r>
            <a:r>
              <a:rPr lang="ko-KR" altLang="en-US" sz="1470" dirty="0" err="1"/>
              <a:t>저항값</a:t>
            </a:r>
            <a:r>
              <a:rPr lang="ko-KR" altLang="en-US" sz="1470" dirty="0"/>
              <a:t> </a:t>
            </a:r>
            <a:r>
              <a:rPr lang="en-US" altLang="ko-KR" sz="1470" dirty="0"/>
              <a:t>(X)</a:t>
            </a:r>
            <a:r>
              <a:rPr lang="ko-KR" altLang="en-US" sz="1470" dirty="0"/>
              <a:t>에 해당 시점의 </a:t>
            </a:r>
            <a:r>
              <a:rPr lang="en-US" altLang="ko-KR" sz="1470" dirty="0"/>
              <a:t>Cycle, Channel, SOC </a:t>
            </a:r>
            <a:r>
              <a:rPr lang="ko-KR" altLang="en-US" sz="1470" dirty="0"/>
              <a:t>정보와  </a:t>
            </a:r>
            <a:r>
              <a:rPr lang="en-US" altLang="ko-KR" sz="1470" dirty="0"/>
              <a:t>RPT </a:t>
            </a:r>
            <a:r>
              <a:rPr lang="ko-KR" altLang="en-US" sz="1470" dirty="0"/>
              <a:t>실험에서 획득한 용량</a:t>
            </a:r>
            <a:r>
              <a:rPr lang="en-US" altLang="ko-KR" sz="1470" dirty="0"/>
              <a:t>, SOC-DCIR (Y) </a:t>
            </a:r>
            <a:r>
              <a:rPr lang="ko-KR" altLang="en-US" sz="1470" dirty="0"/>
              <a:t>를 매핑하여 최종 데이터셋 구축</a:t>
            </a:r>
            <a:endParaRPr lang="en-US" altLang="ko-KR" sz="1470" dirty="0"/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endParaRPr lang="en-US" altLang="ko-KR" sz="147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18C3556-D547-71C7-A3E4-1E69C9EA36E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542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C9B172-29AD-A267-7E51-D7B9AB2ECF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E7D11F8-8CEB-F452-E71F-42E584E5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41D945-9781-8111-7EB2-914820519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충전 이벤트 통계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C9ED55-D588-458E-77E8-0BAC58EE882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A9D0BE6-22D1-4D7E-C79A-4C0016BED44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9677E44-0ACD-6C4D-8B49-ECD05A4D0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711893"/>
              </p:ext>
            </p:extLst>
          </p:nvPr>
        </p:nvGraphicFramePr>
        <p:xfrm>
          <a:off x="2216386" y="2012951"/>
          <a:ext cx="9007002" cy="4813507"/>
        </p:xfrm>
        <a:graphic>
          <a:graphicData uri="http://schemas.openxmlformats.org/drawingml/2006/table">
            <a:tbl>
              <a:tblPr/>
              <a:tblGrid>
                <a:gridCol w="1000778">
                  <a:extLst>
                    <a:ext uri="{9D8B030D-6E8A-4147-A177-3AD203B41FA5}">
                      <a16:colId xmlns:a16="http://schemas.microsoft.com/office/drawing/2014/main" val="2780186519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1551797019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529440472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56389051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187638173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52671826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135452171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444543567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933194389"/>
                    </a:ext>
                  </a:extLst>
                </a:gridCol>
              </a:tblGrid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단계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필터링 조건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제거된 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제거율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200cyc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400cyc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600cyc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800cyc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22222"/>
                  </a:ext>
                </a:extLst>
              </a:tr>
              <a:tr h="245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시작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초기 전환 수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098200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최소 지속시간 </a:t>
                      </a:r>
                      <a:r>
                        <a:rPr lang="en-US" altLang="ko-KR" sz="1000" b="0">
                          <a:effectLst/>
                        </a:rPr>
                        <a:t>(&lt; 10.0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10,185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61.9%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367859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충전 방향 확인 </a:t>
                      </a:r>
                      <a:r>
                        <a:rPr lang="en-US" altLang="ko-KR" sz="1000" b="0">
                          <a:effectLst/>
                        </a:rPr>
                        <a:t>(&lt; 50% </a:t>
                      </a:r>
                      <a:r>
                        <a:rPr lang="ko-KR" altLang="en-US" sz="1000" b="0">
                          <a:effectLst/>
                        </a:rPr>
                        <a:t>양의 전류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267481"/>
                  </a:ext>
                </a:extLst>
              </a:tr>
              <a:tr h="7140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안정 구간 길이 확인 </a:t>
                      </a:r>
                      <a:r>
                        <a:rPr lang="en-US" altLang="ko-KR" sz="1000" b="0">
                          <a:effectLst/>
                        </a:rPr>
                        <a:t>(&lt; 10.0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495945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4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전류 표준편차 </a:t>
                      </a:r>
                      <a:r>
                        <a:rPr lang="en-US" altLang="ko-KR" sz="1000" b="0">
                          <a:effectLst/>
                        </a:rPr>
                        <a:t>(&gt;= 2.00 A)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252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1.5%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34641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변동계수 </a:t>
                      </a:r>
                      <a:r>
                        <a:rPr lang="en-US" altLang="ko-KR" sz="1000" b="0">
                          <a:effectLst/>
                        </a:rPr>
                        <a:t>(&gt;= 200.0%)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93916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전력 표준편차 </a:t>
                      </a:r>
                      <a:r>
                        <a:rPr lang="en-US" altLang="ko-KR" sz="1000" b="0">
                          <a:effectLst/>
                        </a:rPr>
                        <a:t>(&gt;= 0.024 kW)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877969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7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컷팅 후 최소 길이 확인 </a:t>
                      </a:r>
                      <a:r>
                        <a:rPr lang="en-US" altLang="ko-KR" sz="1000" b="0">
                          <a:effectLst/>
                        </a:rPr>
                        <a:t>(&lt; 5.0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0.6%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2353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최종 통과한</a:t>
                      </a:r>
                      <a:endParaRPr lang="en-US" altLang="ko-KR" sz="1000" b="1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충전이벤트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69.6~74.7%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ko-KR" altLang="en-US" sz="1000" b="0" dirty="0">
                          <a:effectLst/>
                        </a:rPr>
                        <a:t>제거율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4,152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4,156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4,155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4,992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4,368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969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336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F558AF7-885B-D09E-E7F1-8E1B829D0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675706-C73D-C5C8-2ACA-560F3BB2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7822E1-D75D-C621-3DA3-5D61F941C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방전 이벤트 통계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9A3EF6-5E71-D0AE-CAB7-0BE7715D237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A8CF61A-7FD1-D9F3-FFDD-1B8267033FF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2A58F3F-1FD9-2B54-8015-B3AC18959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358187"/>
              </p:ext>
            </p:extLst>
          </p:nvPr>
        </p:nvGraphicFramePr>
        <p:xfrm>
          <a:off x="2216386" y="2012951"/>
          <a:ext cx="9007002" cy="4813507"/>
        </p:xfrm>
        <a:graphic>
          <a:graphicData uri="http://schemas.openxmlformats.org/drawingml/2006/table">
            <a:tbl>
              <a:tblPr/>
              <a:tblGrid>
                <a:gridCol w="1000778">
                  <a:extLst>
                    <a:ext uri="{9D8B030D-6E8A-4147-A177-3AD203B41FA5}">
                      <a16:colId xmlns:a16="http://schemas.microsoft.com/office/drawing/2014/main" val="3754643796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351821404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882728727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763599077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696151882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626424668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1867521633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988233400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223567212"/>
                    </a:ext>
                  </a:extLst>
                </a:gridCol>
              </a:tblGrid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단계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필터링 조건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제거된 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제거율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200cyc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400cyc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600cyc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800cyc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159419"/>
                  </a:ext>
                </a:extLst>
              </a:tr>
              <a:tr h="245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시작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초기 전환 수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028297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최소 지속시간 </a:t>
                      </a:r>
                      <a:r>
                        <a:rPr lang="en-US" altLang="ko-KR" sz="1000" b="0">
                          <a:effectLst/>
                        </a:rPr>
                        <a:t>(&lt; 30.0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10,185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61.9%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428431"/>
                  </a:ext>
                </a:extLst>
              </a:tr>
              <a:tr h="7140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방전 방향 확인 </a:t>
                      </a:r>
                      <a:r>
                        <a:rPr lang="en-US" altLang="ko-KR" sz="1000" b="0">
                          <a:effectLst/>
                        </a:rPr>
                        <a:t>(</a:t>
                      </a:r>
                      <a:r>
                        <a:rPr lang="ko-KR" altLang="en-US" sz="1000" b="0">
                          <a:effectLst/>
                        </a:rPr>
                        <a:t>모두 음의 전류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922666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안정 구간 길이 확인 </a:t>
                      </a:r>
                      <a:r>
                        <a:rPr lang="en-US" altLang="ko-KR" sz="1000" b="0">
                          <a:effectLst/>
                        </a:rPr>
                        <a:t>(&lt; 3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499713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4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전류 표준편차 </a:t>
                      </a:r>
                      <a:r>
                        <a:rPr lang="en-US" altLang="ko-KR" sz="1000" b="0">
                          <a:effectLst/>
                        </a:rPr>
                        <a:t>(&gt;= 0.10 A)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252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1.5%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21226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변동계수 </a:t>
                      </a:r>
                      <a:r>
                        <a:rPr lang="en-US" altLang="ko-KR" sz="1000" b="0">
                          <a:effectLst/>
                        </a:rPr>
                        <a:t>(&gt;= 10.0%)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893734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전력 표준편차 </a:t>
                      </a:r>
                      <a:r>
                        <a:rPr lang="en-US" altLang="ko-KR" sz="1000" b="0">
                          <a:effectLst/>
                        </a:rPr>
                        <a:t>(&gt;= 0.024 kW)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750449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7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컷팅 후 최소 길이 확인 </a:t>
                      </a:r>
                      <a:r>
                        <a:rPr lang="en-US" altLang="ko-KR" sz="1000" b="0">
                          <a:effectLst/>
                        </a:rPr>
                        <a:t>(&lt; 5.0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0.6%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821196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최종 통과한</a:t>
                      </a:r>
                      <a:endParaRPr lang="en-US" altLang="ko-KR" sz="1000" b="1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충전이벤트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89.3~91.2%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ko-KR" altLang="en-US" sz="1000" b="0" dirty="0">
                          <a:effectLst/>
                        </a:rPr>
                        <a:t>제거율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1,440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1,440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1,440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1,752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1,533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732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5713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103BB4-27BD-F876-2855-4FDABA9C1B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8ABA53-AB74-0DF6-4FF4-C47B2671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7DCC4-38EB-8F0F-B7F6-38B0557B6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5936334-8E4D-492D-5FE7-926A275104B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7C08D5F-4469-DC34-AB2B-15BD9E8D9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749759"/>
              </p:ext>
            </p:extLst>
          </p:nvPr>
        </p:nvGraphicFramePr>
        <p:xfrm>
          <a:off x="0" y="1780549"/>
          <a:ext cx="6336145" cy="4824267"/>
        </p:xfrm>
        <a:graphic>
          <a:graphicData uri="http://schemas.openxmlformats.org/drawingml/2006/table">
            <a:tbl>
              <a:tblPr/>
              <a:tblGrid>
                <a:gridCol w="1420959">
                  <a:extLst>
                    <a:ext uri="{9D8B030D-6E8A-4147-A177-3AD203B41FA5}">
                      <a16:colId xmlns:a16="http://schemas.microsoft.com/office/drawing/2014/main" val="259150607"/>
                    </a:ext>
                  </a:extLst>
                </a:gridCol>
                <a:gridCol w="2803138">
                  <a:extLst>
                    <a:ext uri="{9D8B030D-6E8A-4147-A177-3AD203B41FA5}">
                      <a16:colId xmlns:a16="http://schemas.microsoft.com/office/drawing/2014/main" val="2530327854"/>
                    </a:ext>
                  </a:extLst>
                </a:gridCol>
                <a:gridCol w="2112048">
                  <a:extLst>
                    <a:ext uri="{9D8B030D-6E8A-4147-A177-3AD203B41FA5}">
                      <a16:colId xmlns:a16="http://schemas.microsoft.com/office/drawing/2014/main" val="3471123827"/>
                    </a:ext>
                  </a:extLst>
                </a:gridCol>
              </a:tblGrid>
              <a:tr h="1350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충전 필터링 조건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의미 및 수식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기준값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54297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Short Duration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이벤트 지속시간이 최소 기준보다 짧음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 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</a:t>
                      </a: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Idle → Load </a:t>
                      </a:r>
                      <a:r>
                        <a:rPr lang="ko-KR" altLang="en-US" sz="1000" dirty="0">
                          <a:effectLst/>
                        </a:rPr>
                        <a:t>전환 후 실제 구동 시간이 기준보다 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 10.0s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57212"/>
                  </a:ext>
                </a:extLst>
              </a:tr>
              <a:tr h="824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Direction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방향 일치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Charging</a:t>
                      </a:r>
                      <a:r>
                        <a:rPr lang="ko-KR" altLang="en-US" sz="1000" dirty="0">
                          <a:effectLst/>
                          <a:latin typeface="Consolas" panose="020B0609020204030204" pitchFamily="49" charset="0"/>
                        </a:rPr>
                        <a:t>은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I_direction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 &gt; 0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all</a:t>
                      </a:r>
                      <a:r>
                        <a:rPr lang="ko-KR" altLang="en-US" sz="1000" dirty="0">
                          <a:effectLst/>
                        </a:rPr>
                        <a:t> </a:t>
                      </a:r>
                      <a:r>
                        <a:rPr lang="en-US" altLang="ko-KR" sz="1000" dirty="0">
                          <a:effectLst/>
                        </a:rPr>
                        <a:t>positive</a:t>
                      </a:r>
                      <a:endParaRPr 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1185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Window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stable_end_time</a:t>
                      </a:r>
                      <a:endParaRPr lang="en-US" altLang="ko-KR" sz="10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</a:t>
                      </a: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r>
                        <a:rPr lang="en-US" altLang="ko-KR" sz="1000" dirty="0">
                          <a:effectLst/>
                        </a:rPr>
                        <a:t>(3-10</a:t>
                      </a:r>
                      <a:r>
                        <a:rPr lang="ko-KR" altLang="en-US" sz="1000" dirty="0">
                          <a:effectLst/>
                        </a:rPr>
                        <a:t>초</a:t>
                      </a:r>
                      <a:r>
                        <a:rPr lang="en-US" altLang="ko-KR" sz="1000" dirty="0">
                          <a:effectLst/>
                        </a:rPr>
                        <a:t>) </a:t>
                      </a:r>
                      <a:r>
                        <a:rPr lang="ko-KR" altLang="en-US" sz="1000" dirty="0">
                          <a:effectLst/>
                        </a:rPr>
                        <a:t>확보를 위해 최소 지속시간 필요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&lt; 10.0s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89104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I Std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표준편차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max_I_std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전류 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2.00 A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441350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CV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변동계수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= 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)/|mean(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|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max_CV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평균 대비 표준편차 비율이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>
                          <a:effectLst/>
                        </a:rPr>
                        <a:t>&gt;= 200.0%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353092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P Std</a:t>
                      </a:r>
                      <a:endParaRPr 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전력 표준편차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P_stable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max_P_std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전력 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0.024 kW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245332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After Cut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잘라낸 후 지속시간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driving_time_cut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min_duration_after_cut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불안정 구간 제거 후 남은 시간이 기준보다 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 5.0s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04858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0997F10-36F2-E045-D7F9-AE19736E8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322323"/>
              </p:ext>
            </p:extLst>
          </p:nvPr>
        </p:nvGraphicFramePr>
        <p:xfrm>
          <a:off x="6405706" y="1780548"/>
          <a:ext cx="6672985" cy="4824269"/>
        </p:xfrm>
        <a:graphic>
          <a:graphicData uri="http://schemas.openxmlformats.org/drawingml/2006/table">
            <a:tbl>
              <a:tblPr/>
              <a:tblGrid>
                <a:gridCol w="1519800">
                  <a:extLst>
                    <a:ext uri="{9D8B030D-6E8A-4147-A177-3AD203B41FA5}">
                      <a16:colId xmlns:a16="http://schemas.microsoft.com/office/drawing/2014/main" val="2671798994"/>
                    </a:ext>
                  </a:extLst>
                </a:gridCol>
                <a:gridCol w="2928857">
                  <a:extLst>
                    <a:ext uri="{9D8B030D-6E8A-4147-A177-3AD203B41FA5}">
                      <a16:colId xmlns:a16="http://schemas.microsoft.com/office/drawing/2014/main" val="4105175221"/>
                    </a:ext>
                  </a:extLst>
                </a:gridCol>
                <a:gridCol w="2224328">
                  <a:extLst>
                    <a:ext uri="{9D8B030D-6E8A-4147-A177-3AD203B41FA5}">
                      <a16:colId xmlns:a16="http://schemas.microsoft.com/office/drawing/2014/main" val="2376708769"/>
                    </a:ext>
                  </a:extLst>
                </a:gridCol>
              </a:tblGrid>
              <a:tr h="2140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방전 필터링 조건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의미 및 수식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 err="1">
                          <a:effectLst/>
                        </a:rPr>
                        <a:t>기준값</a:t>
                      </a:r>
                      <a:endParaRPr lang="ko-KR" altLang="en-US" sz="1000" b="1" dirty="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182883"/>
                  </a:ext>
                </a:extLst>
              </a:tr>
              <a:tr h="75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Short Duration</a:t>
                      </a:r>
                      <a:endParaRPr lang="en-US" sz="1000" dirty="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이벤트 지속시간이 최소 기준보다 짧음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 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</a:t>
                      </a: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Idle → Load </a:t>
                      </a:r>
                      <a:r>
                        <a:rPr lang="ko-KR" altLang="en-US" sz="1000" dirty="0">
                          <a:effectLst/>
                        </a:rPr>
                        <a:t>전환 후 실제 구동 시간이 기준보다 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 30.0s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619254"/>
                  </a:ext>
                </a:extLst>
              </a:tr>
              <a:tr h="55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Direction</a:t>
                      </a:r>
                      <a:endParaRPr lang="en-US" sz="1000" dirty="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방향 일치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Discharging</a:t>
                      </a:r>
                      <a:r>
                        <a:rPr lang="ko-KR" altLang="en-US" sz="1000" dirty="0">
                          <a:effectLst/>
                        </a:rPr>
                        <a:t>은 </a:t>
                      </a:r>
                      <a:r>
                        <a:rPr lang="en-US" altLang="ko-KR" sz="1000" dirty="0" err="1">
                          <a:effectLst/>
                        </a:rPr>
                        <a:t>I_direction</a:t>
                      </a:r>
                      <a:r>
                        <a:rPr lang="en-US" altLang="ko-KR" sz="1000" dirty="0">
                          <a:effectLst/>
                        </a:rPr>
                        <a:t> &lt; 0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all negative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361088"/>
                  </a:ext>
                </a:extLst>
              </a:tr>
              <a:tr h="6802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Window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stable_end_time</a:t>
                      </a:r>
                      <a:endParaRPr lang="en-US" altLang="ko-KR" sz="10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</a:t>
                      </a: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r>
                        <a:rPr lang="en-US" altLang="ko-KR" sz="1000" dirty="0">
                          <a:effectLst/>
                        </a:rPr>
                        <a:t>(3-10</a:t>
                      </a:r>
                      <a:r>
                        <a:rPr lang="ko-KR" altLang="en-US" sz="1000" dirty="0">
                          <a:effectLst/>
                        </a:rPr>
                        <a:t>초</a:t>
                      </a:r>
                      <a:r>
                        <a:rPr lang="en-US" altLang="ko-KR" sz="1000" dirty="0">
                          <a:effectLst/>
                        </a:rPr>
                        <a:t>) </a:t>
                      </a:r>
                      <a:r>
                        <a:rPr lang="ko-KR" altLang="en-US" sz="1000" dirty="0">
                          <a:effectLst/>
                        </a:rPr>
                        <a:t>확보를 위해 최소 지속시간 필요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&lt; 3s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99516"/>
                  </a:ext>
                </a:extLst>
              </a:tr>
              <a:tr h="55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I Std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표준편차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max_I_std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전류 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0.10 A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665313"/>
                  </a:ext>
                </a:extLst>
              </a:tr>
              <a:tr h="75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CV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변동계수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= 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)/|mean(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|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max_CV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평균 대비 표준편차 비율이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>
                          <a:effectLst/>
                        </a:rPr>
                        <a:t>&gt;= 10.0%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766430"/>
                  </a:ext>
                </a:extLst>
              </a:tr>
              <a:tr h="55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P Std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전력 표준편차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P_stable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max_P_std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전력 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0.024 kW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82418"/>
                  </a:ext>
                </a:extLst>
              </a:tr>
              <a:tr h="75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After Cut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잘라낸 후 지속시간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driving_time_cut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min_duration_after_cut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불안정 구간 제거 후 남은 시간이 기준보다 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 5.0s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502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2689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7EF2-9285-DF01-4A4A-9BB941F4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EE5A2F-6612-5644-F9BE-4274E17DCF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55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F9FCD7-E989-281E-022B-76CABD308DA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7DEB3C3-07D2-285B-839B-C246D61B9DD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E14805-567D-F92C-B92D-9AB36989631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A231212-BB02-BCE6-7A7C-F5EB5ADC1A5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C1C6940-952E-FA8F-5BAD-8F68B4854A29}"/>
              </a:ext>
            </a:extLst>
          </p:cNvPr>
          <p:cNvPicPr>
            <a:picLocks noChangeAspect="1"/>
          </p:cNvPicPr>
          <p:nvPr/>
        </p:nvPicPr>
        <p:blipFill>
          <a:blip/>
          <a:srcRect l="1012"/>
          <a:stretch>
            <a:fillRect/>
          </a:stretch>
        </p:blipFill>
        <p:spPr>
          <a:xfrm>
            <a:off x="5129271" y="1499968"/>
            <a:ext cx="3205724" cy="2159010"/>
          </a:xfrm>
          <a:prstGeom prst="rect">
            <a:avLst/>
          </a:prstGeom>
        </p:spPr>
      </p:pic>
      <p:sp>
        <p:nvSpPr>
          <p:cNvPr id="9" name="제목 2">
            <a:extLst>
              <a:ext uri="{FF2B5EF4-FFF2-40B4-BE49-F238E27FC236}">
                <a16:creationId xmlns:a16="http://schemas.microsoft.com/office/drawing/2014/main" id="{BEC9CC63-EFD9-091D-2A45-B06BD912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BA0E0541-7205-453C-CF9E-83CF51C12813}"/>
              </a:ext>
            </a:extLst>
          </p:cNvPr>
          <p:cNvSpPr txBox="1">
            <a:spLocks/>
          </p:cNvSpPr>
          <p:nvPr/>
        </p:nvSpPr>
        <p:spPr>
          <a:xfrm>
            <a:off x="214293" y="614455"/>
            <a:ext cx="11591503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72" tIns="67168" rIns="134372" bIns="6716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707"/>
              </a:spcBef>
              <a:spcAft>
                <a:spcPts val="0"/>
              </a:spcAft>
              <a:buClr>
                <a:schemeClr val="dk2"/>
              </a:buClr>
              <a:buSzPts val="3086"/>
              <a:buFont typeface="Arial"/>
              <a:buNone/>
              <a:defRPr sz="1400" b="1" i="0" u="none" strike="noStrike" cap="none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586461" marR="0" lvl="1" indent="-254378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646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9691" marR="0" lvl="2" indent="-236417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205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72923" marR="0" lvl="3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66152" marR="0" lvl="4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759383" marR="0" lvl="5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052614" marR="0" lvl="6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345844" marR="0" lvl="7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39075" marR="0" lvl="8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sz="2058" dirty="0"/>
              <a:t>2-1. </a:t>
            </a:r>
            <a:r>
              <a:rPr lang="ko-KR" altLang="en-US" sz="2058" dirty="0"/>
              <a:t>데이터 전처리 및 특징 추출 </a:t>
            </a:r>
            <a:r>
              <a:rPr lang="en-US" altLang="ko-KR" sz="2058" dirty="0"/>
              <a:t>(SOC90</a:t>
            </a:r>
            <a:r>
              <a:rPr lang="ko-KR" altLang="en-US" sz="2058" dirty="0"/>
              <a:t> 충방전 이벤트</a:t>
            </a:r>
            <a:r>
              <a:rPr lang="en-US" altLang="ko-KR" sz="2058" dirty="0"/>
              <a:t>)</a:t>
            </a:r>
            <a:endParaRPr lang="ko-KR" altLang="en-US" sz="2058" dirty="0"/>
          </a:p>
        </p:txBody>
      </p:sp>
    </p:spTree>
    <p:extLst>
      <p:ext uri="{BB962C8B-B14F-4D97-AF65-F5344CB8AC3E}">
        <p14:creationId xmlns:p14="http://schemas.microsoft.com/office/powerpoint/2010/main" val="1363787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73CE-D629-3639-3F5F-F55D5539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1DC66F-C14B-1300-84FA-2A98999B89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023854-3A09-18BE-54AE-CC5E770F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D1422F-BE22-9134-0FF5-18CDA1F71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  <a:r>
              <a:rPr lang="en-US" altLang="ko-KR" dirty="0"/>
              <a:t>(SOC70</a:t>
            </a:r>
            <a:r>
              <a:rPr lang="ko-KR" altLang="en-US" dirty="0"/>
              <a:t> 충방전 이벤트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37578A-6A2D-22ED-BB36-F624027D3E9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7A354-F3BF-02FA-10FA-D3124D4AC86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47297D-27C7-1074-E3EE-8DF0870981F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98672" y="1499969"/>
            <a:ext cx="3266920" cy="21590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6D47CB-C350-4125-8D0C-52CB6A2ACA3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93FE8B1-135A-3047-1FCE-F159FCE299B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4844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27DE-5106-9577-BA02-B75EE121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E41EB5E-9112-E3F0-7266-2F0EE6AA41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96D714A-D2B5-BC94-626E-D39D0B11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3BBD28-6692-71E0-618D-002E33E1F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  <a:r>
              <a:rPr lang="en-US" altLang="ko-KR" dirty="0"/>
              <a:t>(SOC50</a:t>
            </a:r>
            <a:r>
              <a:rPr lang="ko-KR" altLang="en-US" dirty="0"/>
              <a:t> 충방전 이벤트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FAA836-B9C7-E9B5-2877-B2862904967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C511EB-B1F8-DBC1-6747-2078D44C4F6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C648F1F-28B8-F5BD-2399-D1BEC4569F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7"/>
            <a:ext cx="6349333" cy="31878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21DB53-F341-4053-F5BA-72A8A1F0ABD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48C4B74-2572-818C-653E-A5FE478E049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59206" y="1499968"/>
            <a:ext cx="3145851" cy="20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729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03221-F84D-628F-F2F6-B327FEE8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EE1E66-3EAB-87D4-DD0A-5448207F74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A871DE-C7B6-976E-188B-85CDF6AC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19C1DA-0BAC-3464-4F4E-906CCB221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95CCCC-3C0E-7885-4918-1E035BD6A0D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en-US" altLang="ko-KR" b="1" dirty="0" err="1">
                <a:solidFill>
                  <a:schemeClr val="accent1">
                    <a:lumMod val="75000"/>
                  </a:schemeClr>
                </a:solidFill>
              </a:rPr>
              <a:t>Rchg</a:t>
            </a:r>
            <a:r>
              <a:rPr lang="ko-KR" altLang="en-US" dirty="0"/>
              <a:t> </a:t>
            </a:r>
            <a:r>
              <a:rPr lang="en-US" altLang="ko-KR" dirty="0"/>
              <a:t>5s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C/3</a:t>
            </a:r>
            <a:r>
              <a:rPr lang="ko-KR" altLang="en-US" dirty="0"/>
              <a:t> </a:t>
            </a:r>
            <a:r>
              <a:rPr lang="en-US" altLang="ko-KR" dirty="0" err="1"/>
              <a:t>Cpacity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358A924-2994-CD43-808A-4756D3331EB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554CEB9-089F-D3B8-F21B-9B934BBFE36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2067356"/>
            <a:ext cx="10582222" cy="549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417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75BA-4634-AE68-B9FD-F3B6CC64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2AFD58-9621-321D-0BC1-F066388C57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A3840A6-CCD1-32E2-2891-7D8DA6870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6D37B4-583F-2B95-7DD4-17E5793B3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E8A4E6-6E2E-10D6-2A85-D8FD7FCCDEC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en-US" altLang="ko-KR" b="1" dirty="0" err="1">
                <a:solidFill>
                  <a:srgbClr val="FF0000"/>
                </a:solidFill>
              </a:rPr>
              <a:t>Rdch</a:t>
            </a:r>
            <a:r>
              <a:rPr lang="ko-KR" altLang="en-US" dirty="0"/>
              <a:t> </a:t>
            </a:r>
            <a:r>
              <a:rPr lang="en-US" altLang="ko-KR" dirty="0"/>
              <a:t>5s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C/3</a:t>
            </a:r>
            <a:r>
              <a:rPr lang="ko-KR" altLang="en-US" dirty="0"/>
              <a:t> </a:t>
            </a:r>
            <a:r>
              <a:rPr lang="en-US" altLang="ko-KR" dirty="0" err="1"/>
              <a:t>Cpacity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79833CF-59E4-9EA6-5D20-3342D54E69E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F03D46-6D99-083C-018D-1E831A5DF97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2067356"/>
            <a:ext cx="10582222" cy="549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56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19D429-3C57-08F9-5EA1-431DA1F831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E1F16D-DBF7-2D79-FAB3-A8F80D82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9A3E83-D8A6-34BE-CF1A-94C5FD205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상관 분석 및 특징 선택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3EE268-0843-508A-2540-3703DE524C7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sz="1470" dirty="0"/>
              <a:t>SOC50-Charge </a:t>
            </a:r>
            <a:r>
              <a:rPr lang="ko-KR" altLang="en-US" sz="1470" dirty="0"/>
              <a:t>에서의 상관분석 결과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Rchg_10s</a:t>
            </a:r>
            <a:r>
              <a:rPr lang="ko-KR" altLang="en-US" sz="1470" dirty="0"/>
              <a:t>가 가장 높은 상관관계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R_10s</a:t>
            </a:r>
            <a:r>
              <a:rPr lang="ko-KR" altLang="en-US" sz="1470" dirty="0"/>
              <a:t>가 대부분의 고상관관계를 차지 </a:t>
            </a:r>
            <a:r>
              <a:rPr lang="en-US" altLang="ko-KR" sz="1470" dirty="0"/>
              <a:t>(15</a:t>
            </a:r>
            <a:r>
              <a:rPr lang="ko-KR" altLang="en-US" sz="1470" dirty="0"/>
              <a:t>개</a:t>
            </a:r>
            <a:r>
              <a:rPr lang="en-US" altLang="ko-KR" sz="1470" dirty="0"/>
              <a:t>)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R_1s, R_3s, R_5s</a:t>
            </a:r>
            <a:r>
              <a:rPr lang="ko-KR" altLang="en-US" sz="1470" dirty="0"/>
              <a:t>는 </a:t>
            </a:r>
            <a:r>
              <a:rPr lang="en-US" altLang="ko-KR" sz="1470" dirty="0"/>
              <a:t>Capacity_C3</a:t>
            </a:r>
            <a:r>
              <a:rPr lang="ko-KR" altLang="en-US" sz="1470" dirty="0"/>
              <a:t>와 </a:t>
            </a:r>
            <a:r>
              <a:rPr lang="en-US" altLang="ko-KR" sz="1470" dirty="0"/>
              <a:t>|r| &lt; 0.6</a:t>
            </a:r>
            <a:r>
              <a:rPr lang="ko-KR" altLang="en-US" sz="1470" dirty="0"/>
              <a:t>이므로 강조되지 않음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pt-BR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ko-KR" altLang="en-US" sz="1470" dirty="0"/>
          </a:p>
          <a:p>
            <a:endParaRPr lang="ko-KR" altLang="en-US" sz="147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3671C6-6574-F3F2-7336-3AEA4D31385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156C0E9-E6E7-E20A-424E-DA500D13496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61154" y="1964380"/>
            <a:ext cx="6878444" cy="559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334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D80AD8-42C3-3212-B9F5-854DA4D3CB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B9F1473-EDC0-D345-680E-979F8C03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E838A9-FC9D-7CC3-7250-EDAE01FDC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상관 분석 및 특징 선택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416374-0AE4-AA0F-9276-91B20605F85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sz="1470" dirty="0"/>
              <a:t>SOC50-Discharge </a:t>
            </a:r>
            <a:r>
              <a:rPr lang="ko-KR" altLang="en-US" sz="1470" dirty="0"/>
              <a:t>에서의 상관분석 결과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Rchg_1s, Rchg_10s</a:t>
            </a:r>
            <a:r>
              <a:rPr lang="ko-KR" altLang="en-US" sz="1470" dirty="0"/>
              <a:t>가 가장 높은 상관관계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Capacity_C3</a:t>
            </a:r>
            <a:r>
              <a:rPr lang="ko-KR" altLang="en-US" sz="1470" dirty="0"/>
              <a:t>와의 상관계수는 모두 </a:t>
            </a:r>
            <a:r>
              <a:rPr lang="en-US" altLang="ko-KR" sz="1470" dirty="0"/>
              <a:t>|r| &lt; 0.6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R_1s, R_3s</a:t>
            </a:r>
            <a:r>
              <a:rPr lang="ko-KR" altLang="en-US" sz="1470" dirty="0"/>
              <a:t>와 </a:t>
            </a:r>
            <a:r>
              <a:rPr lang="en-US" altLang="ko-KR" sz="1470" dirty="0"/>
              <a:t>RPT </a:t>
            </a:r>
            <a:r>
              <a:rPr lang="ko-KR" altLang="en-US" sz="1470" dirty="0"/>
              <a:t>변수들 간 상관관계 </a:t>
            </a:r>
            <a:r>
              <a:rPr lang="en-US" altLang="ko-KR" sz="1470" dirty="0"/>
              <a:t>(0.60~0.64)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/>
              <a:t>현재 실험 데이터에서는 특징간 높은 상관관계 쌍이 발견되지 않음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/>
              <a:t>그룹별 이상치 제거 </a:t>
            </a:r>
            <a:r>
              <a:rPr lang="en-US" altLang="ko-KR" sz="1470" dirty="0"/>
              <a:t>(IQR):</a:t>
            </a:r>
            <a:br>
              <a:rPr lang="en-US" altLang="ko-KR" sz="1470" dirty="0"/>
            </a:br>
            <a:r>
              <a:rPr lang="en-US" altLang="ko-KR" sz="1470" dirty="0"/>
              <a:t>cycle, </a:t>
            </a:r>
            <a:r>
              <a:rPr lang="ko-KR" altLang="en-US" sz="1470" dirty="0"/>
              <a:t>주행부하</a:t>
            </a:r>
            <a:r>
              <a:rPr lang="en-US" altLang="ko-KR" sz="1470" dirty="0"/>
              <a:t>, SOC </a:t>
            </a:r>
            <a:r>
              <a:rPr lang="ko-KR" altLang="en-US" sz="1470" dirty="0"/>
              <a:t>레벨별로 </a:t>
            </a:r>
            <a:r>
              <a:rPr lang="ko-KR" altLang="en-US" sz="1470"/>
              <a:t>데이터를 그룹화한 후 이상치 제거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ko-KR" altLang="en-US" sz="1470" dirty="0"/>
          </a:p>
          <a:p>
            <a:endParaRPr lang="ko-KR" altLang="en-US" sz="147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213720B-9C6E-0A87-F495-D0FEE42CCBD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75B5844-31B7-C453-8245-4FC6BDAC9C2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61154" y="2010559"/>
            <a:ext cx="6878444" cy="554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199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44A66-D595-256B-FEEC-BE3B9787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29E6C3-F94F-91CB-9556-4D1F34188B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00905A-4D6E-B0F8-E9E8-8D12AB75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A507B3-08DE-405C-BF29-54EBFFD27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모델 학습 및 데이터 분할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6FC841-72EB-F0B3-BA94-8A3538A046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b="1" dirty="0"/>
              <a:t>데이터 분할</a:t>
            </a:r>
            <a:endParaRPr lang="en-US" altLang="ko-KR" b="1" dirty="0"/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latin typeface="Inter"/>
              </a:rPr>
              <a:t>각 </a:t>
            </a:r>
            <a:r>
              <a:rPr lang="en-US" altLang="ko-KR" sz="1470" dirty="0">
                <a:latin typeface="Inter"/>
              </a:rPr>
              <a:t>Fold</a:t>
            </a:r>
            <a:r>
              <a:rPr lang="ko-KR" altLang="en-US" sz="1470" dirty="0">
                <a:latin typeface="Inter"/>
              </a:rPr>
              <a:t>마다 </a:t>
            </a:r>
            <a:r>
              <a:rPr lang="en-US" altLang="ko-KR" sz="1470" b="1" dirty="0">
                <a:latin typeface="Inter"/>
              </a:rPr>
              <a:t>Test Set</a:t>
            </a:r>
            <a:r>
              <a:rPr lang="ko-KR" altLang="en-US" sz="1470" dirty="0">
                <a:latin typeface="Inter"/>
              </a:rPr>
              <a:t>은 </a:t>
            </a:r>
            <a:r>
              <a:rPr lang="en-US" altLang="ko-KR" sz="1470" dirty="0">
                <a:latin typeface="Inter"/>
              </a:rPr>
              <a:t>Group A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</a:t>
            </a:r>
            <a:r>
              <a:rPr lang="en-US" altLang="ko-KR" sz="1470" dirty="0">
                <a:latin typeface="Inter"/>
              </a:rPr>
              <a:t>, Group B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개를 선택하여 총 </a:t>
            </a:r>
            <a:r>
              <a:rPr lang="en-US" altLang="ko-KR" sz="1470" dirty="0">
                <a:latin typeface="Inter"/>
              </a:rPr>
              <a:t>2</a:t>
            </a:r>
            <a:r>
              <a:rPr lang="ko-KR" altLang="en-US" sz="1470" dirty="0">
                <a:latin typeface="Inter"/>
              </a:rPr>
              <a:t>개의 셀로 구성하고</a:t>
            </a:r>
            <a:r>
              <a:rPr lang="en-US" altLang="ko-KR" sz="1470" dirty="0">
                <a:latin typeface="Inter"/>
              </a:rPr>
              <a:t>, </a:t>
            </a:r>
            <a:r>
              <a:rPr lang="ko-KR" altLang="en-US" sz="1470" dirty="0">
                <a:latin typeface="Inter"/>
              </a:rPr>
              <a:t>나머지 </a:t>
            </a:r>
            <a:r>
              <a:rPr lang="en-US" altLang="ko-KR" sz="1470" dirty="0">
                <a:latin typeface="Inter"/>
              </a:rPr>
              <a:t>6</a:t>
            </a:r>
            <a:r>
              <a:rPr lang="ko-KR" altLang="en-US" sz="1470" dirty="0">
                <a:latin typeface="Inter"/>
              </a:rPr>
              <a:t>개 셀은 </a:t>
            </a:r>
            <a:r>
              <a:rPr lang="en-US" altLang="ko-KR" sz="1470" b="1" dirty="0">
                <a:latin typeface="Inter"/>
              </a:rPr>
              <a:t>Train Set</a:t>
            </a:r>
            <a:r>
              <a:rPr lang="ko-KR" altLang="en-US" sz="1470" dirty="0">
                <a:latin typeface="Inter"/>
              </a:rPr>
              <a:t>으로 사용</a:t>
            </a:r>
            <a:endParaRPr lang="en-US" altLang="ko-KR" sz="1470" dirty="0">
              <a:latin typeface="Inter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Group</a:t>
            </a:r>
            <a:r>
              <a:rPr lang="ko-KR" altLang="en-US" sz="1470" dirty="0"/>
              <a:t>으로 분류</a:t>
            </a:r>
            <a:r>
              <a:rPr lang="en-US" altLang="ko-KR" sz="1470" dirty="0"/>
              <a:t>: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A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1C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09, 10, 11, 12 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B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3C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13, 14, 15, 16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1: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[09, 13]      Train: Channel [10, 11, 12, 14, 15, 16]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2: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[10, 14]     Train: Channel [09, 11, 12, 13, 15, 16]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8C8E7E6-5B8F-4B08-494F-B92FE79E0F9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4292" y="7010619"/>
            <a:ext cx="11901367" cy="39856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96AF6A4-6686-D4D3-97BE-5C42D2018C5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4204158"/>
            <a:ext cx="6349333" cy="3205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496114-7A64-4CEB-3C43-032F1EC5B90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4204158"/>
            <a:ext cx="6349333" cy="32050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85124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F5D4-7B8C-49E4-519E-867D52ED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BE47DA8-38C9-00C3-6C52-8562385D1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8088FD3-7EE9-28E0-7A57-7417C548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8D59CB-49E3-3A71-3A5C-D2726A01A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모델 학습 및 데이터 분할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DBCD69-AD69-A560-5192-7ED265573EF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b="1" dirty="0"/>
              <a:t>데이터 분할</a:t>
            </a:r>
            <a:endParaRPr lang="en-US" altLang="ko-KR" b="1" dirty="0"/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latin typeface="Inter"/>
              </a:rPr>
              <a:t>각 </a:t>
            </a:r>
            <a:r>
              <a:rPr lang="en-US" altLang="ko-KR" sz="1470" dirty="0">
                <a:latin typeface="Inter"/>
              </a:rPr>
              <a:t>Fold</a:t>
            </a:r>
            <a:r>
              <a:rPr lang="ko-KR" altLang="en-US" sz="1470" dirty="0">
                <a:latin typeface="Inter"/>
              </a:rPr>
              <a:t>마다 </a:t>
            </a:r>
            <a:r>
              <a:rPr lang="en-US" altLang="ko-KR" sz="1470" b="1" dirty="0">
                <a:latin typeface="Inter"/>
              </a:rPr>
              <a:t>Test Set</a:t>
            </a:r>
            <a:r>
              <a:rPr lang="ko-KR" altLang="en-US" sz="1470" dirty="0">
                <a:latin typeface="Inter"/>
              </a:rPr>
              <a:t>은 </a:t>
            </a:r>
            <a:r>
              <a:rPr lang="en-US" altLang="ko-KR" sz="1470" dirty="0">
                <a:latin typeface="Inter"/>
              </a:rPr>
              <a:t>Group A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</a:t>
            </a:r>
            <a:r>
              <a:rPr lang="en-US" altLang="ko-KR" sz="1470" dirty="0">
                <a:latin typeface="Inter"/>
              </a:rPr>
              <a:t>, Group B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개를 선택하여 총 </a:t>
            </a:r>
            <a:r>
              <a:rPr lang="en-US" altLang="ko-KR" sz="1470" dirty="0">
                <a:latin typeface="Inter"/>
              </a:rPr>
              <a:t>2</a:t>
            </a:r>
            <a:r>
              <a:rPr lang="ko-KR" altLang="en-US" sz="1470" dirty="0">
                <a:latin typeface="Inter"/>
              </a:rPr>
              <a:t>개의 셀로 구성하고</a:t>
            </a:r>
            <a:r>
              <a:rPr lang="en-US" altLang="ko-KR" sz="1470" dirty="0">
                <a:latin typeface="Inter"/>
              </a:rPr>
              <a:t>, </a:t>
            </a:r>
            <a:r>
              <a:rPr lang="ko-KR" altLang="en-US" sz="1470" dirty="0">
                <a:latin typeface="Inter"/>
              </a:rPr>
              <a:t>나머지 </a:t>
            </a:r>
            <a:r>
              <a:rPr lang="en-US" altLang="ko-KR" sz="1470" dirty="0">
                <a:latin typeface="Inter"/>
              </a:rPr>
              <a:t>6</a:t>
            </a:r>
            <a:r>
              <a:rPr lang="ko-KR" altLang="en-US" sz="1470" dirty="0">
                <a:latin typeface="Inter"/>
              </a:rPr>
              <a:t>개 셀은 </a:t>
            </a:r>
            <a:r>
              <a:rPr lang="en-US" altLang="ko-KR" sz="1470" b="1" dirty="0">
                <a:latin typeface="Inter"/>
              </a:rPr>
              <a:t>Train Set</a:t>
            </a:r>
            <a:r>
              <a:rPr lang="ko-KR" altLang="en-US" sz="1470" dirty="0">
                <a:latin typeface="Inter"/>
              </a:rPr>
              <a:t>으로 사용</a:t>
            </a:r>
            <a:endParaRPr lang="en-US" altLang="ko-KR" sz="1470" dirty="0">
              <a:latin typeface="Inter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Group</a:t>
            </a:r>
            <a:r>
              <a:rPr lang="ko-KR" altLang="en-US" sz="1470" dirty="0"/>
              <a:t>으로 분류</a:t>
            </a:r>
            <a:r>
              <a:rPr lang="en-US" altLang="ko-KR" sz="1470" dirty="0"/>
              <a:t>: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A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1C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09, 10, 11, 12 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B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3C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13, 14, 15, 16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3: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[11, 15]     Train: Channel [09, 10, 12, 13, 14, 16]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4: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[12, 16]     Train: Channel [09, 10, 11, 13, 14, 15]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06A2D52-79AD-A692-9C8E-BBAD10EF546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4292" y="7010619"/>
            <a:ext cx="11901367" cy="39856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501AFE-3230-77A2-3BCB-D072DA98F6C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4213457"/>
            <a:ext cx="6349333" cy="3195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4BEB64-58C5-DCC0-6A38-C9F35C55DAE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4205488"/>
            <a:ext cx="6349333" cy="32036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42336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B0D60D-404A-3CB9-3EFB-015A6CACAE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37A78D4-5E39-FB84-A40C-B65FF0B52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E8993A-8B33-739F-5033-66903739A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812C1C-4C98-CF5C-0946-9D2F4BEEE49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7373CDE-7AE5-38FC-AD33-1F8F222AF01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32EA055-3940-EEA7-AFC9-0419C3705E5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1143" y="1499969"/>
            <a:ext cx="4745577" cy="22177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8F7CFCF-AAED-E811-DE52-FB346F5405E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39831" y="1507111"/>
            <a:ext cx="3760111" cy="604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243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B0E6-9137-C3F6-133E-C06C0783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069D0E80-3BF6-44A0-C34E-D19E59BEF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96" y="1233637"/>
            <a:ext cx="12921628" cy="5620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764" dirty="0">
                <a:solidFill>
                  <a:schemeClr val="tx1"/>
                </a:solidFill>
                <a:latin typeface="+mn-lt"/>
              </a:rPr>
              <a:t>필드데이터로부터 라벨 추출을 위한 </a:t>
            </a:r>
            <a:r>
              <a:rPr lang="en-US" altLang="ko-KR" sz="1764" dirty="0">
                <a:solidFill>
                  <a:schemeClr val="tx1"/>
                </a:solidFill>
                <a:latin typeface="+mn-lt"/>
              </a:rPr>
              <a:t>Qmax </a:t>
            </a:r>
            <a:r>
              <a:rPr lang="ko-KR" altLang="en-US" sz="1764" dirty="0">
                <a:solidFill>
                  <a:schemeClr val="tx1"/>
                </a:solidFill>
                <a:latin typeface="+mn-lt"/>
              </a:rPr>
              <a:t>계산</a:t>
            </a:r>
            <a:endParaRPr lang="en-US" altLang="ko-KR" sz="1764" dirty="0">
              <a:solidFill>
                <a:schemeClr val="tx1"/>
              </a:solidFill>
              <a:latin typeface="+mn-lt"/>
            </a:endParaRPr>
          </a:p>
          <a:p>
            <a:pPr marL="923990" lvl="1" indent="-251997"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RPT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측정 데이터로부터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label (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용량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)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확보용</a:t>
            </a:r>
            <a:endParaRPr lang="en-US" altLang="ko-KR" sz="1470" dirty="0">
              <a:solidFill>
                <a:schemeClr val="tx1"/>
              </a:solidFill>
              <a:latin typeface="+mn-lt"/>
            </a:endParaRPr>
          </a:p>
          <a:p>
            <a:pPr marL="923990" lvl="1" indent="-251997"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Lab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RPT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평가에서 확보한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OCV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데이터 사용</a:t>
            </a:r>
            <a:endParaRPr lang="en-US" altLang="ko-KR" sz="147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Google Shape;96;p19">
            <a:extLst>
              <a:ext uri="{FF2B5EF4-FFF2-40B4-BE49-F238E27FC236}">
                <a16:creationId xmlns:a16="http://schemas.microsoft.com/office/drawing/2014/main" id="{2D5471B2-CEDE-56EF-7D54-635CD992F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596" y="-1"/>
            <a:ext cx="11701292" cy="698427"/>
          </a:xfrm>
          <a:prstGeom prst="rect">
            <a:avLst/>
          </a:prstGeom>
        </p:spPr>
        <p:txBody>
          <a:bodyPr spcFirstLastPara="1" wrap="square" lIns="134372" tIns="134372" rIns="134372" bIns="134372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4850"/>
            </a:pPr>
            <a:r>
              <a:rPr lang="en-US" altLang="ko-KR" sz="2352" dirty="0">
                <a:latin typeface="+mn-lt"/>
              </a:rPr>
              <a:t>3. </a:t>
            </a:r>
            <a:r>
              <a:rPr lang="ko-KR" altLang="en-US" sz="2352" dirty="0">
                <a:latin typeface="+mn-lt"/>
              </a:rPr>
              <a:t>정기평가 데이터</a:t>
            </a:r>
            <a:endParaRPr sz="2352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C0B8E0-B31B-AF39-1660-01568AE5E9A8}"/>
                  </a:ext>
                </a:extLst>
              </p:cNvPr>
              <p:cNvSpPr txBox="1"/>
              <p:nvPr/>
            </p:nvSpPr>
            <p:spPr>
              <a:xfrm>
                <a:off x="6812712" y="2935476"/>
                <a:ext cx="6288512" cy="319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Ah</m:t>
                        </m:r>
                      </m:e>
                    </m:d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undOvr"/>
                            <m:ctrlPr>
                              <a:rPr lang="en-US" altLang="ko-KR" sz="1764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64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  <m:brk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brk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1764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ctrlPr>
                                  <a:rPr lang="en-US" altLang="ko-KR" sz="1764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dt</m:t>
                            </m:r>
                          </m:e>
                        </m:nary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/3600</m:t>
                        </m:r>
                      </m:num>
                      <m:den>
                        <m:r>
                          <a:rPr lang="en-US" altLang="ko-KR" sz="1764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SOC</m:t>
                        </m:r>
                      </m:den>
                    </m:f>
                  </m:oMath>
                </a14:m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SOC</m:t>
                    </m:r>
                    <m:d>
                      <m:d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</m:t>
                        </m:r>
                        <m:sSub>
                          <m:sSubPr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</m:t>
                        </m:r>
                        <m:sSub>
                          <m:sSubPr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undOvr"/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dt</m:t>
                            </m:r>
                          </m:e>
                        </m:nary>
                      </m:num>
                      <m:den>
                        <m:nary>
                          <m:naryPr>
                            <m:limLoc m:val="undOvr"/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dt</m:t>
                            </m:r>
                          </m:e>
                        </m:nary>
                      </m:den>
                    </m:f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SOC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SOC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SOC</m:t>
                    </m:r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OCV</m:t>
                    </m:r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764" dirty="0">
                    <a:latin typeface="+mn-lt"/>
                  </a:rPr>
                  <a:t>)</a:t>
                </a:r>
                <a:br>
                  <a:rPr lang="en-US" altLang="ko-KR" sz="1764" dirty="0">
                    <a:latin typeface="+mn-lt"/>
                  </a:rPr>
                </a:br>
                <a:r>
                  <a:rPr lang="ko-KR" altLang="en-US" sz="1764" dirty="0">
                    <a:latin typeface="+mn-lt"/>
                  </a:rPr>
                  <a:t>충전 전 </a:t>
                </a:r>
                <a:r>
                  <a:rPr lang="en-US" altLang="ko-KR" sz="1764" dirty="0">
                    <a:latin typeface="+mn-lt"/>
                  </a:rPr>
                  <a:t>rest </a:t>
                </a:r>
                <a:r>
                  <a:rPr lang="ko-KR" altLang="en-US" sz="1764" dirty="0">
                    <a:latin typeface="+mn-lt"/>
                  </a:rPr>
                  <a:t>구간 마지막 시점 </a:t>
                </a:r>
                <a:r>
                  <a:rPr lang="en-US" altLang="ko-KR" sz="1764" dirty="0">
                    <a:latin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764" dirty="0">
                    <a:latin typeface="+mn-lt"/>
                  </a:rPr>
                  <a:t>)</a:t>
                </a: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SOC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SOC</m:t>
                    </m:r>
                    <m:d>
                      <m:d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OCV</m:t>
                        </m:r>
                        <m:d>
                          <m:dPr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US" altLang="ko-KR" sz="1764" dirty="0">
                    <a:latin typeface="+mn-lt"/>
                    <a:ea typeface="Cambria Math" panose="02040503050406030204" pitchFamily="18" charset="0"/>
                  </a:rPr>
                </a:br>
                <a:r>
                  <a:rPr lang="ko-KR" altLang="en-US" sz="1764" dirty="0">
                    <a:latin typeface="+mn-lt"/>
                  </a:rPr>
                  <a:t>충전 후 </a:t>
                </a:r>
                <a:r>
                  <a:rPr lang="en-US" altLang="ko-KR" sz="1764" dirty="0">
                    <a:latin typeface="+mn-lt"/>
                  </a:rPr>
                  <a:t>rest </a:t>
                </a:r>
                <a:r>
                  <a:rPr lang="ko-KR" altLang="en-US" sz="1764" dirty="0">
                    <a:latin typeface="+mn-lt"/>
                  </a:rPr>
                  <a:t>구간 마지막 시점 </a:t>
                </a:r>
                <a:r>
                  <a:rPr lang="en-US" altLang="ko-KR" sz="1764" dirty="0">
                    <a:latin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764" dirty="0">
                    <a:latin typeface="+mn-lt"/>
                  </a:rPr>
                  <a:t>)</a:t>
                </a:r>
                <a:endParaRPr lang="en-US" altLang="ko-KR" sz="1764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C0B8E0-B31B-AF39-1660-01568AE5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712" y="2935476"/>
                <a:ext cx="6288512" cy="3193054"/>
              </a:xfrm>
              <a:prstGeom prst="rect">
                <a:avLst/>
              </a:prstGeom>
              <a:blipFill>
                <a:blip r:embed="rId2"/>
                <a:stretch>
                  <a:fillRect l="-582" b="-2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888C84-4591-799F-9AD5-05527C027A34}"/>
              </a:ext>
            </a:extLst>
          </p:cNvPr>
          <p:cNvGrpSpPr/>
          <p:nvPr/>
        </p:nvGrpSpPr>
        <p:grpSpPr>
          <a:xfrm>
            <a:off x="653021" y="2935475"/>
            <a:ext cx="6494254" cy="3174667"/>
            <a:chOff x="436812" y="1633750"/>
            <a:chExt cx="4418602" cy="2160000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922C7A6-A3BA-93BD-7B97-721433BAFC36}"/>
                </a:ext>
              </a:extLst>
            </p:cNvPr>
            <p:cNvGrpSpPr/>
            <p:nvPr/>
          </p:nvGrpSpPr>
          <p:grpSpPr>
            <a:xfrm>
              <a:off x="436812" y="1633750"/>
              <a:ext cx="4418602" cy="2160000"/>
              <a:chOff x="214122" y="1336177"/>
              <a:chExt cx="4418602" cy="2160000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54F46C10-A0CA-B848-EEF3-590C2568E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b="50000"/>
              <a:stretch>
                <a:fillRect/>
              </a:stretch>
            </p:blipFill>
            <p:spPr>
              <a:xfrm>
                <a:off x="214122" y="1336177"/>
                <a:ext cx="4136536" cy="216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64B0EDDB-F01D-6655-8C36-401F08AF88F7}"/>
                      </a:ext>
                    </a:extLst>
                  </p:cNvPr>
                  <p:cNvSpPr txBox="1"/>
                  <p:nvPr/>
                </p:nvSpPr>
                <p:spPr>
                  <a:xfrm>
                    <a:off x="2687243" y="2486113"/>
                    <a:ext cx="1945481" cy="27833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𝐒𝐎</m:t>
                          </m:r>
                          <m:sSub>
                            <m:sSub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58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altLang="ko-KR" sz="2058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𝐎𝐂𝐕</m:t>
                          </m:r>
                          <m:d>
                            <m:d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58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br>
                      <a:rPr lang="en-US" altLang="ko-KR" sz="2058" b="1" dirty="0">
                        <a:solidFill>
                          <a:schemeClr val="tx1"/>
                        </a:solidFill>
                        <a:latin typeface="+mn-lt"/>
                      </a:rPr>
                    </a:br>
                    <a:endParaRPr lang="ko-KR" altLang="en-US" sz="2058" b="1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64B0EDDB-F01D-6655-8C36-401F08AF88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87243" y="2486113"/>
                    <a:ext cx="1945481" cy="278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641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E4F2ED3-A398-35F5-AA7A-571628B20A3E}"/>
                      </a:ext>
                    </a:extLst>
                  </p:cNvPr>
                  <p:cNvSpPr txBox="1"/>
                  <p:nvPr/>
                </p:nvSpPr>
                <p:spPr>
                  <a:xfrm>
                    <a:off x="741762" y="2991145"/>
                    <a:ext cx="1945481" cy="27829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2058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𝑺𝑶</m:t>
                          </m:r>
                          <m:sSub>
                            <m:sSub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𝐎𝐂𝐕</m:t>
                          </m:r>
                          <m:d>
                            <m:d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58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2058" b="1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E4F2ED3-A398-35F5-AA7A-571628B20A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1762" y="2991145"/>
                    <a:ext cx="1945481" cy="27829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641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0557035-7680-40C1-4FCB-127DA132887B}"/>
                </a:ext>
              </a:extLst>
            </p:cNvPr>
            <p:cNvSpPr/>
            <p:nvPr/>
          </p:nvSpPr>
          <p:spPr>
            <a:xfrm>
              <a:off x="1859601" y="3261341"/>
              <a:ext cx="70917" cy="709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58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6D7B277-E878-79C3-23EA-BE2ADB626117}"/>
                </a:ext>
              </a:extLst>
            </p:cNvPr>
            <p:cNvSpPr/>
            <p:nvPr/>
          </p:nvSpPr>
          <p:spPr>
            <a:xfrm>
              <a:off x="3635265" y="3253259"/>
              <a:ext cx="70917" cy="709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58"/>
            </a:p>
          </p:txBody>
        </p:sp>
      </p:grp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CE1AF9CB-8637-A8C8-2011-61643B11AD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65</a:t>
            </a:fld>
            <a:endParaRPr lang="ko" altLang="en-US"/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B4ED69A1-0F48-89CB-2CFB-09B362CFF859}"/>
              </a:ext>
            </a:extLst>
          </p:cNvPr>
          <p:cNvSpPr txBox="1">
            <a:spLocks/>
          </p:cNvSpPr>
          <p:nvPr/>
        </p:nvSpPr>
        <p:spPr>
          <a:xfrm>
            <a:off x="-197718" y="639103"/>
            <a:ext cx="11591503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9111" tIns="134372" rIns="134372" bIns="134372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●"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altLang="ko-KR" sz="2352" dirty="0"/>
              <a:t>3-1. </a:t>
            </a:r>
            <a:r>
              <a:rPr lang="ko-KR" altLang="en-US" sz="2352" dirty="0"/>
              <a:t>계산방식</a:t>
            </a:r>
          </a:p>
        </p:txBody>
      </p:sp>
    </p:spTree>
    <p:extLst>
      <p:ext uri="{BB962C8B-B14F-4D97-AF65-F5344CB8AC3E}">
        <p14:creationId xmlns:p14="http://schemas.microsoft.com/office/powerpoint/2010/main" val="5728663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AB8D5-4E3E-669A-6BA3-8828EB7D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4850"/>
            </a:pPr>
            <a:r>
              <a:rPr lang="en-US" altLang="ko-KR" sz="2352" dirty="0">
                <a:latin typeface="+mn-lt"/>
              </a:rPr>
              <a:t>3. </a:t>
            </a:r>
            <a:r>
              <a:rPr lang="ko-KR" altLang="en-US" sz="2352" dirty="0">
                <a:latin typeface="+mn-lt"/>
              </a:rPr>
              <a:t>정기평가 데이터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EF9109-B460-A33A-7542-E0853D2103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9597" y="4385008"/>
            <a:ext cx="3128321" cy="31746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EA391B-248D-1CE0-6011-44A76816322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87185" y="65843"/>
            <a:ext cx="3128321" cy="317466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1F712B-0044-9809-6E55-13731F9193CA}"/>
              </a:ext>
            </a:extLst>
          </p:cNvPr>
          <p:cNvSpPr/>
          <p:nvPr/>
        </p:nvSpPr>
        <p:spPr>
          <a:xfrm>
            <a:off x="404974" y="3601883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2021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B1BB2B-B2A2-396A-C65A-1ACF21F898CE}"/>
              </a:ext>
            </a:extLst>
          </p:cNvPr>
          <p:cNvSpPr/>
          <p:nvPr/>
        </p:nvSpPr>
        <p:spPr>
          <a:xfrm>
            <a:off x="5688433" y="2598220"/>
            <a:ext cx="2446395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2025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C3BBAC-8F1F-3222-180B-8B4C9B38F399}"/>
              </a:ext>
            </a:extLst>
          </p:cNvPr>
          <p:cNvSpPr/>
          <p:nvPr/>
        </p:nvSpPr>
        <p:spPr>
          <a:xfrm>
            <a:off x="404974" y="7097697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2023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5585D-A5A7-DB75-5DE4-BF0B64E54A0D}"/>
              </a:ext>
            </a:extLst>
          </p:cNvPr>
          <p:cNvSpPr txBox="1"/>
          <p:nvPr/>
        </p:nvSpPr>
        <p:spPr>
          <a:xfrm>
            <a:off x="6187183" y="3240512"/>
            <a:ext cx="7160847" cy="1407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70" b="1" dirty="0"/>
              <a:t>결과 요약 </a:t>
            </a:r>
            <a:r>
              <a:rPr lang="en-US" altLang="ko-KR" sz="1470" b="1" dirty="0"/>
              <a:t>(2021, 2023, 2025)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>
                <a:ea typeface="Cambria Math" panose="02040503050406030204" pitchFamily="18" charset="0"/>
              </a:rPr>
              <a:t>RPT </a:t>
            </a:r>
            <a:r>
              <a:rPr lang="ko-KR" altLang="en-US" sz="1470" dirty="0"/>
              <a:t>수행한 날짜에서</a:t>
            </a:r>
            <a:r>
              <a:rPr lang="en-US" altLang="ko-KR" sz="1470" dirty="0"/>
              <a:t> </a:t>
            </a:r>
            <a:r>
              <a:rPr lang="ko-KR" altLang="en-US" sz="1470" dirty="0"/>
              <a:t>용량 추출</a:t>
            </a:r>
            <a:endParaRPr lang="en-US" altLang="ko-KR" sz="1470" dirty="0"/>
          </a:p>
          <a:p>
            <a:pPr marL="793673" lvl="2" indent="-41998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70" dirty="0"/>
              <a:t>21</a:t>
            </a:r>
            <a:r>
              <a:rPr lang="ko-KR" altLang="en-US" sz="1470" dirty="0"/>
              <a:t>년</a:t>
            </a:r>
            <a:r>
              <a:rPr lang="en-US" altLang="ko-KR" sz="1470" dirty="0"/>
              <a:t>: 95%(61Ah). 23</a:t>
            </a:r>
            <a:r>
              <a:rPr lang="ko-KR" altLang="en-US" sz="1470" dirty="0"/>
              <a:t>년</a:t>
            </a:r>
            <a:r>
              <a:rPr lang="en-US" altLang="ko-KR" sz="1470" dirty="0"/>
              <a:t>: 80%(51Ah), 25</a:t>
            </a:r>
            <a:r>
              <a:rPr lang="ko-KR" altLang="en-US" sz="1470" dirty="0"/>
              <a:t>년</a:t>
            </a:r>
            <a:r>
              <a:rPr lang="en-US" altLang="ko-KR" sz="1470" dirty="0"/>
              <a:t>: 78%(50Ah)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/>
              <a:t>SOH </a:t>
            </a:r>
            <a:r>
              <a:rPr lang="ko-KR" altLang="en-US" sz="1470" dirty="0"/>
              <a:t>변화</a:t>
            </a:r>
            <a:endParaRPr lang="en-US" altLang="ko-KR" sz="147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613E2B7A-ED6F-A46D-14A9-43DF0A0523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𝑩𝑴𝑺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000" b="1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값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𝐎𝐂𝐕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𝒊𝒏𝒕𝒆𝒓𝒑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613E2B7A-ED6F-A46D-14A9-43DF0A0523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214444" r="-216352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321591" r="-216352" b="-1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50245713-A683-4C4A-FC8E-184DB38BAA7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0870" y="848371"/>
            <a:ext cx="3127047" cy="27943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52F401D-E396-7A4E-32ED-F1C4F0EB587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848370"/>
            <a:ext cx="2201102" cy="315350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314FFC9-AA81-0299-4A72-780C7070371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4424291"/>
            <a:ext cx="2201102" cy="313538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76FBDD8-39F1-8DC1-498D-03DD4BEABBC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79786" y="81716"/>
            <a:ext cx="2201102" cy="31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481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06883B-243E-9D58-F8A6-9343891F1C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67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C01580E-1D1D-026E-430A-6C2A1C76680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4D70244E-16F8-DF75-791C-ED06908A819A}"/>
              </a:ext>
            </a:extLst>
          </p:cNvPr>
          <p:cNvSpPr txBox="1">
            <a:spLocks/>
          </p:cNvSpPr>
          <p:nvPr/>
        </p:nvSpPr>
        <p:spPr>
          <a:xfrm>
            <a:off x="179596" y="1233637"/>
            <a:ext cx="12921628" cy="562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72" tIns="67168" rIns="134372" bIns="67168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707"/>
              </a:spcBef>
              <a:spcAft>
                <a:spcPts val="0"/>
              </a:spcAft>
              <a:buClr>
                <a:schemeClr val="dk2"/>
              </a:buClr>
              <a:buSzPts val="3086"/>
              <a:buFont typeface="Arial"/>
              <a:buNone/>
              <a:defRPr sz="1400" b="1" i="0" u="none" strike="noStrike" cap="none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586461" marR="0" lvl="1" indent="-254378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646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9691" marR="0" lvl="2" indent="-236417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205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72923" marR="0" lvl="3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66152" marR="0" lvl="4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759383" marR="0" lvl="5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052614" marR="0" lvl="6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345844" marR="0" lvl="7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39075" marR="0" lvl="8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ko-KR" sz="1470" dirty="0"/>
          </a:p>
        </p:txBody>
      </p:sp>
      <p:sp>
        <p:nvSpPr>
          <p:cNvPr id="16" name="제목 2">
            <a:extLst>
              <a:ext uri="{FF2B5EF4-FFF2-40B4-BE49-F238E27FC236}">
                <a16:creationId xmlns:a16="http://schemas.microsoft.com/office/drawing/2014/main" id="{2B392058-DDB6-5EFE-DA13-2F6935A9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정기평가 데이터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E80C857D-9DAA-1499-49F1-DB8D90752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3-2. 2024</a:t>
            </a:r>
            <a:r>
              <a:rPr lang="ko-KR" altLang="en-US" dirty="0"/>
              <a:t>년 추정결과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F7B578-79CB-F528-E17C-BF9727FA58D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4303" y="1710762"/>
            <a:ext cx="5283999" cy="5362281"/>
          </a:xfrm>
          <a:prstGeom prst="rect">
            <a:avLst/>
          </a:prstGeom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744C2BB-D369-EB34-5046-F7BE8E724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3927"/>
              </p:ext>
            </p:extLst>
          </p:nvPr>
        </p:nvGraphicFramePr>
        <p:xfrm>
          <a:off x="6033006" y="1732163"/>
          <a:ext cx="7216961" cy="50211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8893">
                  <a:extLst>
                    <a:ext uri="{9D8B030D-6E8A-4147-A177-3AD203B41FA5}">
                      <a16:colId xmlns:a16="http://schemas.microsoft.com/office/drawing/2014/main" val="3385108834"/>
                    </a:ext>
                  </a:extLst>
                </a:gridCol>
                <a:gridCol w="1451931">
                  <a:extLst>
                    <a:ext uri="{9D8B030D-6E8A-4147-A177-3AD203B41FA5}">
                      <a16:colId xmlns:a16="http://schemas.microsoft.com/office/drawing/2014/main" val="196817382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80715717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261056472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582927381"/>
                    </a:ext>
                  </a:extLst>
                </a:gridCol>
              </a:tblGrid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Chg02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Dchg03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10377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Start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12:55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14:14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95960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End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13:13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18:27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0581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Rest1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00:53:44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00:57:17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6099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Rest2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00:04:03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00:15:08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29499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SOC1(EST)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19.4945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70.9528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6720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SOC2(EST)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70.4381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69.1924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3491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SOC(EST)</a:t>
                      </a:r>
                      <a:endParaRPr lang="en-US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50.9436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11.3586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37.6666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50.7857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1202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SOC1(Raw)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2305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SOC2(Raw)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66.5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67.5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52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30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△</a:t>
                      </a:r>
                      <a:r>
                        <a:rPr lang="en-US" sz="1300" b="1" u="none" strike="noStrike" dirty="0">
                          <a:effectLst/>
                        </a:rPr>
                        <a:t>SOC(Raw)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39.5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53.5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89159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56.5491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50.3407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57.7066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56.2451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3561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57.6163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51.9816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55.0282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53.3915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226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 err="1">
                          <a:effectLst/>
                        </a:rPr>
                        <a:t>Idt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28.8082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5.718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21.7361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28.5644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82168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OCV1(EST)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9462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OCV2(EST)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3.867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3.559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7697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9893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I2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0.9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82129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7309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SOH(EST)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88.358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78.6573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90.1666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87.883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88577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90.0255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81.2212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85.9816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83.4242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201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9778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0E37-DDBB-63DD-B69C-F78CFCA2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A1363C-A34D-F78A-FB6D-9D663894E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B0F279C-A806-3566-3BA0-FF543885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772607-CCC2-921D-0173-35636A0E5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(Ch09)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8669E0-793C-BC38-1A7E-0F578D14378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FAAEA8A-A052-4DCA-99BB-1663FB511CB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B41F9A-2750-F542-F01C-E7447E215D7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09605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016A1-93D7-7F1A-40A7-DD12CA76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3D75DAB-29FF-F30F-8E1D-D330343604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D9633A9-AEF4-4440-1C20-2DA8BA81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2A19B0-9FED-E100-FB7D-0CDCEED39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(Ch10)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9D912F-7014-7D56-E1F0-AA7B6E4F2E5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373918F-7F7E-7444-ECA7-4674053618C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D8C3D2-C186-BF92-ECB4-EAA74907A1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77686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3C42-B304-342C-0C52-69CB68E92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3E36384-8F86-5995-14E4-ABD6789B1F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F74B38F-1BD0-2EA2-D45F-3C026129A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40CCB8-B011-0CB5-2A55-A16ADD8BA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(Ch11)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75FCFF-667C-B4E9-BA1B-8C58069C26F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022D548-D718-73D7-D39A-4BC0664AC62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F4C589B-390A-B891-3F70-0C174742C3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69979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4ACA-E6CC-654E-8FFF-312D4F51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0A102A-BFF8-C2FE-A7CA-8CC1FD2347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FE0E6A6-288A-D844-9C4C-22DD87CA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BB505B-0709-26F2-6FBF-2F57894A4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(Ch12)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2A1C38-96CD-88D8-1180-A65D960F034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FE0C1CC-01E3-2771-E7DF-D563DAB7933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DE36E56-8DD2-D3FB-0D43-296E6872FA4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951785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6003-8565-23A8-CEF7-D04B2D77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B6731-1793-2668-66CF-4F6F2E640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320762E-75BB-CA4C-6319-DA8F403D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036E25-2AB8-52D3-26FD-ECE4D9CA7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(Ch13)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548EFA-6466-2D66-51AC-ED10DD2A1ED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0C44BA3-0BF8-7712-B096-9FCEC48C220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417F32-1286-0A22-2FEE-DFB5E6F166B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74051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20220-9365-CD7D-211B-1DEEEA50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2F81E9-0E31-3DF9-38CF-B4B53AA11E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CE1B8F-1730-FBA3-4142-40323B2B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A62051-3A15-4338-A45D-DC8E79E07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FAAEDE-C5D2-28FA-60ED-D6B946DBBF4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D971EDB-42AC-4402-F6E2-D14415CBC59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45EAA2-3EDE-45F4-2368-1120ED5BCBB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84026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5392-3511-D005-A6B4-4E1315CD0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452065-31BF-2D6A-5261-930CCC746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A940B34-2E61-9AA4-268A-BFCBED31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68193C-3097-2F5D-6E13-3E1212C1B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(Ch15)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2AAC32-342D-9A05-E4CB-0985CCB1BC5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2A54E8-DF9F-19EC-C8DA-451EED3010A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1A6D4B-ED52-2E08-00BB-3194C012D11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62973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DE73-AA75-DCC6-C61E-2A8652A7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64782F-4EB1-FF3F-C77C-AD757447BC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C13A83-3BA7-D1D0-8D2C-BC503241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77187-C2A4-B13F-21E5-533575917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(Ch16)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385400-3B2B-0863-B0ED-A652E47DEE1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9C58E93-B9CA-DA83-3589-2627B0A4B5D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586F2D-C83E-0C88-D77C-95ED8E93AF8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8134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E508-0496-6701-788C-86E35D45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7CFE99-D1EE-AF40-AB20-1B270EBF68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127E605-1C94-99B4-0ACE-A9AE987C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44E67B-EEB0-3033-EA22-FDA5CC957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1sec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AC8A8A-CDE8-B21B-F56A-D4B5EF2BAE9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7B1772-D59E-BE92-6D75-65E708672A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1642133-2C03-1B28-F67E-CEFB361130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-1"/>
            <a:ext cx="7136185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48DD98-D9BB-00CD-B826-5EC3E6D693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5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73504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66066D-8959-8183-CB13-6FD2F1FF8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FA297C-A575-275A-FA88-21E8ECAD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79517-9F70-EF00-F6F8-84B07B16C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3sec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EDC8AD-0FDE-8D84-78A5-8AFD367EEE3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BECB117-7D45-C7DC-DC91-BA7D837E1E3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D3CE2C9-AA6E-C804-EAB5-76D7477C16F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-1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6B178D-0F3D-1B60-6E4C-3A904C423D3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75167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BB52-F519-31F1-52F3-14814C8F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4EB39B-6452-4C67-8E1C-65F58D013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CEE9AF-31AD-B452-C8F7-0560DFA5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A8A8D3-AC47-A8AA-6ABB-8AB669C32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5sec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5417D8-7DC1-FC8A-3172-B3B51602FA7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096C418-E8F0-B5FE-B5D6-1305A837CBF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7666FC4-C2A8-0A69-BBF5-D66454D8073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-1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27F5AB9-0129-81E8-12C8-BEF9472930C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95270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1BDFB-C5B8-0DCB-6B67-8179F6AB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8B8F3F3-BBB1-510F-D002-7FB9E960B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1151BA8-C02C-A04B-496C-9DC5AA7C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AC7FB8-0323-A1D0-BB35-F985E3F1B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10sec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04F17E-010D-7441-130D-5180201D6EA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76F59FD-6E3C-CF21-F3DC-97C882B75BD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FF1147-6C1D-4D75-AD78-EA9074D52AC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12055" y="-1"/>
            <a:ext cx="7215666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9AEEBB1-B83D-E514-3838-777974614EC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79139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EFD3-0238-3F2E-1EE1-CD19CE43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EC96D0-482A-E11A-524A-52C136B8E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A321013-3C65-32FC-420E-2C29E490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4AA58C-EB38-FDC6-5B04-6704F6D8F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30sec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9B68FA-5DF1-6D83-26EF-ABCACD7840F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18E4904-438C-DB3A-8E0D-36D93EC337C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2F34C3-EDE4-4490-8790-CF0B325F112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12055" y="-1"/>
            <a:ext cx="7215666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59214F-4606-8022-E89D-950AF5B1DCD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34738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F7D6-51ED-5A11-30D7-BC125C8B7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3F8B41-5742-AFD8-ABC7-E5E26E4685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A822E6D-E089-1731-D737-E360B046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41E5D2-B29C-B9F8-940A-1E661DD42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60sec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647331-E10D-3349-70E2-E4243A2A125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E212868-2097-87EC-654D-A75BB062AF2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D889DC-B7F0-1B56-E9A7-3A538AEF0AB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12055" y="-1"/>
            <a:ext cx="7215666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397CC65-89ED-3777-D2F0-5FBECAD3F33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23484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D2BB1A-D892-8A14-EA3A-6E978E46E2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6E1E1E-26E7-AC63-8A18-E5EE9101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745B55-362F-5842-9896-525942D6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SOC90 </a:t>
            </a:r>
            <a:r>
              <a:rPr lang="ko-KR" altLang="en-US" dirty="0"/>
              <a:t>충방전 이벤트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BA4B8A-01FF-8596-8B46-567A78FF58D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81B2064-AF4B-906F-AFDA-802C0660E6D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545D986-B8AD-6895-FF27-8C861DB1E47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7B0C84C-6B2C-A1C5-291F-30328A7F76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C8BCAA-7244-D9CA-B1C1-F44405C3E174}"/>
              </a:ext>
            </a:extLst>
          </p:cNvPr>
          <p:cNvPicPr>
            <a:picLocks noChangeAspect="1"/>
          </p:cNvPicPr>
          <p:nvPr/>
        </p:nvPicPr>
        <p:blipFill>
          <a:blip/>
          <a:srcRect l="1012"/>
          <a:stretch>
            <a:fillRect/>
          </a:stretch>
        </p:blipFill>
        <p:spPr>
          <a:xfrm>
            <a:off x="5129271" y="1499968"/>
            <a:ext cx="3205724" cy="21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070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12677-6828-0C4D-937F-3B66D17D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A150F1-BA89-84FC-A9CB-DDD8207690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538F74D-77EF-4BE2-D9BC-ADFFBC91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B98154-F4AE-C304-C336-C45108017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SOC70 </a:t>
            </a:r>
            <a:r>
              <a:rPr lang="ko-KR" altLang="en-US" dirty="0"/>
              <a:t>충방전 이벤트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AD7999-A3CE-3A2C-C258-FDDC79652B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26E0FB8-63F5-59A0-8AF6-10A688AF4D2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7D986A1-2302-1E78-0A7D-959BF37FF6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98672" y="1499969"/>
            <a:ext cx="3266920" cy="21590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571BEED-543C-F887-ED96-BCDE4B461D4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30DDC6C-2AE6-5095-897A-2B79177DE76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48802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AC09-7EA1-B5D1-B4EC-49A0BD4B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56906F-9FE1-2882-0202-FEC596D8B1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BFB9735-BD82-F327-8091-F2155E99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B5E8A3-5493-813D-B65B-9611F6623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SOC50 </a:t>
            </a:r>
            <a:r>
              <a:rPr lang="ko-KR" altLang="en-US" dirty="0"/>
              <a:t>충방전 이벤트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AF34CD-A4DE-EC6E-8872-0FDCC415713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123373-E711-B153-083C-8A029847554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FA03EC0-9B98-7C35-C035-01D64687B30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7"/>
            <a:ext cx="6349333" cy="31878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FF2F7B-9477-6DB3-9CEB-97ECF219A5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474C9AB-6E3C-2EB1-4B3A-508D412E5FE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59206" y="1499968"/>
            <a:ext cx="3145851" cy="20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917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0EC817-0BD4-AA9D-CC40-448AE344A0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85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2043E9-4774-847B-2FA5-7EF9B25198C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1623C40-5C2A-FE8E-A4A8-31AEE52EACD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C3C2296-450E-AAF1-6864-D835D68C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D29F5C28-6866-DBBE-4E35-91D584AF9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Correlation Heatmap SOC90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282BAF5-B563-7E6E-0B42-BDD41D823A7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2437414"/>
            <a:ext cx="6349333" cy="51222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9359D6-B536-4971-FDCE-39619FBA8E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2394788"/>
            <a:ext cx="6349333" cy="516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642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B5FC8C8-C64D-F6B9-F277-DC97451DA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90694AE-6B01-7420-F977-FC461A72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998A46-C1A6-0147-5D24-34D6B3E51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Correlation Heatmap SOC70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E3A54C-6E9B-B9EA-7F2A-CF2CDCC9ADD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7234272-03CE-9C83-CF3F-E0FEA85600C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D86A7F-27EA-7F83-A7B5-347E535240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2394786"/>
            <a:ext cx="6349333" cy="51648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81D280F-F74E-3CB5-E741-2E2DEA99DE8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2437412"/>
            <a:ext cx="6349333" cy="512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606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A36C06-09BC-FA73-8F54-4CB774995D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566B818-7A7C-0852-04B2-5050BD3A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D3A391-27AA-8432-7225-628A90B8E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1 (Test Channels: [9, 13])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43ACF-88CC-E4EA-F434-5744A48808F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9CCDEB-2E87-E66A-3990-47E1B0AC07F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4ACFAF-230A-1C91-176A-60CDB2E05A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8"/>
            <a:ext cx="10582222" cy="53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850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2EDA-DFFD-91DA-4095-5CB006BF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103171-DE2A-3EA2-B838-9CECCDF29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AD8A94-BD9C-2167-6E11-2715D50F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450DFA-3D56-7118-93BF-33913748F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2 (Test Channels: [10, 14])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B88EB4-0016-B674-3252-DECD9BFCA88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02A9D53-7A2E-DA13-DE9B-C63E685BFBC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012C2A-4208-49E3-1064-42DF79C8E0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8"/>
            <a:ext cx="10582222" cy="53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395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3C0103D-F16D-E32F-0708-CF5E982244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D5D537-0AD6-8C0B-EAAE-FFC653F1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02431-FFDF-3FB8-9530-A3F5C2996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2 (Test Channels: [11, 15])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82E78A-B7C9-C91F-72FE-0532D24EBE2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D8C37B-3784-9F59-EC31-CCC7408090D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8789D8-F404-13C9-7A30-DDD1C147563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9"/>
            <a:ext cx="10582222" cy="532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5216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7FE2A-136F-DA6F-65F5-288F486EC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D95D80-CC65-4953-E40C-ED64C9938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F2BE62-F09B-0997-0F9D-BF019026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44DD67-56CC-0677-4BA2-662A84FF1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2 (Test Channels: [12, 16])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56ADE2-4B57-2527-583D-D0BDA9821F4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5D6686A-0846-B1A6-6750-E6EA0AD4267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F4E601-6DCE-F911-53C8-52276E9FA7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8"/>
            <a:ext cx="10582222" cy="53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625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6573E4-D65C-88E5-9F2B-1D65D84C33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AC4884-440A-51F5-F537-94198357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필터링 조건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8439E0-246E-3A4E-D140-D09924A21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BE77D-5D7B-A00F-BDAF-347D103EC8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6B0AF01-4E89-58A3-5BAC-1DB684D452F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2F347DE-2617-65C7-4C4A-A6EAE16F2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193477"/>
              </p:ext>
            </p:extLst>
          </p:nvPr>
        </p:nvGraphicFramePr>
        <p:xfrm>
          <a:off x="214124" y="1499969"/>
          <a:ext cx="13036020" cy="2156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6335">
                  <a:extLst>
                    <a:ext uri="{9D8B030D-6E8A-4147-A177-3AD203B41FA5}">
                      <a16:colId xmlns:a16="http://schemas.microsoft.com/office/drawing/2014/main" val="99916501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444227104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548578212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1641097969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2433323931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3204692339"/>
                    </a:ext>
                  </a:extLst>
                </a:gridCol>
                <a:gridCol w="6518010">
                  <a:extLst>
                    <a:ext uri="{9D8B030D-6E8A-4147-A177-3AD203B41FA5}">
                      <a16:colId xmlns:a16="http://schemas.microsoft.com/office/drawing/2014/main" val="3320053395"/>
                    </a:ext>
                  </a:extLst>
                </a:gridCol>
              </a:tblGrid>
              <a:tr h="209550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===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충전 이벤트 필터링 조건 및 제거 통계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===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4257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단계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필터링 조건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</a:rPr>
                        <a:t>기준값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단위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제거 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전체 대비 비율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설명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6156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최소 지속시간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&lt; 10.0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10185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61.90%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이벤트 지속시간이 </a:t>
                      </a:r>
                      <a:r>
                        <a:rPr lang="en-US" altLang="ko-KR" sz="1100" u="none" strike="noStrike" dirty="0">
                          <a:effectLst/>
                        </a:rPr>
                        <a:t>10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2958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충전 방향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&lt; 50%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비율 </a:t>
                      </a:r>
                      <a:r>
                        <a:rPr lang="en-US" altLang="ko-KR" sz="1100" u="none" strike="noStrike" dirty="0">
                          <a:effectLst/>
                        </a:rPr>
                        <a:t>(%)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양의 전류 비율이 </a:t>
                      </a:r>
                      <a:r>
                        <a:rPr lang="en-US" altLang="ko-KR" sz="1100" u="none" strike="noStrike">
                          <a:effectLst/>
                        </a:rPr>
                        <a:t>50% </a:t>
                      </a:r>
                      <a:r>
                        <a:rPr lang="ko-KR" altLang="en-US" sz="1100" u="none" strike="noStrike">
                          <a:effectLst/>
                        </a:rPr>
                        <a:t>미만인 경우 제거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방전 이벤트로 판단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11417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안정 구간 길이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10.0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</a:rPr>
                        <a:t>이벤트 시작 후 </a:t>
                      </a:r>
                      <a:r>
                        <a:rPr lang="en-US" altLang="ko-KR" sz="1100" u="none" strike="noStrike" dirty="0">
                          <a:effectLst/>
                        </a:rPr>
                        <a:t>3~10</a:t>
                      </a:r>
                      <a:r>
                        <a:rPr lang="ko-KR" altLang="en-US" sz="1100" u="none" strike="noStrike" dirty="0">
                          <a:effectLst/>
                        </a:rPr>
                        <a:t>초</a:t>
                      </a:r>
                      <a:r>
                        <a:rPr lang="en-US" altLang="ko-KR" sz="1100" u="none" strike="noStrike" dirty="0">
                          <a:effectLst/>
                        </a:rPr>
                        <a:t>) </a:t>
                      </a:r>
                      <a:r>
                        <a:rPr lang="ko-KR" altLang="en-US" sz="1100" u="none" strike="noStrike" dirty="0">
                          <a:effectLst/>
                        </a:rPr>
                        <a:t>길이가 </a:t>
                      </a:r>
                      <a:r>
                        <a:rPr lang="en-US" altLang="ko-KR" sz="1100" u="none" strike="noStrike" dirty="0">
                          <a:effectLst/>
                        </a:rPr>
                        <a:t>10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04478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전류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&gt;= 2.00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암페어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A)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1.50%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 전류 표준편차가 </a:t>
                      </a:r>
                      <a:r>
                        <a:rPr lang="en-US" altLang="ko-KR" sz="1100" u="none" strike="noStrike" dirty="0">
                          <a:effectLst/>
                        </a:rPr>
                        <a:t>2.00 A </a:t>
                      </a:r>
                      <a:r>
                        <a:rPr lang="ko-KR" altLang="en-US" sz="1100" u="none" strike="noStrike" dirty="0">
                          <a:effectLst/>
                        </a:rPr>
                        <a:t>이상인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81912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변동계수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CV)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200.0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퍼센트 </a:t>
                      </a:r>
                      <a:r>
                        <a:rPr lang="en-US" altLang="ko-KR" sz="1100" u="none" strike="noStrike" dirty="0">
                          <a:effectLst/>
                        </a:rPr>
                        <a:t>(%)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CV = std(I)/|mean(I)| &gt;= 2.0 (200%)</a:t>
                      </a:r>
                      <a:r>
                        <a:rPr lang="ko-KR" altLang="en-US" sz="1100" u="none" strike="noStrike" dirty="0">
                          <a:effectLst/>
                        </a:rPr>
                        <a:t>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4454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전력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0.024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킬로와트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kW)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 전력 표준편차가 </a:t>
                      </a:r>
                      <a:r>
                        <a:rPr lang="en-US" altLang="ko-KR" sz="1100" u="none" strike="noStrike" dirty="0">
                          <a:effectLst/>
                        </a:rPr>
                        <a:t>0.024 kW </a:t>
                      </a:r>
                      <a:r>
                        <a:rPr lang="ko-KR" altLang="en-US" sz="1100" u="none" strike="noStrike" dirty="0">
                          <a:effectLst/>
                        </a:rPr>
                        <a:t>이상인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06174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컷팅 후 최소 길이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5.0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0.60%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안정 구간만 남기고 불안정한 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끝 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을 제거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컷팅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한 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남은 이벤트 길이가 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초 미만인 경우 제거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30002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6D385C-0E7B-C89F-1547-A2E87D623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17551"/>
              </p:ext>
            </p:extLst>
          </p:nvPr>
        </p:nvGraphicFramePr>
        <p:xfrm>
          <a:off x="214124" y="3878839"/>
          <a:ext cx="13036020" cy="22917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6335">
                  <a:extLst>
                    <a:ext uri="{9D8B030D-6E8A-4147-A177-3AD203B41FA5}">
                      <a16:colId xmlns:a16="http://schemas.microsoft.com/office/drawing/2014/main" val="2868749970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3223231312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4012025314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3427154132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1942445796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1458084393"/>
                    </a:ext>
                  </a:extLst>
                </a:gridCol>
                <a:gridCol w="6518010">
                  <a:extLst>
                    <a:ext uri="{9D8B030D-6E8A-4147-A177-3AD203B41FA5}">
                      <a16:colId xmlns:a16="http://schemas.microsoft.com/office/drawing/2014/main" val="2913374344"/>
                    </a:ext>
                  </a:extLst>
                </a:gridCol>
              </a:tblGrid>
              <a:tr h="209550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===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방전 이벤트 필터링 조건 및 제거 통계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===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0324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단계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필터링 조건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기준값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단위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제거 개수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전체 대비 비율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설명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1641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최소 지속시간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30.0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10185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61.90%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이벤트 지속시간이 </a:t>
                      </a:r>
                      <a:r>
                        <a:rPr lang="en-US" altLang="ko-KR" sz="1100" u="none" strike="noStrike" dirty="0">
                          <a:effectLst/>
                        </a:rPr>
                        <a:t>30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7921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방전 방향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모두 음의 전류 아님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모든 전류가 음수가 아닌 경우 제거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충전 이벤트로 판단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8762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안정 구간 길이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3.0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초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</a:rPr>
                        <a:t>이벤트 끝까지</a:t>
                      </a:r>
                      <a:r>
                        <a:rPr lang="en-US" altLang="ko-KR" sz="1100" u="none" strike="noStrike" dirty="0">
                          <a:effectLst/>
                        </a:rPr>
                        <a:t>) </a:t>
                      </a:r>
                      <a:r>
                        <a:rPr lang="ko-KR" altLang="en-US" sz="1100" u="none" strike="noStrike" dirty="0">
                          <a:effectLst/>
                        </a:rPr>
                        <a:t>길이가 </a:t>
                      </a:r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6994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전류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0.10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암페어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A)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1.50%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 전류 표준편차가 </a:t>
                      </a:r>
                      <a:r>
                        <a:rPr lang="en-US" altLang="ko-KR" sz="1100" u="none" strike="noStrike" dirty="0">
                          <a:effectLst/>
                        </a:rPr>
                        <a:t>0.10 A </a:t>
                      </a:r>
                      <a:r>
                        <a:rPr lang="ko-KR" altLang="en-US" sz="1100" u="none" strike="noStrike" dirty="0">
                          <a:effectLst/>
                        </a:rPr>
                        <a:t>이상인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92948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변동계수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CV)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10.0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퍼센트 </a:t>
                      </a:r>
                      <a:r>
                        <a:rPr lang="en-US" altLang="ko-KR" sz="1100" u="none" strike="noStrike">
                          <a:effectLst/>
                        </a:rPr>
                        <a:t>(%)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CV = std(I)/|mean(I)| &gt;= 0.1 (10%)</a:t>
                      </a:r>
                      <a:r>
                        <a:rPr lang="ko-KR" altLang="en-US" sz="1100" u="none" strike="noStrike" dirty="0">
                          <a:effectLst/>
                        </a:rPr>
                        <a:t>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0712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전력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0.024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킬로와트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kW)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안정 구간 전력 표준편차가 </a:t>
                      </a:r>
                      <a:r>
                        <a:rPr lang="en-US" altLang="ko-KR" sz="1100" u="none" strike="noStrike">
                          <a:effectLst/>
                        </a:rPr>
                        <a:t>0.024 kW </a:t>
                      </a:r>
                      <a:r>
                        <a:rPr lang="ko-KR" altLang="en-US" sz="1100" u="none" strike="noStrike">
                          <a:effectLst/>
                        </a:rPr>
                        <a:t>이상인 경우 제거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5877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컷팅 후 최소 길이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5.0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초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0.60%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안정 구간만 남기고 불안정한 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끝 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을 제거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컷팅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한 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남은 이벤트 길이가 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초 미만인 경우 제거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967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077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17ADAA-4356-9B3C-85D0-D7D45D4F22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AA069D1-D927-7BCE-8F83-017B9357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KEPCO </a:t>
            </a:r>
            <a:r>
              <a:rPr lang="ko-KR" altLang="en-US" dirty="0"/>
              <a:t>미팅 피드백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AA16EB-2602-1C26-DC48-D5180515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00E6EE-2128-EB7D-9806-FFE8A116E2A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0" lvl="1" indent="0">
              <a:buSzPct val="100000"/>
              <a:buNone/>
            </a:pPr>
            <a:r>
              <a:rPr lang="en-US" altLang="ko-KR" sz="1200" dirty="0">
                <a:hlinkClick r:id="rId2"/>
              </a:rPr>
              <a:t>2025_12_29-KEPCO,</a:t>
            </a:r>
            <a:r>
              <a:rPr lang="ko-KR" altLang="en-US" sz="1200" dirty="0">
                <a:hlinkClick r:id="rId2"/>
              </a:rPr>
              <a:t> </a:t>
            </a:r>
            <a:r>
              <a:rPr lang="en-US" altLang="ko-KR" sz="1200" dirty="0">
                <a:hlinkClick r:id="rId2"/>
              </a:rPr>
              <a:t>CNU</a:t>
            </a:r>
            <a:r>
              <a:rPr lang="ko-KR" altLang="en-US" sz="1200" dirty="0">
                <a:hlinkClick r:id="rId2"/>
              </a:rPr>
              <a:t> 회의록</a:t>
            </a:r>
            <a:endParaRPr lang="en-US" altLang="ko-KR" sz="12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E15D00-8376-B85C-11E4-F369ED4CD58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75285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EEC1609-232E-8842-33FD-249C2C55DF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3370175-7856-FF42-4A74-00A59224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752AE-543F-14FA-B8F3-FA4A7905F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82D8B6-3700-297F-7BD7-F0E7AD0778D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884018D-15F9-4C83-7A1E-4B27DEFFAEB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C86F3D-4DA4-1783-0BA4-2C502E9BAB8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121" y="1499969"/>
            <a:ext cx="9516423" cy="605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3962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5D7487-95BA-00FF-5467-12CB2FA27A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83A4334-1D55-48C0-9964-1D7064B1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36B421-C28A-F10C-F508-D9F0D9F1B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A898F2-851F-7A85-8BCE-2A18396924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86416" y="1509205"/>
            <a:ext cx="13036017" cy="534686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/>
              <a:t>랩데이터</a:t>
            </a:r>
            <a:r>
              <a:rPr lang="en-US" altLang="ko-KR" sz="1400" dirty="0"/>
              <a:t>(0 to</a:t>
            </a:r>
            <a:r>
              <a:rPr lang="ko-KR" altLang="en-US" sz="1400" dirty="0"/>
              <a:t> </a:t>
            </a:r>
            <a:r>
              <a:rPr lang="en-US" altLang="ko-KR" sz="1400" dirty="0"/>
              <a:t>1000cyc) 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/>
              <a:t>필드데이터 </a:t>
            </a:r>
            <a:r>
              <a:rPr lang="en-US" altLang="ko-KR" sz="1400" dirty="0"/>
              <a:t>(4</a:t>
            </a:r>
            <a:r>
              <a:rPr lang="ko-KR" altLang="en-US" sz="1400" dirty="0"/>
              <a:t>년치</a:t>
            </a:r>
            <a:r>
              <a:rPr lang="en-US" altLang="ko-KR" sz="1400" dirty="0"/>
              <a:t>) </a:t>
            </a:r>
            <a:r>
              <a:rPr lang="ko-KR" altLang="en-US" sz="1400" dirty="0"/>
              <a:t>정기평가 </a:t>
            </a:r>
            <a:r>
              <a:rPr lang="ko-KR" altLang="en-US" sz="1400" dirty="0">
                <a:sym typeface="Wingdings" panose="05000000000000000000" pitchFamily="2" charset="2"/>
              </a:rPr>
              <a:t>데이터 활용 </a:t>
            </a:r>
            <a:r>
              <a:rPr lang="en-US" altLang="ko-KR" sz="1400" dirty="0">
                <a:sym typeface="Wingdings" panose="05000000000000000000" pitchFamily="2" charset="2"/>
              </a:rPr>
              <a:t>– dQdV</a:t>
            </a:r>
            <a:r>
              <a:rPr lang="ko-KR" altLang="en-US" sz="1400" dirty="0">
                <a:sym typeface="Wingdings" panose="05000000000000000000" pitchFamily="2" charset="2"/>
              </a:rPr>
              <a:t>곡선 확인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신규데이터 포함해서 곡선 송부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자료준비 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시각화</a:t>
            </a:r>
            <a:r>
              <a:rPr lang="en-US" altLang="ko-KR" sz="1400" dirty="0">
                <a:sym typeface="Wingdings" panose="05000000000000000000" pitchFamily="2" charset="2"/>
              </a:rPr>
              <a:t>,</a:t>
            </a:r>
            <a:r>
              <a:rPr lang="ko-KR" altLang="en-US" sz="1400" dirty="0">
                <a:sym typeface="Wingdings" panose="05000000000000000000" pitchFamily="2" charset="2"/>
              </a:rPr>
              <a:t>의문점</a:t>
            </a:r>
            <a:r>
              <a:rPr lang="en-US" altLang="ko-KR" sz="1400" dirty="0">
                <a:sym typeface="Wingdings" panose="05000000000000000000" pitchFamily="2" charset="2"/>
              </a:rPr>
              <a:t>,</a:t>
            </a:r>
            <a:r>
              <a:rPr lang="ko-KR" altLang="en-US" sz="1400" dirty="0">
                <a:sym typeface="Wingdings" panose="05000000000000000000" pitchFamily="2" charset="2"/>
              </a:rPr>
              <a:t>방법론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 반드시 가져와서 </a:t>
            </a:r>
            <a:r>
              <a:rPr lang="ko-KR" altLang="en-US" sz="1400" dirty="0" err="1">
                <a:sym typeface="Wingdings" panose="05000000000000000000" pitchFamily="2" charset="2"/>
              </a:rPr>
              <a:t>논의할것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결론에 대해 논의 </a:t>
            </a:r>
            <a:r>
              <a:rPr lang="ko-KR" altLang="en-US" sz="1400" dirty="0" err="1">
                <a:sym typeface="Wingdings" panose="05000000000000000000" pitchFamily="2" charset="2"/>
              </a:rPr>
              <a:t>할수있도록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en-US" altLang="ko-KR" sz="1400" dirty="0">
                <a:sym typeface="Wingdings" panose="05000000000000000000" pitchFamily="2" charset="2"/>
              </a:rPr>
              <a:t>ATB Lab </a:t>
            </a:r>
            <a:r>
              <a:rPr lang="ko-KR" altLang="en-US" sz="1400" dirty="0">
                <a:sym typeface="Wingdings" panose="05000000000000000000" pitchFamily="2" charset="2"/>
              </a:rPr>
              <a:t>피드백 정리 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이미 진행했던 </a:t>
            </a:r>
            <a:r>
              <a:rPr lang="en-US" altLang="ko-KR" sz="1400" dirty="0">
                <a:sym typeface="Wingdings" panose="05000000000000000000" pitchFamily="2" charset="2"/>
              </a:rPr>
              <a:t>(dQdV) </a:t>
            </a:r>
            <a:r>
              <a:rPr lang="ko-KR" altLang="en-US" sz="1400" dirty="0">
                <a:sym typeface="Wingdings" panose="05000000000000000000" pitchFamily="2" charset="2"/>
              </a:rPr>
              <a:t>부분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endParaRPr lang="en-US" altLang="ko-KR" sz="2245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주행데이터를 사용할 수 있는 방안 모색  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ym typeface="Wingdings" panose="05000000000000000000" pitchFamily="2" charset="2"/>
              </a:rPr>
              <a:t>ㅁ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3BAABAE-6D05-C0DE-A75D-03322F77251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706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FCFC5C-72A0-008D-BCD4-E08ED0900B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03D0625-D5B2-9C90-6F71-7BCAA093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35035F-C013-B788-ECA0-B809F9BF9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5F232D-0EA9-F153-7D43-F6E6A7B68C0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57200" indent="-457200">
              <a:buSzPct val="100000"/>
              <a:buAutoNum type="arabicPeriod"/>
            </a:pPr>
            <a:r>
              <a:rPr lang="ko-KR" altLang="en-US" sz="1800" dirty="0"/>
              <a:t>랩데이터</a:t>
            </a:r>
            <a:endParaRPr lang="en-US" altLang="ko-KR" sz="1800" dirty="0"/>
          </a:p>
          <a:p>
            <a:pPr marL="1204880" lvl="1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800" dirty="0"/>
              <a:t>충전</a:t>
            </a:r>
            <a:r>
              <a:rPr lang="en-US" altLang="ko-KR" sz="1800" dirty="0"/>
              <a:t>, </a:t>
            </a:r>
            <a:r>
              <a:rPr lang="ko-KR" altLang="en-US" sz="1800" dirty="0"/>
              <a:t>방전 이벤트 필터링</a:t>
            </a:r>
            <a:endParaRPr lang="en-US" altLang="ko-KR" sz="1800" dirty="0"/>
          </a:p>
          <a:p>
            <a:pPr marL="120488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ko-KR" sz="1800" dirty="0"/>
              <a:t>dQdV (1/C </a:t>
            </a:r>
            <a:r>
              <a:rPr lang="ko-KR" altLang="en-US" sz="1800" dirty="0"/>
              <a:t>데이터</a:t>
            </a:r>
            <a:r>
              <a:rPr lang="en-US" altLang="ko-KR" sz="1800" dirty="0"/>
              <a:t>)</a:t>
            </a: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altLang="ko-KR" sz="1800" dirty="0"/>
          </a:p>
          <a:p>
            <a:pPr marL="457200" indent="-457200">
              <a:buSzPct val="100000"/>
              <a:buFont typeface="+mj-lt"/>
              <a:buAutoNum type="arabicPeriod" startAt="2"/>
            </a:pPr>
            <a:r>
              <a:rPr lang="ko-KR" altLang="en-US" sz="1800" dirty="0"/>
              <a:t>필드데이터</a:t>
            </a:r>
            <a:endParaRPr lang="en-US" altLang="ko-KR" sz="1800" dirty="0"/>
          </a:p>
          <a:p>
            <a:pPr marL="120488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ko-KR" sz="1800" dirty="0"/>
              <a:t>dQdV (</a:t>
            </a:r>
            <a:r>
              <a:rPr lang="ko-KR" altLang="en-US" sz="1800" dirty="0"/>
              <a:t>정기평가 데이터</a:t>
            </a:r>
            <a:r>
              <a:rPr lang="en-US" altLang="ko-KR" sz="1800" dirty="0"/>
              <a:t>)</a:t>
            </a:r>
          </a:p>
          <a:p>
            <a:pPr>
              <a:buSzPct val="100000"/>
            </a:pPr>
            <a:endParaRPr lang="en-US" altLang="ko-KR" sz="1800" dirty="0"/>
          </a:p>
          <a:p>
            <a:pPr marL="457200" indent="-457200">
              <a:buSzPct val="100000"/>
              <a:buAutoNum type="arabicPeriod" startAt="2"/>
            </a:pPr>
            <a:r>
              <a:rPr lang="en-US" altLang="ko-KR" sz="1800" dirty="0"/>
              <a:t>ATB Lab </a:t>
            </a:r>
            <a:r>
              <a:rPr lang="ko-KR" altLang="en-US" sz="1800" dirty="0"/>
              <a:t>피드백</a:t>
            </a:r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6676040-974D-B256-50FF-47660B27976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869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C8EA1-5E4D-57EE-C68C-DD962EE2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CC60C6-44EF-D6E2-96AF-C111BCB81F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BD2C0D-9DB5-3B14-930E-36778068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B32318-77F1-A5A7-7F57-0ED1E8FEF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1-1. </a:t>
            </a:r>
            <a:r>
              <a:rPr lang="ko-KR" altLang="en-US" dirty="0"/>
              <a:t>이벤트 추출 로직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A2BDB0-9D29-4F1B-81AB-4C4CEBE862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전류가 일정한 </a:t>
            </a:r>
            <a:r>
              <a:rPr lang="en-US" altLang="ko-KR" sz="1200" dirty="0"/>
              <a:t>CC </a:t>
            </a:r>
            <a:r>
              <a:rPr lang="ko-KR" altLang="en-US" sz="1200" dirty="0"/>
              <a:t>충전</a:t>
            </a:r>
            <a:r>
              <a:rPr lang="en-US" altLang="ko-KR" sz="1200" dirty="0"/>
              <a:t>/</a:t>
            </a:r>
            <a:r>
              <a:rPr lang="ko-KR" altLang="en-US" sz="1200" dirty="0"/>
              <a:t>방전 구간에서의 </a:t>
            </a:r>
            <a:r>
              <a:rPr lang="ko-KR" altLang="en-US" sz="1200" dirty="0" err="1"/>
              <a:t>저항값</a:t>
            </a:r>
            <a:r>
              <a:rPr lang="ko-KR" altLang="en-US" sz="1200" dirty="0"/>
              <a:t> 산출</a:t>
            </a:r>
            <a:endParaRPr lang="en-US" altLang="ko-KR" sz="12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모든 주행부하 </a:t>
            </a:r>
            <a:r>
              <a:rPr lang="en-US" altLang="ko-KR" sz="1200" dirty="0"/>
              <a:t>(8</a:t>
            </a:r>
            <a:r>
              <a:rPr lang="ko-KR" altLang="en-US" sz="1200" dirty="0"/>
              <a:t>개</a:t>
            </a:r>
            <a:r>
              <a:rPr lang="en-US" altLang="ko-KR" sz="1200" dirty="0"/>
              <a:t>)</a:t>
            </a:r>
            <a:r>
              <a:rPr lang="ko-KR" altLang="en-US" sz="1200" dirty="0"/>
              <a:t>에서 </a:t>
            </a:r>
            <a:r>
              <a:rPr lang="en-US" altLang="ko-KR" sz="1200" dirty="0"/>
              <a:t>1</a:t>
            </a:r>
            <a:r>
              <a:rPr lang="ko-KR" altLang="en-US" sz="1200" dirty="0"/>
              <a:t>개 이상의 충전</a:t>
            </a:r>
            <a:r>
              <a:rPr lang="en-US" altLang="ko-KR" sz="1200" dirty="0"/>
              <a:t>/</a:t>
            </a:r>
            <a:r>
              <a:rPr lang="ko-KR" altLang="en-US" sz="1200" dirty="0"/>
              <a:t>방전 이벤트 검출이 목표</a:t>
            </a:r>
            <a:endParaRPr lang="en-US" altLang="ko-KR" sz="12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모든 </a:t>
            </a:r>
            <a:r>
              <a:rPr lang="en-US" altLang="ko-KR" sz="1200" dirty="0"/>
              <a:t>cycle, soc, </a:t>
            </a:r>
            <a:r>
              <a:rPr lang="ko-KR" altLang="en-US" sz="1200" dirty="0"/>
              <a:t>채널 통계표</a:t>
            </a:r>
            <a:endParaRPr lang="en-US" altLang="ko-KR" sz="12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403BCB7-7C57-FC84-CF6B-00439CE7BCA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F048B92-6EB9-C11C-B4F5-216583DDD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87894"/>
              </p:ext>
            </p:extLst>
          </p:nvPr>
        </p:nvGraphicFramePr>
        <p:xfrm>
          <a:off x="936170" y="2564797"/>
          <a:ext cx="11591925" cy="242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126">
                  <a:extLst>
                    <a:ext uri="{9D8B030D-6E8A-4147-A177-3AD203B41FA5}">
                      <a16:colId xmlns:a16="http://schemas.microsoft.com/office/drawing/2014/main" val="2670434635"/>
                    </a:ext>
                  </a:extLst>
                </a:gridCol>
                <a:gridCol w="2162802">
                  <a:extLst>
                    <a:ext uri="{9D8B030D-6E8A-4147-A177-3AD203B41FA5}">
                      <a16:colId xmlns:a16="http://schemas.microsoft.com/office/drawing/2014/main" val="4093919766"/>
                    </a:ext>
                  </a:extLst>
                </a:gridCol>
                <a:gridCol w="2043885">
                  <a:extLst>
                    <a:ext uri="{9D8B030D-6E8A-4147-A177-3AD203B41FA5}">
                      <a16:colId xmlns:a16="http://schemas.microsoft.com/office/drawing/2014/main" val="3103675949"/>
                    </a:ext>
                  </a:extLst>
                </a:gridCol>
                <a:gridCol w="2140505">
                  <a:extLst>
                    <a:ext uri="{9D8B030D-6E8A-4147-A177-3AD203B41FA5}">
                      <a16:colId xmlns:a16="http://schemas.microsoft.com/office/drawing/2014/main" val="2144523794"/>
                    </a:ext>
                  </a:extLst>
                </a:gridCol>
                <a:gridCol w="2071137">
                  <a:extLst>
                    <a:ext uri="{9D8B030D-6E8A-4147-A177-3AD203B41FA5}">
                      <a16:colId xmlns:a16="http://schemas.microsoft.com/office/drawing/2014/main" val="2461474638"/>
                    </a:ext>
                  </a:extLst>
                </a:gridCol>
                <a:gridCol w="2638470">
                  <a:extLst>
                    <a:ext uri="{9D8B030D-6E8A-4147-A177-3AD203B41FA5}">
                      <a16:colId xmlns:a16="http://schemas.microsoft.com/office/drawing/2014/main" val="2533314377"/>
                    </a:ext>
                  </a:extLst>
                </a:gridCol>
              </a:tblGrid>
              <a:tr h="316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 err="1">
                          <a:effectLst/>
                        </a:rPr>
                        <a:t>총후보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en-US" altLang="ko-KR" sz="1400" b="1" u="none" strike="noStrike" dirty="0" err="1">
                          <a:effectLst/>
                        </a:rPr>
                        <a:t>Idle→Charge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전환점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지속시간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&lt; 30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초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표준편차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std &gt; 2.0A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전류방향 변경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최종 채택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충전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311197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6,372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4,338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1,440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594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35842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6,580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4,753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369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1,458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186887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7,677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6,084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797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145905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6,147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4,617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468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1,062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373138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3,393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2,466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693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51992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4,221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3,096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691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336914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4,365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3,456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773968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5,453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4,718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337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397512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전체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44,208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33,528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4,591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0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6,089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2018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0619CBD-5AF8-79D9-975F-AF0E073AA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808442"/>
              </p:ext>
            </p:extLst>
          </p:nvPr>
        </p:nvGraphicFramePr>
        <p:xfrm>
          <a:off x="936170" y="5138345"/>
          <a:ext cx="11591925" cy="242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126">
                  <a:extLst>
                    <a:ext uri="{9D8B030D-6E8A-4147-A177-3AD203B41FA5}">
                      <a16:colId xmlns:a16="http://schemas.microsoft.com/office/drawing/2014/main" val="2493123004"/>
                    </a:ext>
                  </a:extLst>
                </a:gridCol>
                <a:gridCol w="2162802">
                  <a:extLst>
                    <a:ext uri="{9D8B030D-6E8A-4147-A177-3AD203B41FA5}">
                      <a16:colId xmlns:a16="http://schemas.microsoft.com/office/drawing/2014/main" val="76426935"/>
                    </a:ext>
                  </a:extLst>
                </a:gridCol>
                <a:gridCol w="2043885">
                  <a:extLst>
                    <a:ext uri="{9D8B030D-6E8A-4147-A177-3AD203B41FA5}">
                      <a16:colId xmlns:a16="http://schemas.microsoft.com/office/drawing/2014/main" val="2507084198"/>
                    </a:ext>
                  </a:extLst>
                </a:gridCol>
                <a:gridCol w="2140505">
                  <a:extLst>
                    <a:ext uri="{9D8B030D-6E8A-4147-A177-3AD203B41FA5}">
                      <a16:colId xmlns:a16="http://schemas.microsoft.com/office/drawing/2014/main" val="3868040836"/>
                    </a:ext>
                  </a:extLst>
                </a:gridCol>
                <a:gridCol w="2071137">
                  <a:extLst>
                    <a:ext uri="{9D8B030D-6E8A-4147-A177-3AD203B41FA5}">
                      <a16:colId xmlns:a16="http://schemas.microsoft.com/office/drawing/2014/main" val="848126138"/>
                    </a:ext>
                  </a:extLst>
                </a:gridCol>
                <a:gridCol w="2638470">
                  <a:extLst>
                    <a:ext uri="{9D8B030D-6E8A-4147-A177-3AD203B41FA5}">
                      <a16:colId xmlns:a16="http://schemas.microsoft.com/office/drawing/2014/main" val="1755488984"/>
                    </a:ext>
                  </a:extLst>
                </a:gridCol>
              </a:tblGrid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 err="1">
                          <a:effectLst/>
                        </a:rPr>
                        <a:t>총후보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en-US" altLang="ko-KR" sz="1400" b="1" u="none" strike="noStrike" dirty="0" err="1">
                          <a:effectLst/>
                        </a:rPr>
                        <a:t>Idle→Discharge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전환점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지속시간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&lt; 30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초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표준편차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std &gt; 2.0A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전류방향 변경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최종 채택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방전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402820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6,213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5,070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747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3198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4,041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2,979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567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495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390384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5,751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4,725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711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315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70829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4,420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3,610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297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308248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3,204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2,592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891103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3,681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2,916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666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593735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4,401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3,339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765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297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927690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5,578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4,453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1,026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134362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전체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37,289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29,684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5,292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0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2,313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175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06303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0E5BC1-4E78-1896-4B35-C8C94434AC41}"/>
              </a:ext>
            </a:extLst>
          </p:cNvPr>
          <p:cNvSpPr/>
          <p:nvPr/>
        </p:nvSpPr>
        <p:spPr>
          <a:xfrm>
            <a:off x="0" y="9530"/>
            <a:ext cx="13439775" cy="754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12F2EB-75F1-2671-ECB4-50F2501328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97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5BC6173-F491-D339-79A9-B6FF3C34172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D8E4EAC-DD66-46C8-1FA1-8591028F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73" y="1079837"/>
            <a:ext cx="10791029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53627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49F5-F36A-7328-B27A-AF45A052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D8116B-8596-A9B0-648D-7A8E4EE4EB73}"/>
              </a:ext>
            </a:extLst>
          </p:cNvPr>
          <p:cNvSpPr/>
          <p:nvPr/>
        </p:nvSpPr>
        <p:spPr>
          <a:xfrm>
            <a:off x="0" y="9530"/>
            <a:ext cx="13439775" cy="754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86FB862-B5A8-EEE8-B560-17A8675615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98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66EFA00-8DD4-7C95-9A4A-11921B4A9D3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29C258-B19D-18F1-26A7-E3A69D17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674" y="1079837"/>
            <a:ext cx="10822427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40616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44FD-9DF7-54CE-2965-4BC225F68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83C8ED9-EC0C-C952-F2A6-5F1E044D98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1D11436-3310-EF62-8157-474E41477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D77E91-63CC-1EB0-B36A-E8A8A6EF8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142169-F86B-DBA1-7538-32475A53B4D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필드데이터와 동일한 방법으로 </a:t>
            </a:r>
            <a:r>
              <a:rPr lang="en-US" altLang="ko-KR" sz="1200" dirty="0"/>
              <a:t>dQdV </a:t>
            </a:r>
            <a:r>
              <a:rPr lang="ko-KR" altLang="en-US" sz="1200" dirty="0"/>
              <a:t>곡선 추출 </a:t>
            </a:r>
            <a:r>
              <a:rPr lang="en-US" altLang="ko-KR" sz="1200" dirty="0"/>
              <a:t>(</a:t>
            </a:r>
            <a:r>
              <a:rPr lang="ko-KR" altLang="en-US" sz="1200" dirty="0"/>
              <a:t>채널별</a:t>
            </a:r>
            <a:r>
              <a:rPr lang="en-US" altLang="ko-KR" sz="1200" dirty="0"/>
              <a:t>)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79A510C-9590-758D-F790-B14F7348F68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51373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1E92-0234-96C4-EE26-C710F888E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DE21D-25B9-F8AD-CC6B-DC0E361B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4850"/>
            </a:pPr>
            <a:r>
              <a:rPr lang="en-US" altLang="ko-KR" sz="2352" dirty="0">
                <a:latin typeface="+mn-lt"/>
              </a:rPr>
              <a:t>2. </a:t>
            </a:r>
            <a:r>
              <a:rPr lang="ko-KR" altLang="en-US" sz="2352" dirty="0">
                <a:latin typeface="+mn-lt"/>
              </a:rPr>
              <a:t>필드데이터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58F9FC-D4EE-EF0F-5A89-8D3F58E6007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9597" y="4385008"/>
            <a:ext cx="3128321" cy="31746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59F458-A7E8-7493-443D-43DC1680156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87185" y="65843"/>
            <a:ext cx="3128321" cy="317466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28B7A6-AC70-F3B7-04C4-B494FCF63264}"/>
              </a:ext>
            </a:extLst>
          </p:cNvPr>
          <p:cNvSpPr/>
          <p:nvPr/>
        </p:nvSpPr>
        <p:spPr>
          <a:xfrm>
            <a:off x="404974" y="3601883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2021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89BFE3-7360-39F5-008C-CBD48A5D5E2F}"/>
              </a:ext>
            </a:extLst>
          </p:cNvPr>
          <p:cNvSpPr/>
          <p:nvPr/>
        </p:nvSpPr>
        <p:spPr>
          <a:xfrm>
            <a:off x="5688433" y="2598220"/>
            <a:ext cx="2446395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2025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560C58-A4F3-1ADB-65AC-6D37CFE162F1}"/>
              </a:ext>
            </a:extLst>
          </p:cNvPr>
          <p:cNvSpPr/>
          <p:nvPr/>
        </p:nvSpPr>
        <p:spPr>
          <a:xfrm>
            <a:off x="404974" y="7097697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2023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E14A4-3066-C34D-A3A0-C32C539C3CC8}"/>
              </a:ext>
            </a:extLst>
          </p:cNvPr>
          <p:cNvSpPr txBox="1"/>
          <p:nvPr/>
        </p:nvSpPr>
        <p:spPr>
          <a:xfrm>
            <a:off x="6187183" y="3240512"/>
            <a:ext cx="7160847" cy="1407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70" b="1" dirty="0"/>
              <a:t>결과 요약 </a:t>
            </a:r>
            <a:r>
              <a:rPr lang="en-US" altLang="ko-KR" sz="1470" b="1" dirty="0"/>
              <a:t>(2021, 2023, 2025)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>
                <a:ea typeface="Cambria Math" panose="02040503050406030204" pitchFamily="18" charset="0"/>
              </a:rPr>
              <a:t>RPT </a:t>
            </a:r>
            <a:r>
              <a:rPr lang="ko-KR" altLang="en-US" sz="1470" dirty="0"/>
              <a:t>수행한 날짜에서</a:t>
            </a:r>
            <a:r>
              <a:rPr lang="en-US" altLang="ko-KR" sz="1470" dirty="0"/>
              <a:t> </a:t>
            </a:r>
            <a:r>
              <a:rPr lang="ko-KR" altLang="en-US" sz="1470" dirty="0"/>
              <a:t>용량 추출</a:t>
            </a:r>
            <a:endParaRPr lang="en-US" altLang="ko-KR" sz="1470" dirty="0"/>
          </a:p>
          <a:p>
            <a:pPr marL="793673" lvl="2" indent="-41998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70" dirty="0"/>
              <a:t>21</a:t>
            </a:r>
            <a:r>
              <a:rPr lang="ko-KR" altLang="en-US" sz="1470" dirty="0"/>
              <a:t>년</a:t>
            </a:r>
            <a:r>
              <a:rPr lang="en-US" altLang="ko-KR" sz="1470" dirty="0"/>
              <a:t>: 95%(61Ah). 23</a:t>
            </a:r>
            <a:r>
              <a:rPr lang="ko-KR" altLang="en-US" sz="1470" dirty="0"/>
              <a:t>년</a:t>
            </a:r>
            <a:r>
              <a:rPr lang="en-US" altLang="ko-KR" sz="1470" dirty="0"/>
              <a:t>: 80%(51Ah), 25</a:t>
            </a:r>
            <a:r>
              <a:rPr lang="ko-KR" altLang="en-US" sz="1470" dirty="0"/>
              <a:t>년</a:t>
            </a:r>
            <a:r>
              <a:rPr lang="en-US" altLang="ko-KR" sz="1470" dirty="0"/>
              <a:t>: 78%(50Ah)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/>
              <a:t>SOH </a:t>
            </a:r>
            <a:r>
              <a:rPr lang="ko-KR" altLang="en-US" sz="1470" dirty="0"/>
              <a:t>변화</a:t>
            </a:r>
            <a:endParaRPr lang="en-US" altLang="ko-KR" sz="147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CAE0BB4F-1A75-255A-02F3-B584480C2E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𝑩𝑴𝑺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000" b="1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값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𝐎𝐂𝐕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𝒊𝒏𝒕𝒆𝒓𝒑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613E2B7A-ED6F-A46D-14A9-43DF0A0523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214444" r="-216352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321591" r="-216352" b="-1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34B91FCC-F25F-1723-B413-A6F3B127D36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0870" y="848371"/>
            <a:ext cx="3127047" cy="27943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64E97FC-A8D7-2400-284B-35725B99773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848370"/>
            <a:ext cx="2201102" cy="315350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0419633-0EB3-8AA9-321F-CD1C037A7F3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4424291"/>
            <a:ext cx="2201102" cy="313538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0942CAE-3819-F3EA-4515-FC98EE265A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79786" y="81716"/>
            <a:ext cx="2201102" cy="31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0989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FB73-CBA7-EDD3-071E-78B9BA678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948FFA-27AA-82A6-2556-C7F599FA2D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101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9E23FD4-8625-866F-FA70-A3D1601E01D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A2D4E290-E408-1BF3-3E2D-47DCF89BEBD9}"/>
              </a:ext>
            </a:extLst>
          </p:cNvPr>
          <p:cNvSpPr txBox="1">
            <a:spLocks/>
          </p:cNvSpPr>
          <p:nvPr/>
        </p:nvSpPr>
        <p:spPr>
          <a:xfrm>
            <a:off x="179596" y="1233637"/>
            <a:ext cx="12921628" cy="562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72" tIns="67168" rIns="134372" bIns="67168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707"/>
              </a:spcBef>
              <a:spcAft>
                <a:spcPts val="0"/>
              </a:spcAft>
              <a:buClr>
                <a:schemeClr val="dk2"/>
              </a:buClr>
              <a:buSzPts val="3086"/>
              <a:buFont typeface="Arial"/>
              <a:buNone/>
              <a:defRPr sz="1400" b="1" i="0" u="none" strike="noStrike" cap="none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586461" marR="0" lvl="1" indent="-254378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646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9691" marR="0" lvl="2" indent="-236417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205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72923" marR="0" lvl="3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66152" marR="0" lvl="4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759383" marR="0" lvl="5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052614" marR="0" lvl="6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345844" marR="0" lvl="7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39075" marR="0" lvl="8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ko-KR" sz="1470" dirty="0"/>
          </a:p>
        </p:txBody>
      </p:sp>
      <p:sp>
        <p:nvSpPr>
          <p:cNvPr id="16" name="제목 2">
            <a:extLst>
              <a:ext uri="{FF2B5EF4-FFF2-40B4-BE49-F238E27FC236}">
                <a16:creationId xmlns:a16="http://schemas.microsoft.com/office/drawing/2014/main" id="{7B52E312-3722-6DEF-17D8-EC5E59A6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10636B89-6284-C7F2-F726-8202A77F1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3-2. 2024</a:t>
            </a:r>
            <a:r>
              <a:rPr lang="ko-KR" altLang="en-US" dirty="0"/>
              <a:t>년 추정결과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7C2194-98AD-7168-BB02-A622FC48C4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4303" y="1710762"/>
            <a:ext cx="5283999" cy="5362281"/>
          </a:xfrm>
          <a:prstGeom prst="rect">
            <a:avLst/>
          </a:prstGeom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956BBCC-9BB9-13C3-4591-41CD3FF0F778}"/>
              </a:ext>
            </a:extLst>
          </p:cNvPr>
          <p:cNvGraphicFramePr>
            <a:graphicFrameLocks noGrp="1"/>
          </p:cNvGraphicFramePr>
          <p:nvPr/>
        </p:nvGraphicFramePr>
        <p:xfrm>
          <a:off x="6033006" y="1732163"/>
          <a:ext cx="7216961" cy="50211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8893">
                  <a:extLst>
                    <a:ext uri="{9D8B030D-6E8A-4147-A177-3AD203B41FA5}">
                      <a16:colId xmlns:a16="http://schemas.microsoft.com/office/drawing/2014/main" val="3385108834"/>
                    </a:ext>
                  </a:extLst>
                </a:gridCol>
                <a:gridCol w="1451931">
                  <a:extLst>
                    <a:ext uri="{9D8B030D-6E8A-4147-A177-3AD203B41FA5}">
                      <a16:colId xmlns:a16="http://schemas.microsoft.com/office/drawing/2014/main" val="196817382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80715717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261056472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582927381"/>
                    </a:ext>
                  </a:extLst>
                </a:gridCol>
              </a:tblGrid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Chg02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Dchg03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10377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Start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12:55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14:14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95960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End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13:13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18:27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0581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Rest1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00:53:44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00:57:17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6099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Rest2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00:04:03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00:15:08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29499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SOC1(EST)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19.4945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70.9528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6720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SOC2(EST)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70.4381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69.1924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3491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SOC(EST)</a:t>
                      </a:r>
                      <a:endParaRPr lang="en-US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50.9436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11.3586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37.6666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50.7857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1202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SOC1(Raw)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2305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SOC2(Raw)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66.5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67.5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52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30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△</a:t>
                      </a:r>
                      <a:r>
                        <a:rPr lang="en-US" sz="1300" b="1" u="none" strike="noStrike" dirty="0">
                          <a:effectLst/>
                        </a:rPr>
                        <a:t>SOC(Raw)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39.5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53.5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89159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56.5491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50.3407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57.7066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56.2451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3561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57.6163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51.9816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55.0282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53.3915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226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 err="1">
                          <a:effectLst/>
                        </a:rPr>
                        <a:t>Idt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28.8082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5.718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21.7361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28.5644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82168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OCV1(EST)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9462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OCV2(EST)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3.867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3.559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7697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9893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I2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0.9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82129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7309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SOH(EST)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88.358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78.6573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90.1666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87.883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88577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90.0255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81.2212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85.9816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83.4242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201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525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F3EC-F57C-1774-F909-E61DAA08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A98712-EC4A-95F6-6AB5-24863687D4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75F3F4-15F2-A6B6-5AB8-1D473FF0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A7E455-5960-967E-4755-5CDD33670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텍스트 개체 틀 4">
                <a:extLst>
                  <a:ext uri="{FF2B5EF4-FFF2-40B4-BE49-F238E27FC236}">
                    <a16:creationId xmlns:a16="http://schemas.microsoft.com/office/drawing/2014/main" id="{04FF0AED-B1DA-F203-637E-38D10337121E}"/>
                  </a:ext>
                </a:extLst>
              </p:cNvPr>
              <p:cNvSpPr>
                <a:spLocks noGrp="1"/>
              </p:cNvSpPr>
              <p:nvPr>
                <p:ph type="body" idx="13"/>
              </p:nvPr>
            </p:nvSpPr>
            <p:spPr/>
            <p:txBody>
              <a:bodyPr/>
              <a:lstStyle/>
              <a:p>
                <a:pPr marL="457200" indent="-457200">
                  <a:buSzPct val="100000"/>
                  <a:buAutoNum type="arabicPeriod"/>
                </a:pPr>
                <a:r>
                  <a:rPr lang="en-US" altLang="ko-KR" sz="1400" dirty="0"/>
                  <a:t>Dataset</a:t>
                </a:r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en-US" altLang="ko-KR" sz="1400" dirty="0"/>
                  <a:t> 2021, 2023, 2024, 2025</a:t>
                </a:r>
                <a:r>
                  <a:rPr lang="ko-KR" altLang="en-US" sz="1400" dirty="0"/>
                  <a:t>년도 정기평가 데이터 사용</a:t>
                </a:r>
                <a:endParaRPr lang="en-US" altLang="ko-KR" sz="1400" dirty="0"/>
              </a:p>
              <a:p>
                <a:pPr marL="457200" indent="-457200">
                  <a:buSzPct val="100000"/>
                  <a:buAutoNum type="arabicPeriod"/>
                </a:pPr>
                <a:r>
                  <a:rPr lang="en-US" altLang="ko-KR" sz="1400" dirty="0"/>
                  <a:t>Preprocessing</a:t>
                </a:r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en-US" altLang="ko-KR" sz="1400" dirty="0"/>
                  <a:t>Event Segmentation</a:t>
                </a:r>
              </a:p>
              <a:p>
                <a:pPr marL="1750170" lvl="2" indent="-457200">
                  <a:buSzPct val="100000"/>
                  <a:buFont typeface="+mj-lt"/>
                  <a:buAutoNum type="alphaLcPeriod"/>
                </a:pPr>
                <a:r>
                  <a:rPr lang="ko-KR" altLang="en-US" sz="1400" dirty="0"/>
                  <a:t>전류 임계값 </a:t>
                </a:r>
                <a:r>
                  <a:rPr lang="en-US" altLang="ko-KR" sz="1400" dirty="0"/>
                  <a:t>(0.05C(3.2A))</a:t>
                </a:r>
                <a:r>
                  <a:rPr lang="ko-KR" altLang="en-US" sz="1400" dirty="0"/>
                  <a:t>을 기준으로 유효 충전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방전 구간 추출</a:t>
                </a:r>
                <a:endParaRPr lang="en-US" altLang="ko-KR" sz="1400" dirty="0"/>
              </a:p>
              <a:p>
                <a:pPr marL="1750170" lvl="2" indent="-457200">
                  <a:buSzPct val="100000"/>
                  <a:buFont typeface="+mj-lt"/>
                  <a:buAutoNum type="alphaLcPeriod"/>
                </a:pPr>
                <a:r>
                  <a:rPr lang="ko-KR" altLang="en-US" sz="1400" dirty="0"/>
                  <a:t>최소 충전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방전 지속시간 </a:t>
                </a:r>
                <a:r>
                  <a:rPr lang="en-US" altLang="ko-KR" sz="1400" dirty="0"/>
                  <a:t>(150</a:t>
                </a:r>
                <a:r>
                  <a:rPr lang="ko-KR" altLang="en-US" sz="1400" dirty="0"/>
                  <a:t>초</a:t>
                </a:r>
                <a:r>
                  <a:rPr lang="en-US" altLang="ko-KR" sz="1400" dirty="0"/>
                  <a:t>) </a:t>
                </a:r>
                <a:r>
                  <a:rPr lang="ko-KR" altLang="en-US" sz="1400" dirty="0"/>
                  <a:t>필터링 적용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/>
                  <a:t>용량 산출</a:t>
                </a:r>
                <a:endParaRPr lang="en-US" altLang="ko-KR" sz="1400" dirty="0"/>
              </a:p>
              <a:p>
                <a:pPr marL="1750170" lvl="2" indent="-457200">
                  <a:buSzPct val="100000"/>
                  <a:buFont typeface="+mj-lt"/>
                  <a:buAutoNum type="alphaLcPeriod"/>
                </a:pPr>
                <a:r>
                  <a:rPr lang="en-US" altLang="ko-KR" sz="1400" dirty="0"/>
                  <a:t>Coulomb Counting </a:t>
                </a:r>
                <a:r>
                  <a:rPr lang="ko-KR" altLang="en-US" sz="1400" dirty="0"/>
                  <a:t>적용</a:t>
                </a:r>
                <a:r>
                  <a:rPr lang="en-US" altLang="ko-KR" sz="1400" dirty="0"/>
                  <a:t>.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ko-KR" sz="1400" dirty="0"/>
              </a:p>
              <a:p>
                <a:pPr marL="457200" indent="-457200">
                  <a:buSzPct val="100000"/>
                  <a:buAutoNum type="arabicPeriod"/>
                </a:pPr>
                <a:r>
                  <a:rPr lang="en-US" altLang="ko-KR" sz="1400" dirty="0"/>
                  <a:t>dQ/dV </a:t>
                </a:r>
                <a:r>
                  <a:rPr lang="ko-KR" altLang="en-US" sz="1400" dirty="0"/>
                  <a:t>추출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/>
                  <a:t>추출된 충전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방전 구간에서 전압 그리드 </a:t>
                </a:r>
                <a:r>
                  <a:rPr lang="en-US" altLang="ko-KR" sz="1400" dirty="0"/>
                  <a:t>(0.005V) </a:t>
                </a:r>
                <a:r>
                  <a:rPr lang="ko-KR" altLang="en-US" sz="1400" dirty="0"/>
                  <a:t>생성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 err="1"/>
                  <a:t>선형보간을</a:t>
                </a:r>
                <a:r>
                  <a:rPr lang="ko-KR" altLang="en-US" sz="1400" dirty="0"/>
                  <a:t> 통해 </a:t>
                </a:r>
                <a:r>
                  <a:rPr lang="en-US" altLang="ko-KR" sz="1400" dirty="0" err="1"/>
                  <a:t>V_grid</a:t>
                </a:r>
                <a:r>
                  <a:rPr lang="ko-KR" altLang="en-US" sz="1400" dirty="0"/>
                  <a:t>에 매핑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en-US" altLang="ko-KR" sz="1400" dirty="0"/>
                  <a:t>Gaussian </a:t>
                </a:r>
                <a:r>
                  <a:rPr lang="ko-KR" altLang="en-US" sz="1400" dirty="0"/>
                  <a:t>필터 </a:t>
                </a:r>
                <a:r>
                  <a:rPr lang="en-US" altLang="ko-KR" sz="1400" dirty="0"/>
                  <a:t>(window=15)</a:t>
                </a:r>
                <a:r>
                  <a:rPr lang="ko-KR" altLang="en-US" sz="1400" dirty="0"/>
                  <a:t> 적용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/>
                  <a:t>최종 </a:t>
                </a:r>
                <a:r>
                  <a:rPr lang="en-US" altLang="ko-KR" sz="1400" dirty="0"/>
                  <a:t>dQdV </a:t>
                </a:r>
                <a:r>
                  <a:rPr lang="ko-KR" altLang="en-US" sz="1400" dirty="0"/>
                  <a:t>곡선 도출</a:t>
                </a:r>
                <a:endParaRPr lang="en-US" altLang="ko-KR" sz="1400" dirty="0"/>
              </a:p>
              <a:p>
                <a:pPr marL="342900" indent="-342900">
                  <a:buSzPct val="100000"/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ko-KR" altLang="en-US" sz="1400" dirty="0"/>
              </a:p>
            </p:txBody>
          </p:sp>
        </mc:Choice>
        <mc:Fallback>
          <p:sp>
            <p:nvSpPr>
              <p:cNvPr id="5" name="텍스트 개체 틀 4">
                <a:extLst>
                  <a:ext uri="{FF2B5EF4-FFF2-40B4-BE49-F238E27FC236}">
                    <a16:creationId xmlns:a16="http://schemas.microsoft.com/office/drawing/2014/main" id="{04FF0AED-B1DA-F203-637E-38D1033712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3"/>
              </p:nvPr>
            </p:nvSpPr>
            <p:spPr>
              <a:blipFill>
                <a:blip r:embed="rId2"/>
                <a:stretch>
                  <a:fillRect l="-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BC8DB19-16DF-E6C7-0D3B-DBBA011320E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98900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8C3A57-0BDB-8A4B-B699-2D0A5A775F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2A54E4C-74C1-D4B1-9045-B9BC28FB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77E780-AF70-CCDD-72DB-6D11E5711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90E8C1-53BE-C595-DB86-58B53209F0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BF2D6E2-6488-10A3-B835-C70674DD93D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81AF3AE-E1F4-3ABD-A65A-B6A980058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61" y="1446829"/>
            <a:ext cx="1163265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6812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45611-AC8C-EDDC-7265-0F4306F2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ABD0919-634E-6CD1-0013-2F84E21D0A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A691751-DBCC-0812-5978-EAF50050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6E2FDE-8F77-DB6A-57CB-D2B545F4A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71BF2B-4E57-0E10-5A1B-F5F200EAD9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3E9BA81-4F91-E73E-21CD-F1754BE6AAB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5EF9F0-B9C2-1A69-2C30-3BFA2867F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06" y="1446829"/>
            <a:ext cx="1163265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734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045F-2E01-43DF-B2A4-D27D2A26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05E281-C496-22C4-C160-306B5F889C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DFA71F6-5F03-ECC7-9E8C-72F0F2C5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E7262A-1639-5B5B-D051-27321A517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 </a:t>
            </a:r>
            <a:r>
              <a:rPr lang="en-US" altLang="ko-KR" dirty="0"/>
              <a:t>(</a:t>
            </a:r>
            <a:r>
              <a:rPr lang="ko-KR" altLang="en-US" dirty="0"/>
              <a:t>연도별 결과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C501C7-AF18-C9E8-E183-25D34CD921E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8D2A80B-9DDE-F6F6-4D5E-D88B67E0411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CCEED-AD6B-6435-BDB9-6A000C371316}"/>
              </a:ext>
            </a:extLst>
          </p:cNvPr>
          <p:cNvSpPr/>
          <p:nvPr/>
        </p:nvSpPr>
        <p:spPr>
          <a:xfrm>
            <a:off x="1529660" y="1129642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2021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700E6C-9C7B-CD4A-96ED-1D1F371BD301}"/>
              </a:ext>
            </a:extLst>
          </p:cNvPr>
          <p:cNvSpPr/>
          <p:nvPr/>
        </p:nvSpPr>
        <p:spPr>
          <a:xfrm>
            <a:off x="1532925" y="4379969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71A1A0-99A2-6CDD-AD57-ACB7127F276F}"/>
              </a:ext>
            </a:extLst>
          </p:cNvPr>
          <p:cNvSpPr/>
          <p:nvPr/>
        </p:nvSpPr>
        <p:spPr>
          <a:xfrm>
            <a:off x="8367038" y="4379969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9429B4-2FDE-9D7C-D93E-71AC40041F51}"/>
              </a:ext>
            </a:extLst>
          </p:cNvPr>
          <p:cNvSpPr/>
          <p:nvPr/>
        </p:nvSpPr>
        <p:spPr>
          <a:xfrm>
            <a:off x="8355065" y="1129642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2024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C57B34E-29BE-D20C-0886-FF48E8C42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4" y="1499969"/>
            <a:ext cx="6210612" cy="288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64ED20-57E8-32C3-F21F-785B401B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529" y="1499969"/>
            <a:ext cx="6210612" cy="288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3EE0058-D578-BE27-1B9D-A4166B4CE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24" y="4679675"/>
            <a:ext cx="6186667" cy="2880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6100B06-6483-220D-A393-1B9A14CBA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529" y="4679675"/>
            <a:ext cx="621061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4246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8DE9E-5741-6518-A0FB-5B0C1A5A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80818C-DE47-D1C5-5657-14CBB50D7D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0951CE-D8DD-7D0C-957A-B011A64F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ATB</a:t>
            </a:r>
            <a:r>
              <a:rPr lang="ko-KR" altLang="en-US" dirty="0"/>
              <a:t> </a:t>
            </a:r>
            <a:r>
              <a:rPr lang="en-US" altLang="ko-KR" dirty="0"/>
              <a:t>Lab </a:t>
            </a:r>
            <a:r>
              <a:rPr lang="ko-KR" altLang="en-US" dirty="0"/>
              <a:t>피드백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E30A8C-91B5-E727-C4A9-279CE4192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C7A6BF-52B1-498C-ECCB-8008956D822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모듈데이터 활용 가능성</a:t>
            </a:r>
            <a:r>
              <a:rPr lang="en-US" altLang="ko-KR" sz="1600" dirty="0"/>
              <a:t>:  50</a:t>
            </a:r>
            <a:r>
              <a:rPr lang="ko-KR" altLang="en-US" sz="1600" dirty="0"/>
              <a:t>초 간격에서도 </a:t>
            </a:r>
            <a:r>
              <a:rPr lang="en-US" altLang="ko-KR" sz="1600" dirty="0"/>
              <a:t>R1s </a:t>
            </a:r>
            <a:r>
              <a:rPr lang="ko-KR" altLang="en-US" sz="1600" dirty="0"/>
              <a:t>추출해보고 연도별로 증가하는지 확인 </a:t>
            </a:r>
            <a:r>
              <a:rPr lang="en-US" altLang="ko-KR" sz="1600" dirty="0"/>
              <a:t>(</a:t>
            </a:r>
            <a:r>
              <a:rPr lang="ko-KR" altLang="en-US" sz="1600" dirty="0"/>
              <a:t>이벤트 시간별 저항과 유사한 추세인지 확인</a:t>
            </a:r>
            <a:r>
              <a:rPr lang="en-US" altLang="ko-KR" sz="1600" dirty="0"/>
              <a:t>)</a:t>
            </a:r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sz="1600" dirty="0"/>
              <a:t>월별 데이터만 존재 </a:t>
            </a:r>
            <a:r>
              <a:rPr lang="en-US" altLang="ko-KR" sz="1600" dirty="0"/>
              <a:t>(24-25 </a:t>
            </a:r>
            <a:r>
              <a:rPr lang="ko-KR" altLang="en-US" sz="1600" dirty="0"/>
              <a:t>데이터 </a:t>
            </a:r>
            <a:r>
              <a:rPr lang="en-US" altLang="ko-KR" sz="1600" dirty="0"/>
              <a:t>X)</a:t>
            </a:r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랩데이터를 사용하여 모델 개발할 시</a:t>
            </a:r>
            <a:r>
              <a:rPr lang="en-US" altLang="ko-KR" sz="1600" dirty="0"/>
              <a:t>, </a:t>
            </a:r>
            <a:r>
              <a:rPr lang="ko-KR" altLang="en-US" sz="1600" dirty="0"/>
              <a:t>용량 외에 아웃풋을 저항으로 하는 방안</a:t>
            </a:r>
            <a:endParaRPr lang="en-US" altLang="ko-KR" sz="1600" dirty="0"/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랩데이터 목적 </a:t>
            </a:r>
            <a:r>
              <a:rPr lang="en-US" altLang="ko-KR" sz="1600" dirty="0"/>
              <a:t>/ </a:t>
            </a:r>
            <a:r>
              <a:rPr lang="ko-KR" altLang="en-US" sz="1600" dirty="0"/>
              <a:t>필드데이터에 어떻게 적용할 예정인지</a:t>
            </a:r>
            <a:endParaRPr lang="en-US" altLang="ko-KR" sz="1600" dirty="0"/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필드데이터 사용하여 모델 개발하지 않는 이유</a:t>
            </a:r>
            <a:endParaRPr lang="en-US" altLang="ko-KR" sz="16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7CE080E-1E3F-A45E-E10C-876EDC9A904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38448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B25A5-6EC0-0497-87A3-99F7E1A8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DAAE15-EC40-F15D-7B31-E04F20D4F0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1790B51-B222-654B-6033-D8272F0D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방법론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07CEBE-572E-E288-8F9D-4E5D235E5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4DDB00-0FF4-AA4F-2421-8387C7AA087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랩데이터 기반으로 </a:t>
            </a:r>
            <a:r>
              <a:rPr lang="en-US" altLang="ko-KR" sz="1600" dirty="0"/>
              <a:t>RPT </a:t>
            </a:r>
            <a:r>
              <a:rPr lang="ko-KR" altLang="en-US" sz="1600" dirty="0"/>
              <a:t>에서 </a:t>
            </a:r>
            <a:r>
              <a:rPr lang="en-US" altLang="ko-KR" sz="1600" dirty="0" err="1"/>
              <a:t>dqdv</a:t>
            </a:r>
            <a:r>
              <a:rPr lang="en-US" altLang="ko-KR" sz="1600" dirty="0"/>
              <a:t> </a:t>
            </a:r>
            <a:r>
              <a:rPr lang="ko-KR" altLang="en-US" sz="1600" dirty="0"/>
              <a:t>곡선 추출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en-US" altLang="ko-KR" sz="1600" dirty="0"/>
              <a:t>peak </a:t>
            </a:r>
            <a:r>
              <a:rPr lang="ko-KR" altLang="en-US" sz="1600" dirty="0"/>
              <a:t>위치</a:t>
            </a:r>
            <a:r>
              <a:rPr lang="en-US" altLang="ko-KR" sz="1600" dirty="0"/>
              <a:t>/</a:t>
            </a:r>
            <a:r>
              <a:rPr lang="ko-KR" altLang="en-US" sz="1600" dirty="0"/>
              <a:t>높이 등의 변화로 열화 상태 진단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sz="1600" dirty="0"/>
              <a:t>필드데이터에서 적용하려면 전류크기가 일정해야 함 </a:t>
            </a:r>
            <a:r>
              <a:rPr lang="en-US" altLang="ko-KR" sz="1600" dirty="0"/>
              <a:t>(</a:t>
            </a:r>
            <a:r>
              <a:rPr lang="ko-KR" altLang="en-US" sz="1600" dirty="0"/>
              <a:t>현재 필드데이터에서 매년 전류 크기가 다름</a:t>
            </a:r>
            <a:r>
              <a:rPr lang="en-US" altLang="ko-KR" sz="1600" dirty="0"/>
              <a:t>)</a:t>
            </a:r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필드데이터 기반으로 진단모델 개발 시</a:t>
            </a:r>
            <a:r>
              <a:rPr lang="en-US" altLang="ko-KR" sz="1600" dirty="0"/>
              <a:t>, </a:t>
            </a:r>
            <a:r>
              <a:rPr lang="ko-KR" altLang="en-US" sz="1600" dirty="0"/>
              <a:t>저항 값을 아웃풋으로 정의하는 방안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sz="1600" dirty="0"/>
              <a:t>열화모드 진단은 어려움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en-US" altLang="ko-KR" sz="1600" dirty="0"/>
              <a:t>R30s, 60s </a:t>
            </a:r>
            <a:r>
              <a:rPr lang="ko-KR" altLang="en-US" sz="1600" dirty="0"/>
              <a:t>두개의 </a:t>
            </a:r>
            <a:r>
              <a:rPr lang="en-US" altLang="ko-KR" sz="1600" dirty="0"/>
              <a:t>feature</a:t>
            </a:r>
            <a:r>
              <a:rPr lang="ko-KR" altLang="en-US" sz="1600" dirty="0"/>
              <a:t>만 확보됨</a:t>
            </a:r>
            <a:endParaRPr lang="en-US" altLang="ko-KR" sz="16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BFB253B-1480-C253-4AB6-7A451303A43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01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35890</TotalTime>
  <Words>7305</Words>
  <Application>Microsoft Office PowerPoint</Application>
  <PresentationFormat>사용자 지정</PresentationFormat>
  <Paragraphs>1836</Paragraphs>
  <Slides>107</Slides>
  <Notes>1</Notes>
  <HiddenSlides>1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107</vt:i4>
      </vt:variant>
    </vt:vector>
  </HeadingPairs>
  <TitlesOfParts>
    <vt:vector size="116" baseType="lpstr">
      <vt:lpstr>Inter</vt:lpstr>
      <vt:lpstr>맑은 고딕</vt:lpstr>
      <vt:lpstr>맑은 고딕</vt:lpstr>
      <vt:lpstr>Arial</vt:lpstr>
      <vt:lpstr>Cambria Math</vt:lpstr>
      <vt:lpstr>Consolas</vt:lpstr>
      <vt:lpstr>Segoe UI</vt:lpstr>
      <vt:lpstr>Wingdings</vt:lpstr>
      <vt:lpstr>Office 테마</vt:lpstr>
      <vt:lpstr>2025.12월 과제 진행상황</vt:lpstr>
      <vt:lpstr>12/10 Feedback</vt:lpstr>
      <vt:lpstr>12/10 첨부</vt:lpstr>
      <vt:lpstr>12/03 Feedback</vt:lpstr>
      <vt:lpstr>1. 랩데이터 요약</vt:lpstr>
      <vt:lpstr>1. 랩데이터 요약</vt:lpstr>
      <vt:lpstr>1. 랩데이터 요약</vt:lpstr>
      <vt:lpstr>1. 랩데이터 요약</vt:lpstr>
      <vt:lpstr>랩데이터 정리본</vt:lpstr>
      <vt:lpstr>Ch09</vt:lpstr>
      <vt:lpstr>Ch09</vt:lpstr>
      <vt:lpstr>Ch09</vt:lpstr>
      <vt:lpstr>Ch09</vt:lpstr>
      <vt:lpstr>Ch 13</vt:lpstr>
      <vt:lpstr>Ch 13</vt:lpstr>
      <vt:lpstr>Ch 13</vt:lpstr>
      <vt:lpstr>Ch14</vt:lpstr>
      <vt:lpstr>Ch14</vt:lpstr>
      <vt:lpstr>Ch14</vt:lpstr>
      <vt:lpstr>Ch15</vt:lpstr>
      <vt:lpstr>Ch15</vt:lpstr>
      <vt:lpstr>PowerPoint 프레젠테이션</vt:lpstr>
      <vt:lpstr>Ch16</vt:lpstr>
      <vt:lpstr>Ch16</vt:lpstr>
      <vt:lpstr>PowerPoint 프레젠테이션</vt:lpstr>
      <vt:lpstr>Ch09</vt:lpstr>
      <vt:lpstr>Ch09</vt:lpstr>
      <vt:lpstr>Ch09</vt:lpstr>
      <vt:lpstr>Index</vt:lpstr>
      <vt:lpstr>2. 이벤트 기반 특징 추출 알고리즘 (랩데이터)</vt:lpstr>
      <vt:lpstr>2. 이벤트 기반 특징 추출 알고리즘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PowerPoint 프레젠테이션</vt:lpstr>
      <vt:lpstr>PowerPoint 프레젠테이션</vt:lpstr>
      <vt:lpstr>2. SOH 추정 모델 개발</vt:lpstr>
      <vt:lpstr>PowerPoint 프레젠테이션</vt:lpstr>
      <vt:lpstr>PowerPoint 프레젠테이션</vt:lpstr>
      <vt:lpstr>PowerPoint 프레젠테이션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PowerPoint 프레젠테이션</vt:lpstr>
      <vt:lpstr>3. 정기평가 데이터</vt:lpstr>
      <vt:lpstr>3. 정기평가 데이터</vt:lpstr>
      <vt:lpstr>3. 정기평가 데이터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PowerPoint 프레젠테이션</vt:lpstr>
      <vt:lpstr>Appendix </vt:lpstr>
      <vt:lpstr>Appendix </vt:lpstr>
      <vt:lpstr>Appendix</vt:lpstr>
      <vt:lpstr>Appendix</vt:lpstr>
      <vt:lpstr>Appendix</vt:lpstr>
      <vt:lpstr>Appendix</vt:lpstr>
      <vt:lpstr>Appendix</vt:lpstr>
      <vt:lpstr>Appendix</vt:lpstr>
      <vt:lpstr>필터링 조건</vt:lpstr>
      <vt:lpstr>1. KEPCO 미팅 피드백</vt:lpstr>
      <vt:lpstr>PowerPoint 프레젠테이션</vt:lpstr>
      <vt:lpstr>PowerPoint 프레젠테이션</vt:lpstr>
      <vt:lpstr>INDEX</vt:lpstr>
      <vt:lpstr>1. 랩데이터 </vt:lpstr>
      <vt:lpstr>PowerPoint 프레젠테이션</vt:lpstr>
      <vt:lpstr>PowerPoint 프레젠테이션</vt:lpstr>
      <vt:lpstr>1. 랩데이터 </vt:lpstr>
      <vt:lpstr>2. 필드데이터</vt:lpstr>
      <vt:lpstr>2. 필드데이터</vt:lpstr>
      <vt:lpstr>2. 필드데이터 </vt:lpstr>
      <vt:lpstr>2. 필드데이터 </vt:lpstr>
      <vt:lpstr>2. 필드데이터 </vt:lpstr>
      <vt:lpstr>2. 필드데이터 </vt:lpstr>
      <vt:lpstr>3. ATB Lab 피드백</vt:lpstr>
      <vt:lpstr>방법론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양 원빈</dc:creator>
  <cp:lastModifiedBy>Chulwon Jung</cp:lastModifiedBy>
  <cp:revision>1388</cp:revision>
  <dcterms:created xsi:type="dcterms:W3CDTF">2021-07-29T02:42:21Z</dcterms:created>
  <dcterms:modified xsi:type="dcterms:W3CDTF">2026-01-11T22:11:27Z</dcterms:modified>
</cp:coreProperties>
</file>